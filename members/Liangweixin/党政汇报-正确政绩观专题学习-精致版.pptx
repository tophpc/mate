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35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94500"/>
            <a:ext cx="12191695" cy="635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371600"/>
            <a:ext cx="50800" cy="36576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71600"/>
            <a:ext cx="3657600" cy="254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5-Point Star 6"/>
          <p:cNvSpPr/>
          <p:nvPr/>
        </p:nvSpPr>
        <p:spPr>
          <a:xfrm>
            <a:off x="5303520" y="731520"/>
            <a:ext cx="914400" cy="91440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5-Point Star 7"/>
          <p:cNvSpPr/>
          <p:nvPr/>
        </p:nvSpPr>
        <p:spPr>
          <a:xfrm>
            <a:off x="5943600" y="833120"/>
            <a:ext cx="548640" cy="54864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5-Point Star 8"/>
          <p:cNvSpPr/>
          <p:nvPr/>
        </p:nvSpPr>
        <p:spPr>
          <a:xfrm>
            <a:off x="6400800" y="731520"/>
            <a:ext cx="914400" cy="91440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5-Point Star 9"/>
          <p:cNvSpPr/>
          <p:nvPr/>
        </p:nvSpPr>
        <p:spPr>
          <a:xfrm>
            <a:off x="7040880" y="833120"/>
            <a:ext cx="548640" cy="54864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5-Point Star 10"/>
          <p:cNvSpPr/>
          <p:nvPr/>
        </p:nvSpPr>
        <p:spPr>
          <a:xfrm>
            <a:off x="7498079" y="731520"/>
            <a:ext cx="914400" cy="91440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1371600"/>
            <a:ext cx="9144000" cy="548640"/>
          </a:xfrm>
          <a:prstGeom prst="rect">
            <a:avLst/>
          </a:prstGeom>
          <a:noFill/>
        </p:spPr>
        <p:txBody>
          <a:bodyPr wrap="square">
            <a:spAutoFit/>
          </a:bodyPr>
          <a:lstStyle/>
          <a:p>
            <a:pPr algn="l">
              <a:defRPr sz="2200" b="1">
                <a:solidFill>
                  <a:srgbClr val="FFD700"/>
                </a:solidFill>
                <a:latin typeface="Microsoft YaHei"/>
              </a:defRPr>
            </a:pPr>
            <a:r>
              <a:t>第一套方案</a:t>
            </a:r>
          </a:p>
        </p:txBody>
      </p:sp>
      <p:sp>
        <p:nvSpPr>
          <p:cNvPr id="13" name="Rectangle 12"/>
          <p:cNvSpPr/>
          <p:nvPr/>
        </p:nvSpPr>
        <p:spPr>
          <a:xfrm>
            <a:off x="1371600" y="2011680"/>
            <a:ext cx="4572000" cy="254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1600" y="2377440"/>
            <a:ext cx="9601200" cy="1097280"/>
          </a:xfrm>
          <a:prstGeom prst="rect">
            <a:avLst/>
          </a:prstGeom>
          <a:noFill/>
        </p:spPr>
        <p:txBody>
          <a:bodyPr wrap="square">
            <a:spAutoFit/>
          </a:bodyPr>
          <a:lstStyle/>
          <a:p>
            <a:pPr algn="l">
              <a:defRPr sz="4000" b="1">
                <a:solidFill>
                  <a:srgbClr val="FFFFFF"/>
                </a:solidFill>
                <a:latin typeface="Microsoft YaHei"/>
              </a:defRPr>
            </a:pPr>
            <a:r>
              <a:t>树立践行正确政绩观</a:t>
            </a:r>
          </a:p>
        </p:txBody>
      </p:sp>
      <p:sp>
        <p:nvSpPr>
          <p:cNvPr id="15" name="TextBox 14"/>
          <p:cNvSpPr txBox="1"/>
          <p:nvPr/>
        </p:nvSpPr>
        <p:spPr>
          <a:xfrm>
            <a:off x="1371600" y="3383280"/>
            <a:ext cx="9601200" cy="1097280"/>
          </a:xfrm>
          <a:prstGeom prst="rect">
            <a:avLst/>
          </a:prstGeom>
          <a:noFill/>
        </p:spPr>
        <p:txBody>
          <a:bodyPr wrap="square">
            <a:spAutoFit/>
          </a:bodyPr>
          <a:lstStyle/>
          <a:p>
            <a:pPr algn="l">
              <a:defRPr sz="4000" b="1">
                <a:solidFill>
                  <a:srgbClr val="FFFFFF"/>
                </a:solidFill>
                <a:latin typeface="Microsoft YaHei"/>
              </a:defRPr>
            </a:pPr>
            <a:r>
              <a:t>砥砺实干勇担当</a:t>
            </a:r>
          </a:p>
        </p:txBody>
      </p:sp>
      <p:sp>
        <p:nvSpPr>
          <p:cNvPr id="16" name="TextBox 15"/>
          <p:cNvSpPr txBox="1"/>
          <p:nvPr/>
        </p:nvSpPr>
        <p:spPr>
          <a:xfrm>
            <a:off x="1371600" y="4572000"/>
            <a:ext cx="9144000" cy="914400"/>
          </a:xfrm>
          <a:prstGeom prst="rect">
            <a:avLst/>
          </a:prstGeom>
          <a:noFill/>
        </p:spPr>
        <p:txBody>
          <a:bodyPr wrap="square">
            <a:spAutoFit/>
          </a:bodyPr>
          <a:lstStyle/>
          <a:p>
            <a:pPr algn="l">
              <a:defRPr sz="2000" b="0">
                <a:solidFill>
                  <a:srgbClr val="F5DEB3"/>
                </a:solidFill>
                <a:latin typeface="Microsoft YaHei"/>
              </a:defRPr>
            </a:pPr>
            <a:r>
              <a:t>专题学习《习近平关于树立和践行正确政绩观论述摘编》</a:t>
            </a:r>
          </a:p>
        </p:txBody>
      </p:sp>
      <p:sp>
        <p:nvSpPr>
          <p:cNvPr id="17" name="Rectangle 16"/>
          <p:cNvSpPr/>
          <p:nvPr/>
        </p:nvSpPr>
        <p:spPr>
          <a:xfrm>
            <a:off x="1371600" y="5577840"/>
            <a:ext cx="2743200" cy="254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71600" y="5806440"/>
            <a:ext cx="4572000" cy="457200"/>
          </a:xfrm>
          <a:prstGeom prst="rect">
            <a:avLst/>
          </a:prstGeom>
          <a:noFill/>
        </p:spPr>
        <p:txBody>
          <a:bodyPr wrap="square">
            <a:spAutoFit/>
          </a:bodyPr>
          <a:lstStyle/>
          <a:p>
            <a:pPr algn="l">
              <a:defRPr sz="1600" b="0">
                <a:solidFill>
                  <a:srgbClr val="FFFFFF"/>
                </a:solidFill>
                <a:latin typeface="Microsoft YaHei"/>
              </a:defRPr>
            </a:pPr>
            <a:r>
              <a:t>XXX单位    XXXX年XX月</a:t>
            </a:r>
          </a:p>
        </p:txBody>
      </p:sp>
      <p:sp>
        <p:nvSpPr>
          <p:cNvPr id="19" name="Rectangle 18"/>
          <p:cNvSpPr/>
          <p:nvPr/>
        </p:nvSpPr>
        <p:spPr>
          <a:xfrm>
            <a:off x="0" y="0"/>
            <a:ext cx="548640" cy="381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38100" cy="54864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643055" y="0"/>
            <a:ext cx="548640" cy="381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53595" y="0"/>
            <a:ext cx="38100" cy="54864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19900"/>
            <a:ext cx="548640" cy="381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309360"/>
            <a:ext cx="38100" cy="54864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1643055" y="6819900"/>
            <a:ext cx="548640" cy="381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2153595" y="6309360"/>
            <a:ext cx="38100" cy="54864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91695" cy="508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4572000" cy="640080"/>
          </a:xfrm>
          <a:prstGeom prst="rect">
            <a:avLst/>
          </a:prstGeom>
          <a:noFill/>
        </p:spPr>
        <p:txBody>
          <a:bodyPr wrap="square">
            <a:spAutoFit/>
          </a:bodyPr>
          <a:lstStyle/>
          <a:p>
            <a:pPr algn="l">
              <a:defRPr sz="3600" b="1">
                <a:solidFill>
                  <a:srgbClr val="FFFFFF"/>
                </a:solidFill>
                <a:latin typeface="Microsoft YaHei"/>
              </a:defRPr>
            </a:pPr>
            <a:r>
              <a:t>目  录</a:t>
            </a:r>
          </a:p>
        </p:txBody>
      </p:sp>
      <p:sp>
        <p:nvSpPr>
          <p:cNvPr id="6" name="TextBox 5"/>
          <p:cNvSpPr txBox="1"/>
          <p:nvPr/>
        </p:nvSpPr>
        <p:spPr>
          <a:xfrm>
            <a:off x="7772400" y="274320"/>
            <a:ext cx="3657600" cy="457200"/>
          </a:xfrm>
          <a:prstGeom prst="rect">
            <a:avLst/>
          </a:prstGeom>
          <a:noFill/>
        </p:spPr>
        <p:txBody>
          <a:bodyPr wrap="square">
            <a:spAutoFit/>
          </a:bodyPr>
          <a:lstStyle/>
          <a:p>
            <a:pPr algn="r">
              <a:defRPr sz="1400" b="0">
                <a:solidFill>
                  <a:srgbClr val="F5DEB3"/>
                </a:solidFill>
                <a:latin typeface="Microsoft YaHei"/>
              </a:defRPr>
            </a:pPr>
            <a:r>
              <a:t>方案一：树立和践行正确政绩观</a:t>
            </a:r>
          </a:p>
        </p:txBody>
      </p:sp>
      <p:sp>
        <p:nvSpPr>
          <p:cNvPr id="7" name="Rounded Rectangle 6"/>
          <p:cNvSpPr/>
          <p:nvPr/>
        </p:nvSpPr>
        <p:spPr>
          <a:xfrm>
            <a:off x="1097280" y="1463040"/>
            <a:ext cx="5029200" cy="640080"/>
          </a:xfrm>
          <a:prstGeom prst="roundRect">
            <a:avLst/>
          </a:prstGeom>
          <a:solidFill>
            <a:srgbClr val="FFFFFF"/>
          </a:solidFill>
          <a:ln w="19050">
            <a:solidFill>
              <a:srgbClr val="E0D0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97280" y="1463040"/>
            <a:ext cx="63500" cy="64008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1564640"/>
            <a:ext cx="411480" cy="41148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b="1">
                <a:solidFill>
                  <a:srgbClr val="FFFFFF"/>
                </a:solidFill>
                <a:latin typeface="Microsoft YaHei"/>
              </a:defRPr>
            </a:pPr>
            <a:r>
              <a:t>1</a:t>
            </a:r>
          </a:p>
        </p:txBody>
      </p:sp>
      <p:sp>
        <p:nvSpPr>
          <p:cNvPr id="10" name="TextBox 9"/>
          <p:cNvSpPr txBox="1"/>
          <p:nvPr/>
        </p:nvSpPr>
        <p:spPr>
          <a:xfrm>
            <a:off x="2011680" y="1526540"/>
            <a:ext cx="3931920" cy="502920"/>
          </a:xfrm>
          <a:prstGeom prst="rect">
            <a:avLst/>
          </a:prstGeom>
          <a:noFill/>
        </p:spPr>
        <p:txBody>
          <a:bodyPr wrap="square">
            <a:spAutoFit/>
          </a:bodyPr>
          <a:lstStyle/>
          <a:p>
            <a:pPr algn="l">
              <a:defRPr sz="1800" b="1">
                <a:solidFill>
                  <a:srgbClr val="2D2D2D"/>
                </a:solidFill>
                <a:latin typeface="Microsoft YaHei"/>
              </a:defRPr>
            </a:pPr>
            <a:r>
              <a:t>前言概述</a:t>
            </a:r>
          </a:p>
        </p:txBody>
      </p:sp>
      <p:sp>
        <p:nvSpPr>
          <p:cNvPr id="11" name="Rounded Rectangle 10"/>
          <p:cNvSpPr/>
          <p:nvPr/>
        </p:nvSpPr>
        <p:spPr>
          <a:xfrm>
            <a:off x="1097280" y="2240280"/>
            <a:ext cx="5029200" cy="640080"/>
          </a:xfrm>
          <a:prstGeom prst="roundRect">
            <a:avLst/>
          </a:prstGeom>
          <a:solidFill>
            <a:srgbClr val="FFFFFF"/>
          </a:solidFill>
          <a:ln w="19050">
            <a:solidFill>
              <a:srgbClr val="E0D0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97280" y="2240280"/>
            <a:ext cx="63500" cy="64008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417320" y="2341880"/>
            <a:ext cx="411480" cy="41148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b="1">
                <a:solidFill>
                  <a:srgbClr val="FFFFFF"/>
                </a:solidFill>
                <a:latin typeface="Microsoft YaHei"/>
              </a:defRPr>
            </a:pPr>
            <a:r>
              <a:t>2</a:t>
            </a:r>
          </a:p>
        </p:txBody>
      </p:sp>
      <p:sp>
        <p:nvSpPr>
          <p:cNvPr id="14" name="TextBox 13"/>
          <p:cNvSpPr txBox="1"/>
          <p:nvPr/>
        </p:nvSpPr>
        <p:spPr>
          <a:xfrm>
            <a:off x="2011680" y="2303780"/>
            <a:ext cx="3931920" cy="502920"/>
          </a:xfrm>
          <a:prstGeom prst="rect">
            <a:avLst/>
          </a:prstGeom>
          <a:noFill/>
        </p:spPr>
        <p:txBody>
          <a:bodyPr wrap="square">
            <a:spAutoFit/>
          </a:bodyPr>
          <a:lstStyle/>
          <a:p>
            <a:pPr algn="l">
              <a:defRPr sz="1800" b="1">
                <a:solidFill>
                  <a:srgbClr val="2D2D2D"/>
                </a:solidFill>
                <a:latin typeface="Microsoft YaHei"/>
              </a:defRPr>
            </a:pPr>
            <a:r>
              <a:t>正确政绩观核心内涵</a:t>
            </a:r>
          </a:p>
        </p:txBody>
      </p:sp>
      <p:sp>
        <p:nvSpPr>
          <p:cNvPr id="15" name="Rounded Rectangle 14"/>
          <p:cNvSpPr/>
          <p:nvPr/>
        </p:nvSpPr>
        <p:spPr>
          <a:xfrm>
            <a:off x="1097280" y="3017520"/>
            <a:ext cx="5029200" cy="640080"/>
          </a:xfrm>
          <a:prstGeom prst="roundRect">
            <a:avLst/>
          </a:prstGeom>
          <a:solidFill>
            <a:srgbClr val="FFFFFF"/>
          </a:solidFill>
          <a:ln w="19050">
            <a:solidFill>
              <a:srgbClr val="E0D0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97280" y="3017520"/>
            <a:ext cx="63500" cy="64008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417320" y="3119120"/>
            <a:ext cx="411480" cy="41148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b="1">
                <a:solidFill>
                  <a:srgbClr val="FFFFFF"/>
                </a:solidFill>
                <a:latin typeface="Microsoft YaHei"/>
              </a:defRPr>
            </a:pPr>
            <a:r>
              <a:t>3</a:t>
            </a:r>
          </a:p>
        </p:txBody>
      </p:sp>
      <p:sp>
        <p:nvSpPr>
          <p:cNvPr id="18" name="TextBox 17"/>
          <p:cNvSpPr txBox="1"/>
          <p:nvPr/>
        </p:nvSpPr>
        <p:spPr>
          <a:xfrm>
            <a:off x="2011680" y="3081020"/>
            <a:ext cx="3931920" cy="502920"/>
          </a:xfrm>
          <a:prstGeom prst="rect">
            <a:avLst/>
          </a:prstGeom>
          <a:noFill/>
        </p:spPr>
        <p:txBody>
          <a:bodyPr wrap="square">
            <a:spAutoFit/>
          </a:bodyPr>
          <a:lstStyle/>
          <a:p>
            <a:pPr algn="l">
              <a:defRPr sz="1800" b="1">
                <a:solidFill>
                  <a:srgbClr val="2D2D2D"/>
                </a:solidFill>
                <a:latin typeface="Microsoft YaHei"/>
              </a:defRPr>
            </a:pPr>
            <a:r>
              <a:t>践行正确政绩观根本要求</a:t>
            </a:r>
          </a:p>
        </p:txBody>
      </p:sp>
      <p:sp>
        <p:nvSpPr>
          <p:cNvPr id="19" name="Rounded Rectangle 18"/>
          <p:cNvSpPr/>
          <p:nvPr/>
        </p:nvSpPr>
        <p:spPr>
          <a:xfrm>
            <a:off x="6675120" y="1463040"/>
            <a:ext cx="5029200" cy="640080"/>
          </a:xfrm>
          <a:prstGeom prst="roundRect">
            <a:avLst/>
          </a:prstGeom>
          <a:solidFill>
            <a:srgbClr val="FFFFFF"/>
          </a:solidFill>
          <a:ln w="19050">
            <a:solidFill>
              <a:srgbClr val="E0D0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675120" y="1463040"/>
            <a:ext cx="63500" cy="64008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995160" y="1564640"/>
            <a:ext cx="411480" cy="41148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b="1">
                <a:solidFill>
                  <a:srgbClr val="FFFFFF"/>
                </a:solidFill>
                <a:latin typeface="Microsoft YaHei"/>
              </a:defRPr>
            </a:pPr>
            <a:r>
              <a:t>4</a:t>
            </a:r>
          </a:p>
        </p:txBody>
      </p:sp>
      <p:sp>
        <p:nvSpPr>
          <p:cNvPr id="22" name="TextBox 21"/>
          <p:cNvSpPr txBox="1"/>
          <p:nvPr/>
        </p:nvSpPr>
        <p:spPr>
          <a:xfrm>
            <a:off x="7589520" y="1526540"/>
            <a:ext cx="3931920" cy="502920"/>
          </a:xfrm>
          <a:prstGeom prst="rect">
            <a:avLst/>
          </a:prstGeom>
          <a:noFill/>
        </p:spPr>
        <p:txBody>
          <a:bodyPr wrap="square">
            <a:spAutoFit/>
          </a:bodyPr>
          <a:lstStyle/>
          <a:p>
            <a:pPr algn="l">
              <a:defRPr sz="1800" b="1">
                <a:solidFill>
                  <a:srgbClr val="2D2D2D"/>
                </a:solidFill>
                <a:latin typeface="Microsoft YaHei"/>
              </a:defRPr>
            </a:pPr>
            <a:r>
              <a:t>坚决纠治错误政绩观</a:t>
            </a:r>
          </a:p>
        </p:txBody>
      </p:sp>
      <p:sp>
        <p:nvSpPr>
          <p:cNvPr id="23" name="Rounded Rectangle 22"/>
          <p:cNvSpPr/>
          <p:nvPr/>
        </p:nvSpPr>
        <p:spPr>
          <a:xfrm>
            <a:off x="6675120" y="2240280"/>
            <a:ext cx="5029200" cy="640080"/>
          </a:xfrm>
          <a:prstGeom prst="roundRect">
            <a:avLst/>
          </a:prstGeom>
          <a:solidFill>
            <a:srgbClr val="FFFFFF"/>
          </a:solidFill>
          <a:ln w="19050">
            <a:solidFill>
              <a:srgbClr val="E0D0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675120" y="2240280"/>
            <a:ext cx="63500" cy="64008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995160" y="2341880"/>
            <a:ext cx="411480" cy="41148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b="1">
                <a:solidFill>
                  <a:srgbClr val="FFFFFF"/>
                </a:solidFill>
                <a:latin typeface="Microsoft YaHei"/>
              </a:defRPr>
            </a:pPr>
            <a:r>
              <a:t>5</a:t>
            </a:r>
          </a:p>
        </p:txBody>
      </p:sp>
      <p:sp>
        <p:nvSpPr>
          <p:cNvPr id="26" name="TextBox 25"/>
          <p:cNvSpPr txBox="1"/>
          <p:nvPr/>
        </p:nvSpPr>
        <p:spPr>
          <a:xfrm>
            <a:off x="7589520" y="2303780"/>
            <a:ext cx="3931920" cy="502920"/>
          </a:xfrm>
          <a:prstGeom prst="rect">
            <a:avLst/>
          </a:prstGeom>
          <a:noFill/>
        </p:spPr>
        <p:txBody>
          <a:bodyPr wrap="square">
            <a:spAutoFit/>
          </a:bodyPr>
          <a:lstStyle/>
          <a:p>
            <a:pPr algn="l">
              <a:defRPr sz="1800" b="1">
                <a:solidFill>
                  <a:srgbClr val="2D2D2D"/>
                </a:solidFill>
                <a:latin typeface="Microsoft YaHei"/>
              </a:defRPr>
            </a:pPr>
            <a:r>
              <a:t>结合实际抓好贯彻落实</a:t>
            </a:r>
          </a:p>
        </p:txBody>
      </p:sp>
      <p:sp>
        <p:nvSpPr>
          <p:cNvPr id="27" name="Rounded Rectangle 26"/>
          <p:cNvSpPr/>
          <p:nvPr/>
        </p:nvSpPr>
        <p:spPr>
          <a:xfrm>
            <a:off x="6675120" y="3017520"/>
            <a:ext cx="5029200" cy="640080"/>
          </a:xfrm>
          <a:prstGeom prst="roundRect">
            <a:avLst/>
          </a:prstGeom>
          <a:solidFill>
            <a:srgbClr val="FFFFFF"/>
          </a:solidFill>
          <a:ln w="19050">
            <a:solidFill>
              <a:srgbClr val="E0D0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675120" y="3017520"/>
            <a:ext cx="63500" cy="64008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995160" y="3119120"/>
            <a:ext cx="411480" cy="41148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b="1">
                <a:solidFill>
                  <a:srgbClr val="FFFFFF"/>
                </a:solidFill>
                <a:latin typeface="Microsoft YaHei"/>
              </a:defRPr>
            </a:pPr>
            <a:r>
              <a:t>6</a:t>
            </a:r>
          </a:p>
        </p:txBody>
      </p:sp>
      <p:sp>
        <p:nvSpPr>
          <p:cNvPr id="30" name="TextBox 29"/>
          <p:cNvSpPr txBox="1"/>
          <p:nvPr/>
        </p:nvSpPr>
        <p:spPr>
          <a:xfrm>
            <a:off x="7589520" y="3081020"/>
            <a:ext cx="3931920" cy="502920"/>
          </a:xfrm>
          <a:prstGeom prst="rect">
            <a:avLst/>
          </a:prstGeom>
          <a:noFill/>
        </p:spPr>
        <p:txBody>
          <a:bodyPr wrap="square">
            <a:spAutoFit/>
          </a:bodyPr>
          <a:lstStyle/>
          <a:p>
            <a:pPr algn="l">
              <a:defRPr sz="1800" b="1">
                <a:solidFill>
                  <a:srgbClr val="2D2D2D"/>
                </a:solidFill>
                <a:latin typeface="Microsoft YaHei"/>
              </a:defRPr>
            </a:pPr>
            <a:r>
              <a:t>学习总结</a:t>
            </a:r>
          </a:p>
        </p:txBody>
      </p:sp>
      <p:sp>
        <p:nvSpPr>
          <p:cNvPr id="31" name="Rectangle 30"/>
          <p:cNvSpPr/>
          <p:nvPr/>
        </p:nvSpPr>
        <p:spPr>
          <a:xfrm>
            <a:off x="1097280" y="4572000"/>
            <a:ext cx="10058400" cy="12700"/>
          </a:xfrm>
          <a:prstGeom prst="rect">
            <a:avLst/>
          </a:prstGeom>
          <a:solidFill>
            <a:srgbClr val="E0D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97280" y="4709160"/>
            <a:ext cx="10058400" cy="365760"/>
          </a:xfrm>
          <a:prstGeom prst="rect">
            <a:avLst/>
          </a:prstGeom>
          <a:noFill/>
        </p:spPr>
        <p:txBody>
          <a:bodyPr wrap="square">
            <a:spAutoFit/>
          </a:bodyPr>
          <a:lstStyle/>
          <a:p>
            <a:pPr algn="ctr">
              <a:defRPr sz="1400" b="0">
                <a:solidFill>
                  <a:srgbClr val="4A4A4A"/>
                </a:solidFill>
                <a:latin typeface="Microsoft YaHei"/>
              </a:defRPr>
            </a:pPr>
            <a:r>
              <a:t>专题学习 • 深刻领会 • 贯彻落实</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381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807200"/>
            <a:ext cx="12191695" cy="5080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7160"/>
            <a:ext cx="8229600" cy="640080"/>
          </a:xfrm>
          <a:prstGeom prst="rect">
            <a:avLst/>
          </a:prstGeom>
          <a:noFill/>
        </p:spPr>
        <p:txBody>
          <a:bodyPr wrap="square">
            <a:spAutoFit/>
          </a:bodyPr>
          <a:lstStyle/>
          <a:p>
            <a:pPr algn="l">
              <a:defRPr sz="3000" b="1">
                <a:solidFill>
                  <a:srgbClr val="FFFFFF"/>
                </a:solidFill>
                <a:latin typeface="Microsoft YaHei"/>
              </a:defRPr>
            </a:pPr>
            <a:r>
              <a:t>一、前言概述</a:t>
            </a:r>
          </a:p>
        </p:txBody>
      </p:sp>
      <p:sp>
        <p:nvSpPr>
          <p:cNvPr id="7" name="TextBox 6"/>
          <p:cNvSpPr txBox="1"/>
          <p:nvPr/>
        </p:nvSpPr>
        <p:spPr>
          <a:xfrm>
            <a:off x="10789920" y="182880"/>
            <a:ext cx="1097280" cy="548640"/>
          </a:xfrm>
          <a:prstGeom prst="rect">
            <a:avLst/>
          </a:prstGeom>
          <a:noFill/>
        </p:spPr>
        <p:txBody>
          <a:bodyPr wrap="square">
            <a:spAutoFit/>
          </a:bodyPr>
          <a:lstStyle/>
          <a:p>
            <a:pPr algn="ctr">
              <a:defRPr sz="1400" b="1">
                <a:solidFill>
                  <a:srgbClr val="F5DEB3"/>
                </a:solidFill>
                <a:latin typeface="Microsoft YaHei"/>
              </a:defRPr>
            </a:pPr>
            <a:r>
              <a:t>3</a:t>
            </a:r>
          </a:p>
        </p:txBody>
      </p:sp>
      <p:sp>
        <p:nvSpPr>
          <p:cNvPr id="8" name="TextBox 7"/>
          <p:cNvSpPr txBox="1"/>
          <p:nvPr/>
        </p:nvSpPr>
        <p:spPr>
          <a:xfrm>
            <a:off x="7772400" y="228600"/>
            <a:ext cx="2743200" cy="457200"/>
          </a:xfrm>
          <a:prstGeom prst="rect">
            <a:avLst/>
          </a:prstGeom>
          <a:noFill/>
        </p:spPr>
        <p:txBody>
          <a:bodyPr wrap="square">
            <a:spAutoFit/>
          </a:bodyPr>
          <a:lstStyle/>
          <a:p>
            <a:pPr algn="r">
              <a:defRPr sz="1100" b="0">
                <a:solidFill>
                  <a:srgbClr val="F5DEB3"/>
                </a:solidFill>
                <a:latin typeface="Microsoft YaHei"/>
              </a:defRPr>
            </a:pPr>
            <a:r>
              <a:t>方案一</a:t>
            </a:r>
          </a:p>
        </p:txBody>
      </p:sp>
      <p:sp>
        <p:nvSpPr>
          <p:cNvPr id="9" name="Rectangle 8"/>
          <p:cNvSpPr/>
          <p:nvPr/>
        </p:nvSpPr>
        <p:spPr>
          <a:xfrm>
            <a:off x="1097280" y="1407160"/>
            <a:ext cx="50800" cy="64008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63040" y="1280160"/>
            <a:ext cx="9601200" cy="822960"/>
          </a:xfrm>
          <a:prstGeom prst="rect">
            <a:avLst/>
          </a:prstGeom>
          <a:noFill/>
        </p:spPr>
        <p:txBody>
          <a:bodyPr wrap="square">
            <a:spAutoFit/>
          </a:bodyPr>
          <a:lstStyle/>
          <a:p>
            <a:pPr algn="l">
              <a:defRPr sz="1800" b="0">
                <a:solidFill>
                  <a:srgbClr val="2D2D2D"/>
                </a:solidFill>
                <a:latin typeface="Microsoft YaHei"/>
              </a:defRPr>
            </a:pPr>
            <a:r>
              <a:t>《习近平关于树立和践行正确政绩观论述摘编》，收录总书记近年来关于政绩观重要讲话、指示批示内容，深刻回答政绩为谁而树、树什么样政绩、靠什么树政绩重大问题。</a:t>
            </a:r>
          </a:p>
        </p:txBody>
      </p:sp>
      <p:sp>
        <p:nvSpPr>
          <p:cNvPr id="11" name="Rectangle 10"/>
          <p:cNvSpPr/>
          <p:nvPr/>
        </p:nvSpPr>
        <p:spPr>
          <a:xfrm>
            <a:off x="1097280" y="2504440"/>
            <a:ext cx="50800" cy="64008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63040" y="2377440"/>
            <a:ext cx="9601200" cy="822960"/>
          </a:xfrm>
          <a:prstGeom prst="rect">
            <a:avLst/>
          </a:prstGeom>
          <a:noFill/>
        </p:spPr>
        <p:txBody>
          <a:bodyPr wrap="square">
            <a:spAutoFit/>
          </a:bodyPr>
          <a:lstStyle/>
          <a:p>
            <a:pPr algn="l">
              <a:defRPr sz="1800" b="0">
                <a:solidFill>
                  <a:srgbClr val="2D2D2D"/>
                </a:solidFill>
                <a:latin typeface="Microsoft YaHei"/>
              </a:defRPr>
            </a:pPr>
            <a:r>
              <a:t>引导全体党员干部坚守初心使命，端正干事导向，摒弃功利思想，始终求真务实、真抓实干，创造经得起实践、人民、历史检验的政绩。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381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
            <a:ext cx="8229600" cy="640080"/>
          </a:xfrm>
          <a:prstGeom prst="rect">
            <a:avLst/>
          </a:prstGeom>
          <a:noFill/>
        </p:spPr>
        <p:txBody>
          <a:bodyPr wrap="square">
            <a:spAutoFit/>
          </a:bodyPr>
          <a:lstStyle/>
          <a:p>
            <a:pPr algn="l">
              <a:defRPr sz="3000" b="1">
                <a:solidFill>
                  <a:srgbClr val="FFFFFF"/>
                </a:solidFill>
                <a:latin typeface="Microsoft YaHei"/>
              </a:defRPr>
            </a:pPr>
            <a:r>
              <a:t>二、正确政绩观核心内涵</a:t>
            </a:r>
          </a:p>
        </p:txBody>
      </p:sp>
      <p:sp>
        <p:nvSpPr>
          <p:cNvPr id="6" name="TextBox 5"/>
          <p:cNvSpPr txBox="1"/>
          <p:nvPr/>
        </p:nvSpPr>
        <p:spPr>
          <a:xfrm>
            <a:off x="10789920" y="182880"/>
            <a:ext cx="1097280" cy="548640"/>
          </a:xfrm>
          <a:prstGeom prst="rect">
            <a:avLst/>
          </a:prstGeom>
          <a:noFill/>
        </p:spPr>
        <p:txBody>
          <a:bodyPr wrap="square">
            <a:spAutoFit/>
          </a:bodyPr>
          <a:lstStyle/>
          <a:p>
            <a:pPr algn="ctr">
              <a:defRPr sz="1400" b="1">
                <a:solidFill>
                  <a:srgbClr val="F5DEB3"/>
                </a:solidFill>
                <a:latin typeface="Microsoft YaHei"/>
              </a:defRPr>
            </a:pPr>
            <a:r>
              <a:t>4</a:t>
            </a:r>
          </a:p>
        </p:txBody>
      </p:sp>
      <p:sp>
        <p:nvSpPr>
          <p:cNvPr id="7" name="TextBox 6"/>
          <p:cNvSpPr txBox="1"/>
          <p:nvPr/>
        </p:nvSpPr>
        <p:spPr>
          <a:xfrm>
            <a:off x="7772400" y="228600"/>
            <a:ext cx="2743200" cy="457200"/>
          </a:xfrm>
          <a:prstGeom prst="rect">
            <a:avLst/>
          </a:prstGeom>
          <a:noFill/>
        </p:spPr>
        <p:txBody>
          <a:bodyPr wrap="square">
            <a:spAutoFit/>
          </a:bodyPr>
          <a:lstStyle/>
          <a:p>
            <a:pPr algn="r">
              <a:defRPr sz="1100" b="0">
                <a:solidFill>
                  <a:srgbClr val="F5DEB3"/>
                </a:solidFill>
                <a:latin typeface="Microsoft YaHei"/>
              </a:defRPr>
            </a:pPr>
            <a:r>
              <a:t>方案一</a:t>
            </a:r>
          </a:p>
        </p:txBody>
      </p:sp>
      <p:sp>
        <p:nvSpPr>
          <p:cNvPr id="8" name="Rectangle 7"/>
          <p:cNvSpPr/>
          <p:nvPr/>
        </p:nvSpPr>
        <p:spPr>
          <a:xfrm>
            <a:off x="0" y="6807200"/>
            <a:ext cx="12191695" cy="5080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188720"/>
            <a:ext cx="10332720" cy="822960"/>
          </a:xfrm>
          <a:prstGeom prst="roundRect">
            <a:avLst/>
          </a:prstGeom>
          <a:solidFill>
            <a:srgbClr val="FFFEF8"/>
          </a:solidFill>
          <a:ln w="19050">
            <a:solidFill>
              <a:srgbClr val="E0D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1188720"/>
            <a:ext cx="63500" cy="82296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88720" y="1315720"/>
            <a:ext cx="365760" cy="36576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Microsoft YaHei"/>
              </a:defRPr>
            </a:pPr>
            <a:r>
              <a:t>1</a:t>
            </a:r>
          </a:p>
        </p:txBody>
      </p:sp>
      <p:sp>
        <p:nvSpPr>
          <p:cNvPr id="12" name="TextBox 11"/>
          <p:cNvSpPr txBox="1"/>
          <p:nvPr/>
        </p:nvSpPr>
        <p:spPr>
          <a:xfrm>
            <a:off x="1737360" y="1252220"/>
            <a:ext cx="9144000" cy="731520"/>
          </a:xfrm>
          <a:prstGeom prst="rect">
            <a:avLst/>
          </a:prstGeom>
          <a:noFill/>
        </p:spPr>
        <p:txBody>
          <a:bodyPr wrap="square">
            <a:spAutoFit/>
          </a:bodyPr>
          <a:lstStyle/>
          <a:p>
            <a:pPr algn="l">
              <a:spcAft>
                <a:spcPts val="400"/>
              </a:spcAft>
            </a:pPr>
            <a:r>
              <a:rPr sz="1700" b="1">
                <a:solidFill>
                  <a:srgbClr val="C41E3A"/>
                </a:solidFill>
                <a:latin typeface="Microsoft YaHei"/>
              </a:rPr>
              <a:t>党性决定政绩观</a:t>
            </a:r>
            <a:r>
              <a:rPr sz="1500" b="0">
                <a:solidFill>
                  <a:srgbClr val="4A4A4A"/>
                </a:solidFill>
                <a:latin typeface="Microsoft YaHei"/>
              </a:rPr>
              <a:t>     ——  政绩观是世界观、价值观的体现，党性强则政绩观正。</a:t>
            </a:r>
          </a:p>
        </p:txBody>
      </p:sp>
      <p:sp>
        <p:nvSpPr>
          <p:cNvPr id="13" name="Rounded Rectangle 12"/>
          <p:cNvSpPr/>
          <p:nvPr/>
        </p:nvSpPr>
        <p:spPr>
          <a:xfrm>
            <a:off x="914400" y="2331720"/>
            <a:ext cx="10332720" cy="822960"/>
          </a:xfrm>
          <a:prstGeom prst="roundRect">
            <a:avLst/>
          </a:prstGeom>
          <a:solidFill>
            <a:srgbClr val="FFFEF8"/>
          </a:solidFill>
          <a:ln w="19050">
            <a:solidFill>
              <a:srgbClr val="E0D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14400" y="2331720"/>
            <a:ext cx="63500" cy="82296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88720" y="2458720"/>
            <a:ext cx="365760" cy="36576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Microsoft YaHei"/>
              </a:defRPr>
            </a:pPr>
            <a:r>
              <a:t>2</a:t>
            </a:r>
          </a:p>
        </p:txBody>
      </p:sp>
      <p:sp>
        <p:nvSpPr>
          <p:cNvPr id="16" name="TextBox 15"/>
          <p:cNvSpPr txBox="1"/>
          <p:nvPr/>
        </p:nvSpPr>
        <p:spPr>
          <a:xfrm>
            <a:off x="1737360" y="2395220"/>
            <a:ext cx="9144000" cy="731520"/>
          </a:xfrm>
          <a:prstGeom prst="rect">
            <a:avLst/>
          </a:prstGeom>
          <a:noFill/>
        </p:spPr>
        <p:txBody>
          <a:bodyPr wrap="square">
            <a:spAutoFit/>
          </a:bodyPr>
          <a:lstStyle/>
          <a:p>
            <a:pPr algn="l">
              <a:spcAft>
                <a:spcPts val="400"/>
              </a:spcAft>
            </a:pPr>
            <a:r>
              <a:rPr sz="1700" b="1">
                <a:solidFill>
                  <a:srgbClr val="C41E3A"/>
                </a:solidFill>
                <a:latin typeface="Microsoft YaHei"/>
              </a:rPr>
              <a:t>为民造福是最大政绩</a:t>
            </a:r>
            <a:r>
              <a:rPr sz="1500" b="0">
                <a:solidFill>
                  <a:srgbClr val="4A4A4A"/>
                </a:solidFill>
                <a:latin typeface="Microsoft YaHei"/>
              </a:rPr>
              <a:t>     ——  始终坚持以人民为中心，把群众利益放在首位。</a:t>
            </a:r>
          </a:p>
        </p:txBody>
      </p:sp>
      <p:sp>
        <p:nvSpPr>
          <p:cNvPr id="17" name="Rounded Rectangle 16"/>
          <p:cNvSpPr/>
          <p:nvPr/>
        </p:nvSpPr>
        <p:spPr>
          <a:xfrm>
            <a:off x="914400" y="3474720"/>
            <a:ext cx="10332720" cy="822960"/>
          </a:xfrm>
          <a:prstGeom prst="roundRect">
            <a:avLst/>
          </a:prstGeom>
          <a:solidFill>
            <a:srgbClr val="FFFEF8"/>
          </a:solidFill>
          <a:ln w="19050">
            <a:solidFill>
              <a:srgbClr val="E0D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14400" y="3474720"/>
            <a:ext cx="63500" cy="82296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88720" y="3601720"/>
            <a:ext cx="365760" cy="36576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Microsoft YaHei"/>
              </a:defRPr>
            </a:pPr>
            <a:r>
              <a:t>3</a:t>
            </a:r>
          </a:p>
        </p:txBody>
      </p:sp>
      <p:sp>
        <p:nvSpPr>
          <p:cNvPr id="20" name="TextBox 19"/>
          <p:cNvSpPr txBox="1"/>
          <p:nvPr/>
        </p:nvSpPr>
        <p:spPr>
          <a:xfrm>
            <a:off x="1737360" y="3538220"/>
            <a:ext cx="9144000" cy="731520"/>
          </a:xfrm>
          <a:prstGeom prst="rect">
            <a:avLst/>
          </a:prstGeom>
          <a:noFill/>
        </p:spPr>
        <p:txBody>
          <a:bodyPr wrap="square">
            <a:spAutoFit/>
          </a:bodyPr>
          <a:lstStyle/>
          <a:p>
            <a:pPr algn="l">
              <a:spcAft>
                <a:spcPts val="400"/>
              </a:spcAft>
            </a:pPr>
            <a:r>
              <a:rPr sz="1700" b="1">
                <a:solidFill>
                  <a:srgbClr val="C41E3A"/>
                </a:solidFill>
                <a:latin typeface="Microsoft YaHei"/>
              </a:rPr>
              <a:t>坚持辩证思维</a:t>
            </a:r>
            <a:r>
              <a:rPr sz="1500" b="0">
                <a:solidFill>
                  <a:srgbClr val="4A4A4A"/>
                </a:solidFill>
                <a:latin typeface="Microsoft YaHei"/>
              </a:rPr>
              <a:t>     ——  分清显功与潜功、当前与长远、局部与全局关系。</a:t>
            </a:r>
          </a:p>
        </p:txBody>
      </p:sp>
      <p:sp>
        <p:nvSpPr>
          <p:cNvPr id="21" name="Rounded Rectangle 20"/>
          <p:cNvSpPr/>
          <p:nvPr/>
        </p:nvSpPr>
        <p:spPr>
          <a:xfrm>
            <a:off x="914400" y="4617720"/>
            <a:ext cx="10332720" cy="822960"/>
          </a:xfrm>
          <a:prstGeom prst="roundRect">
            <a:avLst/>
          </a:prstGeom>
          <a:solidFill>
            <a:srgbClr val="FFFEF8"/>
          </a:solidFill>
          <a:ln w="19050">
            <a:solidFill>
              <a:srgbClr val="E0D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 y="4617720"/>
            <a:ext cx="63500" cy="82296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188720" y="4744720"/>
            <a:ext cx="365760" cy="36576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Microsoft YaHei"/>
              </a:defRPr>
            </a:pPr>
            <a:r>
              <a:t>4</a:t>
            </a:r>
          </a:p>
        </p:txBody>
      </p:sp>
      <p:sp>
        <p:nvSpPr>
          <p:cNvPr id="24" name="TextBox 23"/>
          <p:cNvSpPr txBox="1"/>
          <p:nvPr/>
        </p:nvSpPr>
        <p:spPr>
          <a:xfrm>
            <a:off x="1737360" y="4681220"/>
            <a:ext cx="9144000" cy="731520"/>
          </a:xfrm>
          <a:prstGeom prst="rect">
            <a:avLst/>
          </a:prstGeom>
          <a:noFill/>
        </p:spPr>
        <p:txBody>
          <a:bodyPr wrap="square">
            <a:spAutoFit/>
          </a:bodyPr>
          <a:lstStyle/>
          <a:p>
            <a:pPr algn="l">
              <a:spcAft>
                <a:spcPts val="400"/>
              </a:spcAft>
            </a:pPr>
            <a:r>
              <a:rPr sz="1700" b="1">
                <a:solidFill>
                  <a:srgbClr val="C41E3A"/>
                </a:solidFill>
                <a:latin typeface="Microsoft YaHei"/>
              </a:rPr>
              <a:t>坚守发展导向</a:t>
            </a:r>
            <a:r>
              <a:rPr sz="1500" b="0">
                <a:solidFill>
                  <a:srgbClr val="4A4A4A"/>
                </a:solidFill>
                <a:latin typeface="Microsoft YaHei"/>
              </a:rPr>
              <a:t>     ——  完整贯彻新发展理念，推动高质量发展。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381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
            <a:ext cx="8229600" cy="640080"/>
          </a:xfrm>
          <a:prstGeom prst="rect">
            <a:avLst/>
          </a:prstGeom>
          <a:noFill/>
        </p:spPr>
        <p:txBody>
          <a:bodyPr wrap="square">
            <a:spAutoFit/>
          </a:bodyPr>
          <a:lstStyle/>
          <a:p>
            <a:pPr algn="l">
              <a:defRPr sz="3000" b="1">
                <a:solidFill>
                  <a:srgbClr val="FFFFFF"/>
                </a:solidFill>
                <a:latin typeface="Microsoft YaHei"/>
              </a:defRPr>
            </a:pPr>
            <a:r>
              <a:t>三、践行正确政绩观根本要求</a:t>
            </a:r>
          </a:p>
        </p:txBody>
      </p:sp>
      <p:sp>
        <p:nvSpPr>
          <p:cNvPr id="6" name="TextBox 5"/>
          <p:cNvSpPr txBox="1"/>
          <p:nvPr/>
        </p:nvSpPr>
        <p:spPr>
          <a:xfrm>
            <a:off x="10789920" y="182880"/>
            <a:ext cx="1097280" cy="548640"/>
          </a:xfrm>
          <a:prstGeom prst="rect">
            <a:avLst/>
          </a:prstGeom>
          <a:noFill/>
        </p:spPr>
        <p:txBody>
          <a:bodyPr wrap="square">
            <a:spAutoFit/>
          </a:bodyPr>
          <a:lstStyle/>
          <a:p>
            <a:pPr algn="ctr">
              <a:defRPr sz="1400" b="1">
                <a:solidFill>
                  <a:srgbClr val="F5DEB3"/>
                </a:solidFill>
                <a:latin typeface="Microsoft YaHei"/>
              </a:defRPr>
            </a:pPr>
            <a:r>
              <a:t>5</a:t>
            </a:r>
          </a:p>
        </p:txBody>
      </p:sp>
      <p:sp>
        <p:nvSpPr>
          <p:cNvPr id="7" name="TextBox 6"/>
          <p:cNvSpPr txBox="1"/>
          <p:nvPr/>
        </p:nvSpPr>
        <p:spPr>
          <a:xfrm>
            <a:off x="7772400" y="228600"/>
            <a:ext cx="2743200" cy="457200"/>
          </a:xfrm>
          <a:prstGeom prst="rect">
            <a:avLst/>
          </a:prstGeom>
          <a:noFill/>
        </p:spPr>
        <p:txBody>
          <a:bodyPr wrap="square">
            <a:spAutoFit/>
          </a:bodyPr>
          <a:lstStyle/>
          <a:p>
            <a:pPr algn="r">
              <a:defRPr sz="1100" b="0">
                <a:solidFill>
                  <a:srgbClr val="F5DEB3"/>
                </a:solidFill>
                <a:latin typeface="Microsoft YaHei"/>
              </a:defRPr>
            </a:pPr>
            <a:r>
              <a:t>方案一</a:t>
            </a:r>
          </a:p>
        </p:txBody>
      </p:sp>
      <p:sp>
        <p:nvSpPr>
          <p:cNvPr id="8" name="Rectangle 7"/>
          <p:cNvSpPr/>
          <p:nvPr/>
        </p:nvSpPr>
        <p:spPr>
          <a:xfrm>
            <a:off x="0" y="6807200"/>
            <a:ext cx="12191695" cy="5080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188720"/>
            <a:ext cx="10332720" cy="822960"/>
          </a:xfrm>
          <a:prstGeom prst="roundRect">
            <a:avLst/>
          </a:prstGeom>
          <a:solidFill>
            <a:srgbClr val="FFFEF8"/>
          </a:solidFill>
          <a:ln w="19050">
            <a:solidFill>
              <a:srgbClr val="E0D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1188720"/>
            <a:ext cx="63500" cy="82296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88720" y="1315720"/>
            <a:ext cx="365760" cy="36576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Microsoft YaHei"/>
              </a:defRPr>
            </a:pPr>
            <a:r>
              <a:t>1</a:t>
            </a:r>
          </a:p>
        </p:txBody>
      </p:sp>
      <p:sp>
        <p:nvSpPr>
          <p:cNvPr id="12" name="TextBox 11"/>
          <p:cNvSpPr txBox="1"/>
          <p:nvPr/>
        </p:nvSpPr>
        <p:spPr>
          <a:xfrm>
            <a:off x="1737360" y="1252220"/>
            <a:ext cx="9144000" cy="731520"/>
          </a:xfrm>
          <a:prstGeom prst="rect">
            <a:avLst/>
          </a:prstGeom>
          <a:noFill/>
        </p:spPr>
        <p:txBody>
          <a:bodyPr wrap="square">
            <a:spAutoFit/>
          </a:bodyPr>
          <a:lstStyle/>
          <a:p>
            <a:pPr algn="l">
              <a:spcAft>
                <a:spcPts val="400"/>
              </a:spcAft>
            </a:pPr>
            <a:r>
              <a:rPr sz="1700" b="1">
                <a:solidFill>
                  <a:srgbClr val="C41E3A"/>
                </a:solidFill>
                <a:latin typeface="Microsoft YaHei"/>
              </a:rPr>
              <a:t>坚定理想信念，筑牢思想根基</a:t>
            </a:r>
            <a:r>
              <a:rPr sz="1500" b="0">
                <a:solidFill>
                  <a:srgbClr val="4A4A4A"/>
                </a:solidFill>
                <a:latin typeface="Microsoft YaHei"/>
              </a:rPr>
              <a:t>     ——  把理论学习常态化，补足精神之钙，始终对党忠诚，端正干事创业出发点。</a:t>
            </a:r>
          </a:p>
        </p:txBody>
      </p:sp>
      <p:sp>
        <p:nvSpPr>
          <p:cNvPr id="13" name="Rounded Rectangle 12"/>
          <p:cNvSpPr/>
          <p:nvPr/>
        </p:nvSpPr>
        <p:spPr>
          <a:xfrm>
            <a:off x="914400" y="2331720"/>
            <a:ext cx="10332720" cy="822960"/>
          </a:xfrm>
          <a:prstGeom prst="roundRect">
            <a:avLst/>
          </a:prstGeom>
          <a:solidFill>
            <a:srgbClr val="FFFEF8"/>
          </a:solidFill>
          <a:ln w="19050">
            <a:solidFill>
              <a:srgbClr val="E0D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14400" y="2331720"/>
            <a:ext cx="63500" cy="82296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88720" y="2458720"/>
            <a:ext cx="365760" cy="36576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Microsoft YaHei"/>
              </a:defRPr>
            </a:pPr>
            <a:r>
              <a:t>2</a:t>
            </a:r>
          </a:p>
        </p:txBody>
      </p:sp>
      <p:sp>
        <p:nvSpPr>
          <p:cNvPr id="16" name="TextBox 15"/>
          <p:cNvSpPr txBox="1"/>
          <p:nvPr/>
        </p:nvSpPr>
        <p:spPr>
          <a:xfrm>
            <a:off x="1737360" y="2395220"/>
            <a:ext cx="9144000" cy="731520"/>
          </a:xfrm>
          <a:prstGeom prst="rect">
            <a:avLst/>
          </a:prstGeom>
          <a:noFill/>
        </p:spPr>
        <p:txBody>
          <a:bodyPr wrap="square">
            <a:spAutoFit/>
          </a:bodyPr>
          <a:lstStyle/>
          <a:p>
            <a:pPr algn="l">
              <a:spcAft>
                <a:spcPts val="400"/>
              </a:spcAft>
            </a:pPr>
            <a:r>
              <a:rPr sz="1700" b="1">
                <a:solidFill>
                  <a:srgbClr val="C41E3A"/>
                </a:solidFill>
                <a:latin typeface="Microsoft YaHei"/>
              </a:rPr>
              <a:t>站稳人民立场，厚植为民情怀</a:t>
            </a:r>
            <a:r>
              <a:rPr sz="1500" b="0">
                <a:solidFill>
                  <a:srgbClr val="4A4A4A"/>
                </a:solidFill>
                <a:latin typeface="Microsoft YaHei"/>
              </a:rPr>
              <a:t>     ——  用心解决群众急难愁盼问题，多做惠民利民实事。</a:t>
            </a:r>
          </a:p>
        </p:txBody>
      </p:sp>
      <p:sp>
        <p:nvSpPr>
          <p:cNvPr id="17" name="Rounded Rectangle 16"/>
          <p:cNvSpPr/>
          <p:nvPr/>
        </p:nvSpPr>
        <p:spPr>
          <a:xfrm>
            <a:off x="914400" y="3474720"/>
            <a:ext cx="10332720" cy="822960"/>
          </a:xfrm>
          <a:prstGeom prst="roundRect">
            <a:avLst/>
          </a:prstGeom>
          <a:solidFill>
            <a:srgbClr val="FFFEF8"/>
          </a:solidFill>
          <a:ln w="19050">
            <a:solidFill>
              <a:srgbClr val="E0D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14400" y="3474720"/>
            <a:ext cx="63500" cy="82296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88720" y="3601720"/>
            <a:ext cx="365760" cy="36576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Microsoft YaHei"/>
              </a:defRPr>
            </a:pPr>
            <a:r>
              <a:t>3</a:t>
            </a:r>
          </a:p>
        </p:txBody>
      </p:sp>
      <p:sp>
        <p:nvSpPr>
          <p:cNvPr id="20" name="TextBox 19"/>
          <p:cNvSpPr txBox="1"/>
          <p:nvPr/>
        </p:nvSpPr>
        <p:spPr>
          <a:xfrm>
            <a:off x="1737360" y="3538220"/>
            <a:ext cx="9144000" cy="731520"/>
          </a:xfrm>
          <a:prstGeom prst="rect">
            <a:avLst/>
          </a:prstGeom>
          <a:noFill/>
        </p:spPr>
        <p:txBody>
          <a:bodyPr wrap="square">
            <a:spAutoFit/>
          </a:bodyPr>
          <a:lstStyle/>
          <a:p>
            <a:pPr algn="l">
              <a:spcAft>
                <a:spcPts val="400"/>
              </a:spcAft>
            </a:pPr>
            <a:r>
              <a:rPr sz="1700" b="1">
                <a:solidFill>
                  <a:srgbClr val="C41E3A"/>
                </a:solidFill>
                <a:latin typeface="Microsoft YaHei"/>
              </a:rPr>
              <a:t>坚持实事求是，力戒浮躁功利</a:t>
            </a:r>
            <a:r>
              <a:rPr sz="1500" b="0">
                <a:solidFill>
                  <a:srgbClr val="4A4A4A"/>
                </a:solidFill>
                <a:latin typeface="Microsoft YaHei"/>
              </a:rPr>
              <a:t>     ——  尊重客观规律，不搞花架子、不做表面文章。</a:t>
            </a:r>
          </a:p>
        </p:txBody>
      </p:sp>
      <p:sp>
        <p:nvSpPr>
          <p:cNvPr id="21" name="Rounded Rectangle 20"/>
          <p:cNvSpPr/>
          <p:nvPr/>
        </p:nvSpPr>
        <p:spPr>
          <a:xfrm>
            <a:off x="914400" y="4617720"/>
            <a:ext cx="10332720" cy="822960"/>
          </a:xfrm>
          <a:prstGeom prst="roundRect">
            <a:avLst/>
          </a:prstGeom>
          <a:solidFill>
            <a:srgbClr val="FFFEF8"/>
          </a:solidFill>
          <a:ln w="19050">
            <a:solidFill>
              <a:srgbClr val="E0D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 y="4617720"/>
            <a:ext cx="63500" cy="82296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188720" y="4744720"/>
            <a:ext cx="365760" cy="36576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Microsoft YaHei"/>
              </a:defRPr>
            </a:pPr>
            <a:r>
              <a:t>4</a:t>
            </a:r>
          </a:p>
        </p:txBody>
      </p:sp>
      <p:sp>
        <p:nvSpPr>
          <p:cNvPr id="24" name="TextBox 23"/>
          <p:cNvSpPr txBox="1"/>
          <p:nvPr/>
        </p:nvSpPr>
        <p:spPr>
          <a:xfrm>
            <a:off x="1737360" y="4681220"/>
            <a:ext cx="9144000" cy="731520"/>
          </a:xfrm>
          <a:prstGeom prst="rect">
            <a:avLst/>
          </a:prstGeom>
          <a:noFill/>
        </p:spPr>
        <p:txBody>
          <a:bodyPr wrap="square">
            <a:spAutoFit/>
          </a:bodyPr>
          <a:lstStyle/>
          <a:p>
            <a:pPr algn="l">
              <a:spcAft>
                <a:spcPts val="400"/>
              </a:spcAft>
            </a:pPr>
            <a:r>
              <a:rPr sz="1700" b="1">
                <a:solidFill>
                  <a:srgbClr val="C41E3A"/>
                </a:solidFill>
                <a:latin typeface="Microsoft YaHei"/>
              </a:rPr>
              <a:t>胸怀大局意识，做到久久为功</a:t>
            </a:r>
            <a:r>
              <a:rPr sz="1500" b="0">
                <a:solidFill>
                  <a:srgbClr val="4A4A4A"/>
                </a:solidFill>
                <a:latin typeface="Microsoft YaHei"/>
              </a:rPr>
              <a:t>     ——  多做打基础、利长远、管根本的工作。</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381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
            <a:ext cx="8229600" cy="640080"/>
          </a:xfrm>
          <a:prstGeom prst="rect">
            <a:avLst/>
          </a:prstGeom>
          <a:noFill/>
        </p:spPr>
        <p:txBody>
          <a:bodyPr wrap="square">
            <a:spAutoFit/>
          </a:bodyPr>
          <a:lstStyle/>
          <a:p>
            <a:pPr algn="l">
              <a:defRPr sz="3000" b="1">
                <a:solidFill>
                  <a:srgbClr val="FFFFFF"/>
                </a:solidFill>
                <a:latin typeface="Microsoft YaHei"/>
              </a:defRPr>
            </a:pPr>
            <a:r>
              <a:t>四、坚决纠治错误政绩观</a:t>
            </a:r>
          </a:p>
        </p:txBody>
      </p:sp>
      <p:sp>
        <p:nvSpPr>
          <p:cNvPr id="6" name="TextBox 5"/>
          <p:cNvSpPr txBox="1"/>
          <p:nvPr/>
        </p:nvSpPr>
        <p:spPr>
          <a:xfrm>
            <a:off x="10789920" y="182880"/>
            <a:ext cx="1097280" cy="548640"/>
          </a:xfrm>
          <a:prstGeom prst="rect">
            <a:avLst/>
          </a:prstGeom>
          <a:noFill/>
        </p:spPr>
        <p:txBody>
          <a:bodyPr wrap="square">
            <a:spAutoFit/>
          </a:bodyPr>
          <a:lstStyle/>
          <a:p>
            <a:pPr algn="ctr">
              <a:defRPr sz="1400" b="1">
                <a:solidFill>
                  <a:srgbClr val="F5DEB3"/>
                </a:solidFill>
                <a:latin typeface="Microsoft YaHei"/>
              </a:defRPr>
            </a:pPr>
            <a:r>
              <a:t>6</a:t>
            </a:r>
          </a:p>
        </p:txBody>
      </p:sp>
      <p:sp>
        <p:nvSpPr>
          <p:cNvPr id="7" name="TextBox 6"/>
          <p:cNvSpPr txBox="1"/>
          <p:nvPr/>
        </p:nvSpPr>
        <p:spPr>
          <a:xfrm>
            <a:off x="7772400" y="228600"/>
            <a:ext cx="2743200" cy="457200"/>
          </a:xfrm>
          <a:prstGeom prst="rect">
            <a:avLst/>
          </a:prstGeom>
          <a:noFill/>
        </p:spPr>
        <p:txBody>
          <a:bodyPr wrap="square">
            <a:spAutoFit/>
          </a:bodyPr>
          <a:lstStyle/>
          <a:p>
            <a:pPr algn="r">
              <a:defRPr sz="1100" b="0">
                <a:solidFill>
                  <a:srgbClr val="F5DEB3"/>
                </a:solidFill>
                <a:latin typeface="Microsoft YaHei"/>
              </a:defRPr>
            </a:pPr>
            <a:r>
              <a:t>方案一</a:t>
            </a:r>
          </a:p>
        </p:txBody>
      </p:sp>
      <p:sp>
        <p:nvSpPr>
          <p:cNvPr id="8" name="Rectangle 7"/>
          <p:cNvSpPr/>
          <p:nvPr/>
        </p:nvSpPr>
        <p:spPr>
          <a:xfrm>
            <a:off x="0" y="6807200"/>
            <a:ext cx="12191695" cy="5080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188720"/>
            <a:ext cx="10332720" cy="822960"/>
          </a:xfrm>
          <a:prstGeom prst="roundRect">
            <a:avLst/>
          </a:prstGeom>
          <a:solidFill>
            <a:srgbClr val="FFFEF8"/>
          </a:solidFill>
          <a:ln w="19050">
            <a:solidFill>
              <a:srgbClr val="E0D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1188720"/>
            <a:ext cx="63500" cy="82296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88720" y="1315720"/>
            <a:ext cx="365760" cy="36576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Microsoft YaHei"/>
              </a:defRPr>
            </a:pPr>
            <a:r>
              <a:t>1</a:t>
            </a:r>
          </a:p>
        </p:txBody>
      </p:sp>
      <p:sp>
        <p:nvSpPr>
          <p:cNvPr id="12" name="TextBox 11"/>
          <p:cNvSpPr txBox="1"/>
          <p:nvPr/>
        </p:nvSpPr>
        <p:spPr>
          <a:xfrm>
            <a:off x="1737360" y="1252220"/>
            <a:ext cx="9144000" cy="731520"/>
          </a:xfrm>
          <a:prstGeom prst="rect">
            <a:avLst/>
          </a:prstGeom>
          <a:noFill/>
        </p:spPr>
        <p:txBody>
          <a:bodyPr wrap="square">
            <a:spAutoFit/>
          </a:bodyPr>
          <a:lstStyle/>
          <a:p>
            <a:pPr algn="l">
              <a:spcAft>
                <a:spcPts val="400"/>
              </a:spcAft>
            </a:pPr>
            <a:r>
              <a:rPr sz="1700" b="1">
                <a:solidFill>
                  <a:srgbClr val="C41E3A"/>
                </a:solidFill>
                <a:latin typeface="Microsoft YaHei"/>
              </a:rPr>
              <a:t>重短期效益、轻长远发展</a:t>
            </a:r>
            <a:r>
              <a:rPr sz="1500" b="0">
                <a:solidFill>
                  <a:srgbClr val="4A4A4A"/>
                </a:solidFill>
                <a:latin typeface="Microsoft YaHei"/>
              </a:rPr>
              <a:t>     ——  急于求成，忽视可持续发展。</a:t>
            </a:r>
          </a:p>
        </p:txBody>
      </p:sp>
      <p:sp>
        <p:nvSpPr>
          <p:cNvPr id="13" name="Rounded Rectangle 12"/>
          <p:cNvSpPr/>
          <p:nvPr/>
        </p:nvSpPr>
        <p:spPr>
          <a:xfrm>
            <a:off x="914400" y="2331720"/>
            <a:ext cx="10332720" cy="822960"/>
          </a:xfrm>
          <a:prstGeom prst="roundRect">
            <a:avLst/>
          </a:prstGeom>
          <a:solidFill>
            <a:srgbClr val="FFFEF8"/>
          </a:solidFill>
          <a:ln w="19050">
            <a:solidFill>
              <a:srgbClr val="E0D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14400" y="2331720"/>
            <a:ext cx="63500" cy="82296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88720" y="2458720"/>
            <a:ext cx="365760" cy="36576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Microsoft YaHei"/>
              </a:defRPr>
            </a:pPr>
            <a:r>
              <a:t>2</a:t>
            </a:r>
          </a:p>
        </p:txBody>
      </p:sp>
      <p:sp>
        <p:nvSpPr>
          <p:cNvPr id="16" name="TextBox 15"/>
          <p:cNvSpPr txBox="1"/>
          <p:nvPr/>
        </p:nvSpPr>
        <p:spPr>
          <a:xfrm>
            <a:off x="1737360" y="2395220"/>
            <a:ext cx="9144000" cy="731520"/>
          </a:xfrm>
          <a:prstGeom prst="rect">
            <a:avLst/>
          </a:prstGeom>
          <a:noFill/>
        </p:spPr>
        <p:txBody>
          <a:bodyPr wrap="square">
            <a:spAutoFit/>
          </a:bodyPr>
          <a:lstStyle/>
          <a:p>
            <a:pPr algn="l">
              <a:spcAft>
                <a:spcPts val="400"/>
              </a:spcAft>
            </a:pPr>
            <a:r>
              <a:rPr sz="1700" b="1">
                <a:solidFill>
                  <a:srgbClr val="C41E3A"/>
                </a:solidFill>
                <a:latin typeface="Microsoft YaHei"/>
              </a:rPr>
              <a:t>重数据报表、轻工作实效</a:t>
            </a:r>
            <a:r>
              <a:rPr sz="1500" b="0">
                <a:solidFill>
                  <a:srgbClr val="4A4A4A"/>
                </a:solidFill>
                <a:latin typeface="Microsoft YaHei"/>
              </a:rPr>
              <a:t>     ——  搞表面整改，缺乏真实成效。</a:t>
            </a:r>
          </a:p>
        </p:txBody>
      </p:sp>
      <p:sp>
        <p:nvSpPr>
          <p:cNvPr id="17" name="Rounded Rectangle 16"/>
          <p:cNvSpPr/>
          <p:nvPr/>
        </p:nvSpPr>
        <p:spPr>
          <a:xfrm>
            <a:off x="914400" y="3474720"/>
            <a:ext cx="10332720" cy="822960"/>
          </a:xfrm>
          <a:prstGeom prst="roundRect">
            <a:avLst/>
          </a:prstGeom>
          <a:solidFill>
            <a:srgbClr val="FFFEF8"/>
          </a:solidFill>
          <a:ln w="19050">
            <a:solidFill>
              <a:srgbClr val="E0D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14400" y="3474720"/>
            <a:ext cx="63500" cy="82296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88720" y="3601720"/>
            <a:ext cx="365760" cy="36576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Microsoft YaHei"/>
              </a:defRPr>
            </a:pPr>
            <a:r>
              <a:t>3</a:t>
            </a:r>
          </a:p>
        </p:txBody>
      </p:sp>
      <p:sp>
        <p:nvSpPr>
          <p:cNvPr id="20" name="TextBox 19"/>
          <p:cNvSpPr txBox="1"/>
          <p:nvPr/>
        </p:nvSpPr>
        <p:spPr>
          <a:xfrm>
            <a:off x="1737360" y="3538220"/>
            <a:ext cx="9144000" cy="731520"/>
          </a:xfrm>
          <a:prstGeom prst="rect">
            <a:avLst/>
          </a:prstGeom>
          <a:noFill/>
        </p:spPr>
        <p:txBody>
          <a:bodyPr wrap="square">
            <a:spAutoFit/>
          </a:bodyPr>
          <a:lstStyle/>
          <a:p>
            <a:pPr algn="l">
              <a:spcAft>
                <a:spcPts val="400"/>
              </a:spcAft>
            </a:pPr>
            <a:r>
              <a:rPr sz="1700" b="1">
                <a:solidFill>
                  <a:srgbClr val="C41E3A"/>
                </a:solidFill>
                <a:latin typeface="Microsoft YaHei"/>
              </a:rPr>
              <a:t>重形象工程、轻民生实事</a:t>
            </a:r>
            <a:r>
              <a:rPr sz="1500" b="0">
                <a:solidFill>
                  <a:srgbClr val="4A4A4A"/>
                </a:solidFill>
                <a:latin typeface="Microsoft YaHei"/>
              </a:rPr>
              <a:t>     ——  形式主义突出，脱离群众需求。</a:t>
            </a:r>
          </a:p>
        </p:txBody>
      </p:sp>
      <p:sp>
        <p:nvSpPr>
          <p:cNvPr id="21" name="Rounded Rectangle 20"/>
          <p:cNvSpPr/>
          <p:nvPr/>
        </p:nvSpPr>
        <p:spPr>
          <a:xfrm>
            <a:off x="914400" y="4617720"/>
            <a:ext cx="10332720" cy="822960"/>
          </a:xfrm>
          <a:prstGeom prst="roundRect">
            <a:avLst/>
          </a:prstGeom>
          <a:solidFill>
            <a:srgbClr val="FFFEF8"/>
          </a:solidFill>
          <a:ln w="19050">
            <a:solidFill>
              <a:srgbClr val="E0D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 y="4617720"/>
            <a:ext cx="63500" cy="82296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188720" y="4744720"/>
            <a:ext cx="365760" cy="36576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Microsoft YaHei"/>
              </a:defRPr>
            </a:pPr>
            <a:r>
              <a:t>4</a:t>
            </a:r>
          </a:p>
        </p:txBody>
      </p:sp>
      <p:sp>
        <p:nvSpPr>
          <p:cNvPr id="24" name="TextBox 23"/>
          <p:cNvSpPr txBox="1"/>
          <p:nvPr/>
        </p:nvSpPr>
        <p:spPr>
          <a:xfrm>
            <a:off x="1737360" y="4681220"/>
            <a:ext cx="9144000" cy="731520"/>
          </a:xfrm>
          <a:prstGeom prst="rect">
            <a:avLst/>
          </a:prstGeom>
          <a:noFill/>
        </p:spPr>
        <p:txBody>
          <a:bodyPr wrap="square">
            <a:spAutoFit/>
          </a:bodyPr>
          <a:lstStyle/>
          <a:p>
            <a:pPr algn="l">
              <a:spcAft>
                <a:spcPts val="400"/>
              </a:spcAft>
            </a:pPr>
            <a:r>
              <a:rPr sz="1700" b="1">
                <a:solidFill>
                  <a:srgbClr val="C41E3A"/>
                </a:solidFill>
                <a:latin typeface="Microsoft YaHei"/>
              </a:rPr>
              <a:t>推诿懈怠不作为</a:t>
            </a:r>
            <a:r>
              <a:rPr sz="1500" b="0">
                <a:solidFill>
                  <a:srgbClr val="4A4A4A"/>
                </a:solidFill>
                <a:latin typeface="Microsoft YaHei"/>
              </a:rPr>
              <a:t>     ——  遇事避责、敷衍了事，缺乏担当。</a:t>
            </a:r>
          </a:p>
        </p:txBody>
      </p:sp>
      <p:sp>
        <p:nvSpPr>
          <p:cNvPr id="25" name="Rounded Rectangle 24"/>
          <p:cNvSpPr/>
          <p:nvPr/>
        </p:nvSpPr>
        <p:spPr>
          <a:xfrm>
            <a:off x="914400" y="5669280"/>
            <a:ext cx="10332720" cy="822960"/>
          </a:xfrm>
          <a:prstGeom prst="roundRect">
            <a:avLst/>
          </a:prstGeom>
          <a:solidFill>
            <a:srgbClr val="FDEEEE"/>
          </a:solidFill>
          <a:ln w="19050">
            <a:solidFill>
              <a:srgbClr val="DE29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80160" y="5760720"/>
            <a:ext cx="9601200" cy="640080"/>
          </a:xfrm>
          <a:prstGeom prst="rect">
            <a:avLst/>
          </a:prstGeom>
          <a:noFill/>
        </p:spPr>
        <p:txBody>
          <a:bodyPr wrap="square">
            <a:spAutoFit/>
          </a:bodyPr>
          <a:lstStyle/>
          <a:p>
            <a:pPr algn="l">
              <a:spcAft>
                <a:spcPts val="400"/>
              </a:spcAft>
            </a:pPr>
            <a:r>
              <a:rPr sz="1600" b="1">
                <a:solidFill>
                  <a:srgbClr val="C41E3A"/>
                </a:solidFill>
                <a:latin typeface="Microsoft YaHei"/>
              </a:rPr>
              <a:t>⚠  要求：</a:t>
            </a:r>
            <a:r>
              <a:rPr sz="1500" b="0">
                <a:solidFill>
                  <a:srgbClr val="4A4A4A"/>
                </a:solidFill>
                <a:latin typeface="Microsoft YaHei"/>
              </a:rPr>
              <a:t>自觉抵制功利思想，摒弃形式主义、官僚主义，知敬畏、存戒惧、守底线。</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381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
            <a:ext cx="8229600" cy="640080"/>
          </a:xfrm>
          <a:prstGeom prst="rect">
            <a:avLst/>
          </a:prstGeom>
          <a:noFill/>
        </p:spPr>
        <p:txBody>
          <a:bodyPr wrap="square">
            <a:spAutoFit/>
          </a:bodyPr>
          <a:lstStyle/>
          <a:p>
            <a:pPr algn="l">
              <a:defRPr sz="3000" b="1">
                <a:solidFill>
                  <a:srgbClr val="FFFFFF"/>
                </a:solidFill>
                <a:latin typeface="Microsoft YaHei"/>
              </a:defRPr>
            </a:pPr>
            <a:r>
              <a:t>五、结合实际抓好贯彻落实</a:t>
            </a:r>
          </a:p>
        </p:txBody>
      </p:sp>
      <p:sp>
        <p:nvSpPr>
          <p:cNvPr id="6" name="TextBox 5"/>
          <p:cNvSpPr txBox="1"/>
          <p:nvPr/>
        </p:nvSpPr>
        <p:spPr>
          <a:xfrm>
            <a:off x="10789920" y="182880"/>
            <a:ext cx="1097280" cy="548640"/>
          </a:xfrm>
          <a:prstGeom prst="rect">
            <a:avLst/>
          </a:prstGeom>
          <a:noFill/>
        </p:spPr>
        <p:txBody>
          <a:bodyPr wrap="square">
            <a:spAutoFit/>
          </a:bodyPr>
          <a:lstStyle/>
          <a:p>
            <a:pPr algn="ctr">
              <a:defRPr sz="1400" b="1">
                <a:solidFill>
                  <a:srgbClr val="F5DEB3"/>
                </a:solidFill>
                <a:latin typeface="Microsoft YaHei"/>
              </a:defRPr>
            </a:pPr>
            <a:r>
              <a:t>7</a:t>
            </a:r>
          </a:p>
        </p:txBody>
      </p:sp>
      <p:sp>
        <p:nvSpPr>
          <p:cNvPr id="7" name="TextBox 6"/>
          <p:cNvSpPr txBox="1"/>
          <p:nvPr/>
        </p:nvSpPr>
        <p:spPr>
          <a:xfrm>
            <a:off x="7772400" y="228600"/>
            <a:ext cx="2743200" cy="457200"/>
          </a:xfrm>
          <a:prstGeom prst="rect">
            <a:avLst/>
          </a:prstGeom>
          <a:noFill/>
        </p:spPr>
        <p:txBody>
          <a:bodyPr wrap="square">
            <a:spAutoFit/>
          </a:bodyPr>
          <a:lstStyle/>
          <a:p>
            <a:pPr algn="r">
              <a:defRPr sz="1100" b="0">
                <a:solidFill>
                  <a:srgbClr val="F5DEB3"/>
                </a:solidFill>
                <a:latin typeface="Microsoft YaHei"/>
              </a:defRPr>
            </a:pPr>
            <a:r>
              <a:t>方案一</a:t>
            </a:r>
          </a:p>
        </p:txBody>
      </p:sp>
      <p:sp>
        <p:nvSpPr>
          <p:cNvPr id="8" name="Rectangle 7"/>
          <p:cNvSpPr/>
          <p:nvPr/>
        </p:nvSpPr>
        <p:spPr>
          <a:xfrm>
            <a:off x="0" y="6807200"/>
            <a:ext cx="12191695" cy="5080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188720"/>
            <a:ext cx="10332720" cy="822960"/>
          </a:xfrm>
          <a:prstGeom prst="roundRect">
            <a:avLst/>
          </a:prstGeom>
          <a:solidFill>
            <a:srgbClr val="FFFEF8"/>
          </a:solidFill>
          <a:ln w="19050">
            <a:solidFill>
              <a:srgbClr val="E0D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1188720"/>
            <a:ext cx="63500" cy="82296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88720" y="1315720"/>
            <a:ext cx="365760" cy="36576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Microsoft YaHei"/>
              </a:defRPr>
            </a:pPr>
            <a:r>
              <a:t>1</a:t>
            </a:r>
          </a:p>
        </p:txBody>
      </p:sp>
      <p:sp>
        <p:nvSpPr>
          <p:cNvPr id="12" name="TextBox 11"/>
          <p:cNvSpPr txBox="1"/>
          <p:nvPr/>
        </p:nvSpPr>
        <p:spPr>
          <a:xfrm>
            <a:off x="1737360" y="1252220"/>
            <a:ext cx="9144000" cy="731520"/>
          </a:xfrm>
          <a:prstGeom prst="rect">
            <a:avLst/>
          </a:prstGeom>
          <a:noFill/>
        </p:spPr>
        <p:txBody>
          <a:bodyPr wrap="square">
            <a:spAutoFit/>
          </a:bodyPr>
          <a:lstStyle/>
          <a:p>
            <a:pPr algn="l">
              <a:spcAft>
                <a:spcPts val="400"/>
              </a:spcAft>
            </a:pPr>
            <a:r>
              <a:rPr sz="1700" b="1">
                <a:solidFill>
                  <a:srgbClr val="C41E3A"/>
                </a:solidFill>
                <a:latin typeface="Microsoft YaHei"/>
              </a:rPr>
              <a:t>强化理论武装</a:t>
            </a:r>
            <a:r>
              <a:rPr sz="1500" b="0">
                <a:solidFill>
                  <a:srgbClr val="4A4A4A"/>
                </a:solidFill>
                <a:latin typeface="Microsoft YaHei"/>
              </a:rPr>
              <a:t>     ——  持续深学细悟，筑牢正确思想认知。</a:t>
            </a:r>
          </a:p>
        </p:txBody>
      </p:sp>
      <p:sp>
        <p:nvSpPr>
          <p:cNvPr id="13" name="Rounded Rectangle 12"/>
          <p:cNvSpPr/>
          <p:nvPr/>
        </p:nvSpPr>
        <p:spPr>
          <a:xfrm>
            <a:off x="914400" y="2148840"/>
            <a:ext cx="10332720" cy="822960"/>
          </a:xfrm>
          <a:prstGeom prst="roundRect">
            <a:avLst/>
          </a:prstGeom>
          <a:solidFill>
            <a:srgbClr val="FFFEF8"/>
          </a:solidFill>
          <a:ln w="19050">
            <a:solidFill>
              <a:srgbClr val="E0D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14400" y="2148840"/>
            <a:ext cx="63500" cy="82296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88720" y="2275840"/>
            <a:ext cx="365760" cy="36576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Microsoft YaHei"/>
              </a:defRPr>
            </a:pPr>
            <a:r>
              <a:t>2</a:t>
            </a:r>
          </a:p>
        </p:txBody>
      </p:sp>
      <p:sp>
        <p:nvSpPr>
          <p:cNvPr id="16" name="TextBox 15"/>
          <p:cNvSpPr txBox="1"/>
          <p:nvPr/>
        </p:nvSpPr>
        <p:spPr>
          <a:xfrm>
            <a:off x="1737360" y="2212340"/>
            <a:ext cx="9144000" cy="731520"/>
          </a:xfrm>
          <a:prstGeom prst="rect">
            <a:avLst/>
          </a:prstGeom>
          <a:noFill/>
        </p:spPr>
        <p:txBody>
          <a:bodyPr wrap="square">
            <a:spAutoFit/>
          </a:bodyPr>
          <a:lstStyle/>
          <a:p>
            <a:pPr algn="l">
              <a:spcAft>
                <a:spcPts val="400"/>
              </a:spcAft>
            </a:pPr>
            <a:r>
              <a:rPr sz="1700" b="1">
                <a:solidFill>
                  <a:srgbClr val="C41E3A"/>
                </a:solidFill>
                <a:latin typeface="Microsoft YaHei"/>
              </a:rPr>
              <a:t>对标自查自纠</a:t>
            </a:r>
            <a:r>
              <a:rPr sz="1500" b="0">
                <a:solidFill>
                  <a:srgbClr val="4A4A4A"/>
                </a:solidFill>
                <a:latin typeface="Microsoft YaHei"/>
              </a:rPr>
              <a:t>     ——  检视自身工作是否存在功利心态。</a:t>
            </a:r>
          </a:p>
        </p:txBody>
      </p:sp>
      <p:sp>
        <p:nvSpPr>
          <p:cNvPr id="17" name="Rounded Rectangle 16"/>
          <p:cNvSpPr/>
          <p:nvPr/>
        </p:nvSpPr>
        <p:spPr>
          <a:xfrm>
            <a:off x="914400" y="3108960"/>
            <a:ext cx="10332720" cy="822960"/>
          </a:xfrm>
          <a:prstGeom prst="roundRect">
            <a:avLst/>
          </a:prstGeom>
          <a:solidFill>
            <a:srgbClr val="FFFEF8"/>
          </a:solidFill>
          <a:ln w="19050">
            <a:solidFill>
              <a:srgbClr val="E0D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14400" y="3108960"/>
            <a:ext cx="63500" cy="82296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88720" y="3235960"/>
            <a:ext cx="365760" cy="36576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Microsoft YaHei"/>
              </a:defRPr>
            </a:pPr>
            <a:r>
              <a:t>3</a:t>
            </a:r>
          </a:p>
        </p:txBody>
      </p:sp>
      <p:sp>
        <p:nvSpPr>
          <p:cNvPr id="20" name="TextBox 19"/>
          <p:cNvSpPr txBox="1"/>
          <p:nvPr/>
        </p:nvSpPr>
        <p:spPr>
          <a:xfrm>
            <a:off x="1737360" y="3172460"/>
            <a:ext cx="9144000" cy="731520"/>
          </a:xfrm>
          <a:prstGeom prst="rect">
            <a:avLst/>
          </a:prstGeom>
          <a:noFill/>
        </p:spPr>
        <p:txBody>
          <a:bodyPr wrap="square">
            <a:spAutoFit/>
          </a:bodyPr>
          <a:lstStyle/>
          <a:p>
            <a:pPr algn="l">
              <a:spcAft>
                <a:spcPts val="400"/>
              </a:spcAft>
            </a:pPr>
            <a:r>
              <a:rPr sz="1700" b="1">
                <a:solidFill>
                  <a:srgbClr val="C41E3A"/>
                </a:solidFill>
                <a:latin typeface="Microsoft YaHei"/>
              </a:rPr>
              <a:t>立足岗位职责</a:t>
            </a:r>
            <a:r>
              <a:rPr sz="1500" b="0">
                <a:solidFill>
                  <a:srgbClr val="4A4A4A"/>
                </a:solidFill>
                <a:latin typeface="Microsoft YaHei"/>
              </a:rPr>
              <a:t>     ——  务实履职尽责，真抓实干推动工作。</a:t>
            </a:r>
          </a:p>
        </p:txBody>
      </p:sp>
      <p:sp>
        <p:nvSpPr>
          <p:cNvPr id="21" name="Rounded Rectangle 20"/>
          <p:cNvSpPr/>
          <p:nvPr/>
        </p:nvSpPr>
        <p:spPr>
          <a:xfrm>
            <a:off x="914400" y="4069080"/>
            <a:ext cx="10332720" cy="822960"/>
          </a:xfrm>
          <a:prstGeom prst="roundRect">
            <a:avLst/>
          </a:prstGeom>
          <a:solidFill>
            <a:srgbClr val="FFFEF8"/>
          </a:solidFill>
          <a:ln w="19050">
            <a:solidFill>
              <a:srgbClr val="E0D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 y="4069080"/>
            <a:ext cx="63500" cy="82296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188720" y="4196080"/>
            <a:ext cx="365760" cy="36576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Microsoft YaHei"/>
              </a:defRPr>
            </a:pPr>
            <a:r>
              <a:t>4</a:t>
            </a:r>
          </a:p>
        </p:txBody>
      </p:sp>
      <p:sp>
        <p:nvSpPr>
          <p:cNvPr id="24" name="TextBox 23"/>
          <p:cNvSpPr txBox="1"/>
          <p:nvPr/>
        </p:nvSpPr>
        <p:spPr>
          <a:xfrm>
            <a:off x="1737360" y="4132580"/>
            <a:ext cx="9144000" cy="731520"/>
          </a:xfrm>
          <a:prstGeom prst="rect">
            <a:avLst/>
          </a:prstGeom>
          <a:noFill/>
        </p:spPr>
        <p:txBody>
          <a:bodyPr wrap="square">
            <a:spAutoFit/>
          </a:bodyPr>
          <a:lstStyle/>
          <a:p>
            <a:pPr algn="l">
              <a:spcAft>
                <a:spcPts val="400"/>
              </a:spcAft>
            </a:pPr>
            <a:r>
              <a:rPr sz="1700" b="1">
                <a:solidFill>
                  <a:srgbClr val="C41E3A"/>
                </a:solidFill>
                <a:latin typeface="Microsoft YaHei"/>
              </a:rPr>
              <a:t>坚持久久为功</a:t>
            </a:r>
            <a:r>
              <a:rPr sz="1500" b="0">
                <a:solidFill>
                  <a:srgbClr val="4A4A4A"/>
                </a:solidFill>
                <a:latin typeface="Microsoft YaHei"/>
              </a:rPr>
              <a:t>     ——  涵养潜绩思维，注重长效建设。</a:t>
            </a:r>
          </a:p>
        </p:txBody>
      </p:sp>
      <p:sp>
        <p:nvSpPr>
          <p:cNvPr id="25" name="Rounded Rectangle 24"/>
          <p:cNvSpPr/>
          <p:nvPr/>
        </p:nvSpPr>
        <p:spPr>
          <a:xfrm>
            <a:off x="914400" y="5029200"/>
            <a:ext cx="10332720" cy="822960"/>
          </a:xfrm>
          <a:prstGeom prst="roundRect">
            <a:avLst/>
          </a:prstGeom>
          <a:solidFill>
            <a:srgbClr val="FFFEF8"/>
          </a:solidFill>
          <a:ln w="19050">
            <a:solidFill>
              <a:srgbClr val="E0D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4400" y="5029200"/>
            <a:ext cx="63500" cy="82296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188720" y="5156200"/>
            <a:ext cx="365760" cy="36576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Microsoft YaHei"/>
              </a:defRPr>
            </a:pPr>
            <a:r>
              <a:t>5</a:t>
            </a:r>
          </a:p>
        </p:txBody>
      </p:sp>
      <p:sp>
        <p:nvSpPr>
          <p:cNvPr id="28" name="TextBox 27"/>
          <p:cNvSpPr txBox="1"/>
          <p:nvPr/>
        </p:nvSpPr>
        <p:spPr>
          <a:xfrm>
            <a:off x="1737360" y="5092700"/>
            <a:ext cx="9144000" cy="731520"/>
          </a:xfrm>
          <a:prstGeom prst="rect">
            <a:avLst/>
          </a:prstGeom>
          <a:noFill/>
        </p:spPr>
        <p:txBody>
          <a:bodyPr wrap="square">
            <a:spAutoFit/>
          </a:bodyPr>
          <a:lstStyle/>
          <a:p>
            <a:pPr algn="l">
              <a:spcAft>
                <a:spcPts val="400"/>
              </a:spcAft>
            </a:pPr>
            <a:r>
              <a:rPr sz="1700" b="1">
                <a:solidFill>
                  <a:srgbClr val="C41E3A"/>
                </a:solidFill>
                <a:latin typeface="Microsoft YaHei"/>
              </a:rPr>
              <a:t>严守纪律规矩</a:t>
            </a:r>
            <a:r>
              <a:rPr sz="1500" b="0">
                <a:solidFill>
                  <a:srgbClr val="4A4A4A"/>
                </a:solidFill>
                <a:latin typeface="Microsoft YaHei"/>
              </a:rPr>
              <a:t>     ——  清正廉洁自律，永葆干部本色。</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35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94500"/>
            <a:ext cx="12191695" cy="635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548640" cy="381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38100" cy="54864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643055" y="0"/>
            <a:ext cx="548640" cy="381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153595" y="0"/>
            <a:ext cx="38100" cy="54864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819900"/>
            <a:ext cx="548640" cy="381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309360"/>
            <a:ext cx="38100" cy="54864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643055" y="6819900"/>
            <a:ext cx="548640" cy="381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153595" y="6309360"/>
            <a:ext cx="38100" cy="54864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5-Point Star 12"/>
          <p:cNvSpPr/>
          <p:nvPr/>
        </p:nvSpPr>
        <p:spPr>
          <a:xfrm>
            <a:off x="5303520" y="822960"/>
            <a:ext cx="1097280" cy="109728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5-Point Star 13"/>
          <p:cNvSpPr/>
          <p:nvPr/>
        </p:nvSpPr>
        <p:spPr>
          <a:xfrm>
            <a:off x="5943600" y="1005840"/>
            <a:ext cx="640080" cy="64008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5-Point Star 14"/>
          <p:cNvSpPr/>
          <p:nvPr/>
        </p:nvSpPr>
        <p:spPr>
          <a:xfrm>
            <a:off x="6400800" y="822960"/>
            <a:ext cx="1097280" cy="109728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5-Point Star 15"/>
          <p:cNvSpPr/>
          <p:nvPr/>
        </p:nvSpPr>
        <p:spPr>
          <a:xfrm>
            <a:off x="7040880" y="1005840"/>
            <a:ext cx="640080" cy="64008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5-Point Star 16"/>
          <p:cNvSpPr/>
          <p:nvPr/>
        </p:nvSpPr>
        <p:spPr>
          <a:xfrm>
            <a:off x="7498079" y="822960"/>
            <a:ext cx="1097280" cy="109728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71600" y="2194560"/>
            <a:ext cx="9418320" cy="1371600"/>
          </a:xfrm>
          <a:prstGeom prst="rect">
            <a:avLst/>
          </a:prstGeom>
          <a:noFill/>
        </p:spPr>
        <p:txBody>
          <a:bodyPr wrap="square">
            <a:spAutoFit/>
          </a:bodyPr>
          <a:lstStyle/>
          <a:p>
            <a:pPr algn="ctr">
              <a:defRPr sz="4200" b="1">
                <a:solidFill>
                  <a:srgbClr val="FFFFFF"/>
                </a:solidFill>
                <a:latin typeface="Microsoft YaHei"/>
              </a:defRPr>
            </a:pPr>
            <a:r>
              <a:t>牢固树立正确政绩观</a:t>
            </a:r>
            <a:br/>
            <a:r>
              <a:t>坚守为民初心 务实担当作为</a:t>
            </a:r>
          </a:p>
        </p:txBody>
      </p:sp>
      <p:sp>
        <p:nvSpPr>
          <p:cNvPr id="19" name="Rectangle 18"/>
          <p:cNvSpPr/>
          <p:nvPr/>
        </p:nvSpPr>
        <p:spPr>
          <a:xfrm>
            <a:off x="4572000" y="3749039"/>
            <a:ext cx="301752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828800" y="4114800"/>
            <a:ext cx="8503920" cy="731520"/>
          </a:xfrm>
          <a:prstGeom prst="rect">
            <a:avLst/>
          </a:prstGeom>
          <a:noFill/>
        </p:spPr>
        <p:txBody>
          <a:bodyPr wrap="square">
            <a:spAutoFit/>
          </a:bodyPr>
          <a:lstStyle/>
          <a:p>
            <a:pPr algn="ctr">
              <a:defRPr sz="1800" b="0">
                <a:solidFill>
                  <a:srgbClr val="F5DEB3"/>
                </a:solidFill>
                <a:latin typeface="Microsoft YaHei"/>
              </a:defRPr>
            </a:pPr>
            <a:r>
              <a:t>以过硬作风推动各项工作高质量发展</a:t>
            </a:r>
          </a:p>
        </p:txBody>
      </p:sp>
      <p:sp>
        <p:nvSpPr>
          <p:cNvPr id="21" name="TextBox 20"/>
          <p:cNvSpPr txBox="1"/>
          <p:nvPr/>
        </p:nvSpPr>
        <p:spPr>
          <a:xfrm>
            <a:off x="1828800" y="5303520"/>
            <a:ext cx="8503920" cy="914400"/>
          </a:xfrm>
          <a:prstGeom prst="rect">
            <a:avLst/>
          </a:prstGeom>
          <a:noFill/>
        </p:spPr>
        <p:txBody>
          <a:bodyPr wrap="square">
            <a:spAutoFit/>
          </a:bodyPr>
          <a:lstStyle/>
          <a:p>
            <a:pPr algn="ctr">
              <a:defRPr sz="2200" b="1">
                <a:solidFill>
                  <a:srgbClr val="FFFFFF"/>
                </a:solidFill>
                <a:latin typeface="Microsoft YaHei"/>
              </a:defRPr>
            </a:pPr>
            <a:r>
              <a:t>方案一学习完毕</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B8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35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94500"/>
            <a:ext cx="12191695" cy="635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371600"/>
            <a:ext cx="50800" cy="36576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71600"/>
            <a:ext cx="3657600" cy="254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5-Point Star 6"/>
          <p:cNvSpPr/>
          <p:nvPr/>
        </p:nvSpPr>
        <p:spPr>
          <a:xfrm>
            <a:off x="5303520" y="731520"/>
            <a:ext cx="914400" cy="91440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5-Point Star 7"/>
          <p:cNvSpPr/>
          <p:nvPr/>
        </p:nvSpPr>
        <p:spPr>
          <a:xfrm>
            <a:off x="5943600" y="833120"/>
            <a:ext cx="548640" cy="54864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5-Point Star 8"/>
          <p:cNvSpPr/>
          <p:nvPr/>
        </p:nvSpPr>
        <p:spPr>
          <a:xfrm>
            <a:off x="6400800" y="731520"/>
            <a:ext cx="914400" cy="91440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5-Point Star 9"/>
          <p:cNvSpPr/>
          <p:nvPr/>
        </p:nvSpPr>
        <p:spPr>
          <a:xfrm>
            <a:off x="7040880" y="833120"/>
            <a:ext cx="548640" cy="54864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5-Point Star 10"/>
          <p:cNvSpPr/>
          <p:nvPr/>
        </p:nvSpPr>
        <p:spPr>
          <a:xfrm>
            <a:off x="7498079" y="731520"/>
            <a:ext cx="914400" cy="91440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1371600"/>
            <a:ext cx="9144000" cy="548640"/>
          </a:xfrm>
          <a:prstGeom prst="rect">
            <a:avLst/>
          </a:prstGeom>
          <a:noFill/>
        </p:spPr>
        <p:txBody>
          <a:bodyPr wrap="square">
            <a:spAutoFit/>
          </a:bodyPr>
          <a:lstStyle/>
          <a:p>
            <a:pPr algn="l">
              <a:defRPr sz="2200" b="1">
                <a:solidFill>
                  <a:srgbClr val="FFD700"/>
                </a:solidFill>
                <a:latin typeface="Microsoft YaHei"/>
              </a:defRPr>
            </a:pPr>
            <a:r>
              <a:t>第二套方案</a:t>
            </a:r>
          </a:p>
        </p:txBody>
      </p:sp>
      <p:sp>
        <p:nvSpPr>
          <p:cNvPr id="13" name="Rectangle 12"/>
          <p:cNvSpPr/>
          <p:nvPr/>
        </p:nvSpPr>
        <p:spPr>
          <a:xfrm>
            <a:off x="1371600" y="2011680"/>
            <a:ext cx="4572000" cy="254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1600" y="2377440"/>
            <a:ext cx="9601200" cy="1097280"/>
          </a:xfrm>
          <a:prstGeom prst="rect">
            <a:avLst/>
          </a:prstGeom>
          <a:noFill/>
        </p:spPr>
        <p:txBody>
          <a:bodyPr wrap="square">
            <a:spAutoFit/>
          </a:bodyPr>
          <a:lstStyle/>
          <a:p>
            <a:pPr algn="l">
              <a:defRPr sz="4000" b="1">
                <a:solidFill>
                  <a:srgbClr val="FFFFFF"/>
                </a:solidFill>
                <a:latin typeface="Microsoft YaHei"/>
              </a:defRPr>
            </a:pPr>
            <a:r>
              <a:t>深学细悟重要讲话</a:t>
            </a:r>
          </a:p>
        </p:txBody>
      </p:sp>
      <p:sp>
        <p:nvSpPr>
          <p:cNvPr id="15" name="TextBox 14"/>
          <p:cNvSpPr txBox="1"/>
          <p:nvPr/>
        </p:nvSpPr>
        <p:spPr>
          <a:xfrm>
            <a:off x="1371600" y="3383280"/>
            <a:ext cx="9601200" cy="1097280"/>
          </a:xfrm>
          <a:prstGeom prst="rect">
            <a:avLst/>
          </a:prstGeom>
          <a:noFill/>
        </p:spPr>
        <p:txBody>
          <a:bodyPr wrap="square">
            <a:spAutoFit/>
          </a:bodyPr>
          <a:lstStyle/>
          <a:p>
            <a:pPr algn="l">
              <a:defRPr sz="4000" b="1">
                <a:solidFill>
                  <a:srgbClr val="FFFFFF"/>
                </a:solidFill>
                <a:latin typeface="Microsoft YaHei"/>
              </a:defRPr>
            </a:pPr>
            <a:r>
              <a:t>聚力赋能高质量发展</a:t>
            </a:r>
          </a:p>
        </p:txBody>
      </p:sp>
      <p:sp>
        <p:nvSpPr>
          <p:cNvPr id="16" name="TextBox 15"/>
          <p:cNvSpPr txBox="1"/>
          <p:nvPr/>
        </p:nvSpPr>
        <p:spPr>
          <a:xfrm>
            <a:off x="1371600" y="4572000"/>
            <a:ext cx="9144000" cy="914400"/>
          </a:xfrm>
          <a:prstGeom prst="rect">
            <a:avLst/>
          </a:prstGeom>
          <a:noFill/>
        </p:spPr>
        <p:txBody>
          <a:bodyPr wrap="square">
            <a:spAutoFit/>
          </a:bodyPr>
          <a:lstStyle/>
          <a:p>
            <a:pPr algn="l">
              <a:defRPr sz="2000" b="0">
                <a:solidFill>
                  <a:srgbClr val="F5DEB3"/>
                </a:solidFill>
                <a:latin typeface="Microsoft YaHei"/>
              </a:defRPr>
            </a:pPr>
            <a:r>
              <a:t>学习习近平总书记参加十四届全国人大四次会议</a:t>
            </a:r>
            <a:br/>
            <a:r>
              <a:t>江苏代表团审议重要讲话精神</a:t>
            </a:r>
          </a:p>
        </p:txBody>
      </p:sp>
      <p:sp>
        <p:nvSpPr>
          <p:cNvPr id="17" name="Rectangle 16"/>
          <p:cNvSpPr/>
          <p:nvPr/>
        </p:nvSpPr>
        <p:spPr>
          <a:xfrm>
            <a:off x="1371600" y="5577840"/>
            <a:ext cx="2743200" cy="254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71600" y="5806440"/>
            <a:ext cx="4572000" cy="457200"/>
          </a:xfrm>
          <a:prstGeom prst="rect">
            <a:avLst/>
          </a:prstGeom>
          <a:noFill/>
        </p:spPr>
        <p:txBody>
          <a:bodyPr wrap="square">
            <a:spAutoFit/>
          </a:bodyPr>
          <a:lstStyle/>
          <a:p>
            <a:pPr algn="l">
              <a:defRPr sz="1600" b="0">
                <a:solidFill>
                  <a:srgbClr val="FFFFFF"/>
                </a:solidFill>
                <a:latin typeface="Microsoft YaHei"/>
              </a:defRPr>
            </a:pPr>
            <a:r>
              <a:t>XXX单位    XXXX年XX月</a:t>
            </a:r>
          </a:p>
        </p:txBody>
      </p:sp>
      <p:sp>
        <p:nvSpPr>
          <p:cNvPr id="19" name="Rectangle 18"/>
          <p:cNvSpPr/>
          <p:nvPr/>
        </p:nvSpPr>
        <p:spPr>
          <a:xfrm>
            <a:off x="0" y="0"/>
            <a:ext cx="548640" cy="381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38100" cy="54864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643055" y="0"/>
            <a:ext cx="548640" cy="381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153595" y="0"/>
            <a:ext cx="38100" cy="54864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19900"/>
            <a:ext cx="548640" cy="381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309360"/>
            <a:ext cx="38100" cy="54864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1643055" y="6819900"/>
            <a:ext cx="548640" cy="381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2153595" y="6309360"/>
            <a:ext cx="38100" cy="54864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91695" cy="508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4572000" cy="640080"/>
          </a:xfrm>
          <a:prstGeom prst="rect">
            <a:avLst/>
          </a:prstGeom>
          <a:noFill/>
        </p:spPr>
        <p:txBody>
          <a:bodyPr wrap="square">
            <a:spAutoFit/>
          </a:bodyPr>
          <a:lstStyle/>
          <a:p>
            <a:pPr algn="l">
              <a:defRPr sz="3600" b="1">
                <a:solidFill>
                  <a:srgbClr val="FFFFFF"/>
                </a:solidFill>
                <a:latin typeface="Microsoft YaHei"/>
              </a:defRPr>
            </a:pPr>
            <a:r>
              <a:t>目  录</a:t>
            </a:r>
          </a:p>
        </p:txBody>
      </p:sp>
      <p:sp>
        <p:nvSpPr>
          <p:cNvPr id="6" name="TextBox 5"/>
          <p:cNvSpPr txBox="1"/>
          <p:nvPr/>
        </p:nvSpPr>
        <p:spPr>
          <a:xfrm>
            <a:off x="7772400" y="274320"/>
            <a:ext cx="3657600" cy="457200"/>
          </a:xfrm>
          <a:prstGeom prst="rect">
            <a:avLst/>
          </a:prstGeom>
          <a:noFill/>
        </p:spPr>
        <p:txBody>
          <a:bodyPr wrap="square">
            <a:spAutoFit/>
          </a:bodyPr>
          <a:lstStyle/>
          <a:p>
            <a:pPr algn="r">
              <a:defRPr sz="1400" b="0">
                <a:solidFill>
                  <a:srgbClr val="F5DEB3"/>
                </a:solidFill>
                <a:latin typeface="Microsoft YaHei"/>
              </a:defRPr>
            </a:pPr>
            <a:r>
              <a:t>方案二：江苏代表团讲话精神</a:t>
            </a:r>
          </a:p>
        </p:txBody>
      </p:sp>
      <p:sp>
        <p:nvSpPr>
          <p:cNvPr id="7" name="Rounded Rectangle 6"/>
          <p:cNvSpPr/>
          <p:nvPr/>
        </p:nvSpPr>
        <p:spPr>
          <a:xfrm>
            <a:off x="1097280" y="1463040"/>
            <a:ext cx="5029200" cy="640080"/>
          </a:xfrm>
          <a:prstGeom prst="roundRect">
            <a:avLst/>
          </a:prstGeom>
          <a:solidFill>
            <a:srgbClr val="FFFFFF"/>
          </a:solidFill>
          <a:ln w="19050">
            <a:solidFill>
              <a:srgbClr val="E0D0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97280" y="1463040"/>
            <a:ext cx="63500" cy="64008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1564640"/>
            <a:ext cx="411480" cy="41148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b="1">
                <a:solidFill>
                  <a:srgbClr val="FFFFFF"/>
                </a:solidFill>
                <a:latin typeface="Microsoft YaHei"/>
              </a:defRPr>
            </a:pPr>
            <a:r>
              <a:t>1</a:t>
            </a:r>
          </a:p>
        </p:txBody>
      </p:sp>
      <p:sp>
        <p:nvSpPr>
          <p:cNvPr id="10" name="TextBox 9"/>
          <p:cNvSpPr txBox="1"/>
          <p:nvPr/>
        </p:nvSpPr>
        <p:spPr>
          <a:xfrm>
            <a:off x="2011680" y="1526540"/>
            <a:ext cx="3931920" cy="502920"/>
          </a:xfrm>
          <a:prstGeom prst="rect">
            <a:avLst/>
          </a:prstGeom>
          <a:noFill/>
        </p:spPr>
        <p:txBody>
          <a:bodyPr wrap="square">
            <a:spAutoFit/>
          </a:bodyPr>
          <a:lstStyle/>
          <a:p>
            <a:pPr algn="l">
              <a:defRPr sz="1800" b="1">
                <a:solidFill>
                  <a:srgbClr val="2D2D2D"/>
                </a:solidFill>
                <a:latin typeface="Microsoft YaHei"/>
              </a:defRPr>
            </a:pPr>
            <a:r>
              <a:t>讲话概况</a:t>
            </a:r>
          </a:p>
        </p:txBody>
      </p:sp>
      <p:sp>
        <p:nvSpPr>
          <p:cNvPr id="11" name="Rounded Rectangle 10"/>
          <p:cNvSpPr/>
          <p:nvPr/>
        </p:nvSpPr>
        <p:spPr>
          <a:xfrm>
            <a:off x="1097280" y="2240280"/>
            <a:ext cx="5029200" cy="640080"/>
          </a:xfrm>
          <a:prstGeom prst="roundRect">
            <a:avLst/>
          </a:prstGeom>
          <a:solidFill>
            <a:srgbClr val="FFFFFF"/>
          </a:solidFill>
          <a:ln w="19050">
            <a:solidFill>
              <a:srgbClr val="E0D0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97280" y="2240280"/>
            <a:ext cx="63500" cy="64008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417320" y="2341880"/>
            <a:ext cx="411480" cy="41148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b="1">
                <a:solidFill>
                  <a:srgbClr val="FFFFFF"/>
                </a:solidFill>
                <a:latin typeface="Microsoft YaHei"/>
              </a:defRPr>
            </a:pPr>
            <a:r>
              <a:t>2</a:t>
            </a:r>
          </a:p>
        </p:txBody>
      </p:sp>
      <p:sp>
        <p:nvSpPr>
          <p:cNvPr id="14" name="TextBox 13"/>
          <p:cNvSpPr txBox="1"/>
          <p:nvPr/>
        </p:nvSpPr>
        <p:spPr>
          <a:xfrm>
            <a:off x="2011680" y="2303780"/>
            <a:ext cx="3931920" cy="502920"/>
          </a:xfrm>
          <a:prstGeom prst="rect">
            <a:avLst/>
          </a:prstGeom>
          <a:noFill/>
        </p:spPr>
        <p:txBody>
          <a:bodyPr wrap="square">
            <a:spAutoFit/>
          </a:bodyPr>
          <a:lstStyle/>
          <a:p>
            <a:pPr algn="l">
              <a:defRPr sz="1800" b="1">
                <a:solidFill>
                  <a:srgbClr val="2D2D2D"/>
                </a:solidFill>
                <a:latin typeface="Microsoft YaHei"/>
              </a:defRPr>
            </a:pPr>
            <a:r>
              <a:t>总体精神主旨</a:t>
            </a:r>
          </a:p>
        </p:txBody>
      </p:sp>
      <p:sp>
        <p:nvSpPr>
          <p:cNvPr id="15" name="Rounded Rectangle 14"/>
          <p:cNvSpPr/>
          <p:nvPr/>
        </p:nvSpPr>
        <p:spPr>
          <a:xfrm>
            <a:off x="1097280" y="3017520"/>
            <a:ext cx="5029200" cy="640080"/>
          </a:xfrm>
          <a:prstGeom prst="roundRect">
            <a:avLst/>
          </a:prstGeom>
          <a:solidFill>
            <a:srgbClr val="FFFFFF"/>
          </a:solidFill>
          <a:ln w="19050">
            <a:solidFill>
              <a:srgbClr val="E0D0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97280" y="3017520"/>
            <a:ext cx="63500" cy="64008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417320" y="3119120"/>
            <a:ext cx="411480" cy="41148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b="1">
                <a:solidFill>
                  <a:srgbClr val="FFFFFF"/>
                </a:solidFill>
                <a:latin typeface="Microsoft YaHei"/>
              </a:defRPr>
            </a:pPr>
            <a:r>
              <a:t>3</a:t>
            </a:r>
          </a:p>
        </p:txBody>
      </p:sp>
      <p:sp>
        <p:nvSpPr>
          <p:cNvPr id="18" name="TextBox 17"/>
          <p:cNvSpPr txBox="1"/>
          <p:nvPr/>
        </p:nvSpPr>
        <p:spPr>
          <a:xfrm>
            <a:off x="2011680" y="3081020"/>
            <a:ext cx="3931920" cy="502920"/>
          </a:xfrm>
          <a:prstGeom prst="rect">
            <a:avLst/>
          </a:prstGeom>
          <a:noFill/>
        </p:spPr>
        <p:txBody>
          <a:bodyPr wrap="square">
            <a:spAutoFit/>
          </a:bodyPr>
          <a:lstStyle/>
          <a:p>
            <a:pPr algn="l">
              <a:defRPr sz="1800" b="1">
                <a:solidFill>
                  <a:srgbClr val="2D2D2D"/>
                </a:solidFill>
                <a:latin typeface="Microsoft YaHei"/>
              </a:defRPr>
            </a:pPr>
            <a:r>
              <a:t>核心学习要点</a:t>
            </a:r>
          </a:p>
        </p:txBody>
      </p:sp>
      <p:sp>
        <p:nvSpPr>
          <p:cNvPr id="19" name="Rounded Rectangle 18"/>
          <p:cNvSpPr/>
          <p:nvPr/>
        </p:nvSpPr>
        <p:spPr>
          <a:xfrm>
            <a:off x="6675120" y="1463040"/>
            <a:ext cx="5029200" cy="640080"/>
          </a:xfrm>
          <a:prstGeom prst="roundRect">
            <a:avLst/>
          </a:prstGeom>
          <a:solidFill>
            <a:srgbClr val="FFFFFF"/>
          </a:solidFill>
          <a:ln w="19050">
            <a:solidFill>
              <a:srgbClr val="E0D0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675120" y="1463040"/>
            <a:ext cx="63500" cy="64008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995160" y="1564640"/>
            <a:ext cx="411480" cy="41148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b="1">
                <a:solidFill>
                  <a:srgbClr val="FFFFFF"/>
                </a:solidFill>
                <a:latin typeface="Microsoft YaHei"/>
              </a:defRPr>
            </a:pPr>
            <a:r>
              <a:t>4</a:t>
            </a:r>
          </a:p>
        </p:txBody>
      </p:sp>
      <p:sp>
        <p:nvSpPr>
          <p:cNvPr id="22" name="TextBox 21"/>
          <p:cNvSpPr txBox="1"/>
          <p:nvPr/>
        </p:nvSpPr>
        <p:spPr>
          <a:xfrm>
            <a:off x="7589520" y="1526540"/>
            <a:ext cx="3931920" cy="502920"/>
          </a:xfrm>
          <a:prstGeom prst="rect">
            <a:avLst/>
          </a:prstGeom>
          <a:noFill/>
        </p:spPr>
        <p:txBody>
          <a:bodyPr wrap="square">
            <a:spAutoFit/>
          </a:bodyPr>
          <a:lstStyle/>
          <a:p>
            <a:pPr algn="l">
              <a:defRPr sz="1800" b="1">
                <a:solidFill>
                  <a:srgbClr val="2D2D2D"/>
                </a:solidFill>
                <a:latin typeface="Microsoft YaHei"/>
              </a:defRPr>
            </a:pPr>
            <a:r>
              <a:t>学习贯彻落实要求</a:t>
            </a:r>
          </a:p>
        </p:txBody>
      </p:sp>
      <p:sp>
        <p:nvSpPr>
          <p:cNvPr id="23" name="Rounded Rectangle 22"/>
          <p:cNvSpPr/>
          <p:nvPr/>
        </p:nvSpPr>
        <p:spPr>
          <a:xfrm>
            <a:off x="6675120" y="2240280"/>
            <a:ext cx="5029200" cy="640080"/>
          </a:xfrm>
          <a:prstGeom prst="roundRect">
            <a:avLst/>
          </a:prstGeom>
          <a:solidFill>
            <a:srgbClr val="FFFFFF"/>
          </a:solidFill>
          <a:ln w="19050">
            <a:solidFill>
              <a:srgbClr val="E0D0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675120" y="2240280"/>
            <a:ext cx="63500" cy="64008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995160" y="2341880"/>
            <a:ext cx="411480" cy="41148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b="1">
                <a:solidFill>
                  <a:srgbClr val="FFFFFF"/>
                </a:solidFill>
                <a:latin typeface="Microsoft YaHei"/>
              </a:defRPr>
            </a:pPr>
            <a:r>
              <a:t>5</a:t>
            </a:r>
          </a:p>
        </p:txBody>
      </p:sp>
      <p:sp>
        <p:nvSpPr>
          <p:cNvPr id="26" name="TextBox 25"/>
          <p:cNvSpPr txBox="1"/>
          <p:nvPr/>
        </p:nvSpPr>
        <p:spPr>
          <a:xfrm>
            <a:off x="7589520" y="2303780"/>
            <a:ext cx="3931920" cy="502920"/>
          </a:xfrm>
          <a:prstGeom prst="rect">
            <a:avLst/>
          </a:prstGeom>
          <a:noFill/>
        </p:spPr>
        <p:txBody>
          <a:bodyPr wrap="square">
            <a:spAutoFit/>
          </a:bodyPr>
          <a:lstStyle/>
          <a:p>
            <a:pPr algn="l">
              <a:defRPr sz="1800" b="1">
                <a:solidFill>
                  <a:srgbClr val="2D2D2D"/>
                </a:solidFill>
                <a:latin typeface="Microsoft YaHei"/>
              </a:defRPr>
            </a:pPr>
            <a:r>
              <a:t>总结</a:t>
            </a:r>
          </a:p>
        </p:txBody>
      </p:sp>
      <p:sp>
        <p:nvSpPr>
          <p:cNvPr id="27" name="Rectangle 26"/>
          <p:cNvSpPr/>
          <p:nvPr/>
        </p:nvSpPr>
        <p:spPr>
          <a:xfrm>
            <a:off x="1097280" y="4572000"/>
            <a:ext cx="10058400" cy="12700"/>
          </a:xfrm>
          <a:prstGeom prst="rect">
            <a:avLst/>
          </a:prstGeom>
          <a:solidFill>
            <a:srgbClr val="E0D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280" y="4709160"/>
            <a:ext cx="10058400" cy="365760"/>
          </a:xfrm>
          <a:prstGeom prst="rect">
            <a:avLst/>
          </a:prstGeom>
          <a:noFill/>
        </p:spPr>
        <p:txBody>
          <a:bodyPr wrap="square">
            <a:spAutoFit/>
          </a:bodyPr>
          <a:lstStyle/>
          <a:p>
            <a:pPr algn="ctr">
              <a:defRPr sz="1400" b="0">
                <a:solidFill>
                  <a:srgbClr val="4A4A4A"/>
                </a:solidFill>
                <a:latin typeface="Microsoft YaHei"/>
              </a:defRPr>
            </a:pPr>
            <a:r>
              <a:t>专题学习 • 深刻领会 • 贯彻落实</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381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807200"/>
            <a:ext cx="12191695" cy="5080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7160"/>
            <a:ext cx="8229600" cy="640080"/>
          </a:xfrm>
          <a:prstGeom prst="rect">
            <a:avLst/>
          </a:prstGeom>
          <a:noFill/>
        </p:spPr>
        <p:txBody>
          <a:bodyPr wrap="square">
            <a:spAutoFit/>
          </a:bodyPr>
          <a:lstStyle/>
          <a:p>
            <a:pPr algn="l">
              <a:defRPr sz="3000" b="1">
                <a:solidFill>
                  <a:srgbClr val="FFFFFF"/>
                </a:solidFill>
                <a:latin typeface="Microsoft YaHei"/>
              </a:defRPr>
            </a:pPr>
            <a:r>
              <a:t>一、讲话概况</a:t>
            </a:r>
          </a:p>
        </p:txBody>
      </p:sp>
      <p:sp>
        <p:nvSpPr>
          <p:cNvPr id="7" name="TextBox 6"/>
          <p:cNvSpPr txBox="1"/>
          <p:nvPr/>
        </p:nvSpPr>
        <p:spPr>
          <a:xfrm>
            <a:off x="10789920" y="182880"/>
            <a:ext cx="1097280" cy="548640"/>
          </a:xfrm>
          <a:prstGeom prst="rect">
            <a:avLst/>
          </a:prstGeom>
          <a:noFill/>
        </p:spPr>
        <p:txBody>
          <a:bodyPr wrap="square">
            <a:spAutoFit/>
          </a:bodyPr>
          <a:lstStyle/>
          <a:p>
            <a:pPr algn="ctr">
              <a:defRPr sz="1400" b="1">
                <a:solidFill>
                  <a:srgbClr val="F5DEB3"/>
                </a:solidFill>
                <a:latin typeface="Microsoft YaHei"/>
              </a:defRPr>
            </a:pPr>
            <a:r>
              <a:t>11</a:t>
            </a:r>
          </a:p>
        </p:txBody>
      </p:sp>
      <p:sp>
        <p:nvSpPr>
          <p:cNvPr id="8" name="TextBox 7"/>
          <p:cNvSpPr txBox="1"/>
          <p:nvPr/>
        </p:nvSpPr>
        <p:spPr>
          <a:xfrm>
            <a:off x="7772400" y="228600"/>
            <a:ext cx="2743200" cy="457200"/>
          </a:xfrm>
          <a:prstGeom prst="rect">
            <a:avLst/>
          </a:prstGeom>
          <a:noFill/>
        </p:spPr>
        <p:txBody>
          <a:bodyPr wrap="square">
            <a:spAutoFit/>
          </a:bodyPr>
          <a:lstStyle/>
          <a:p>
            <a:pPr algn="r">
              <a:defRPr sz="1100" b="0">
                <a:solidFill>
                  <a:srgbClr val="F5DEB3"/>
                </a:solidFill>
                <a:latin typeface="Microsoft YaHei"/>
              </a:defRPr>
            </a:pPr>
            <a:r>
              <a:t>方案二</a:t>
            </a:r>
          </a:p>
        </p:txBody>
      </p:sp>
      <p:sp>
        <p:nvSpPr>
          <p:cNvPr id="9" name="Rectangle 8"/>
          <p:cNvSpPr/>
          <p:nvPr/>
        </p:nvSpPr>
        <p:spPr>
          <a:xfrm>
            <a:off x="1097280" y="1407160"/>
            <a:ext cx="50800" cy="64008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63040" y="1280160"/>
            <a:ext cx="9601200" cy="822960"/>
          </a:xfrm>
          <a:prstGeom prst="rect">
            <a:avLst/>
          </a:prstGeom>
          <a:noFill/>
        </p:spPr>
        <p:txBody>
          <a:bodyPr wrap="square">
            <a:spAutoFit/>
          </a:bodyPr>
          <a:lstStyle/>
          <a:p>
            <a:pPr algn="l">
              <a:defRPr sz="1800" b="0">
                <a:solidFill>
                  <a:srgbClr val="2D2D2D"/>
                </a:solidFill>
                <a:latin typeface="Microsoft YaHei"/>
              </a:defRPr>
            </a:pPr>
            <a:r>
              <a:t>2025年3月5日，习近平总书记参加十四届全国人大四次会议江苏代表团审议并发表重要讲话。</a:t>
            </a:r>
          </a:p>
        </p:txBody>
      </p:sp>
      <p:sp>
        <p:nvSpPr>
          <p:cNvPr id="11" name="Rectangle 10"/>
          <p:cNvSpPr/>
          <p:nvPr/>
        </p:nvSpPr>
        <p:spPr>
          <a:xfrm>
            <a:off x="1097280" y="2504440"/>
            <a:ext cx="50800" cy="64008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63040" y="2377440"/>
            <a:ext cx="9601200" cy="822960"/>
          </a:xfrm>
          <a:prstGeom prst="rect">
            <a:avLst/>
          </a:prstGeom>
          <a:noFill/>
        </p:spPr>
        <p:txBody>
          <a:bodyPr wrap="square">
            <a:spAutoFit/>
          </a:bodyPr>
          <a:lstStyle/>
          <a:p>
            <a:pPr algn="l">
              <a:defRPr sz="1800" b="0">
                <a:solidFill>
                  <a:srgbClr val="2D2D2D"/>
                </a:solidFill>
                <a:latin typeface="Microsoft YaHei"/>
              </a:defRPr>
            </a:pPr>
            <a:r>
              <a:t>立足国家发展全局，明确提出经济大省要扛起责任、勇挑大梁。</a:t>
            </a:r>
          </a:p>
        </p:txBody>
      </p:sp>
      <p:sp>
        <p:nvSpPr>
          <p:cNvPr id="13" name="Rectangle 12"/>
          <p:cNvSpPr/>
          <p:nvPr/>
        </p:nvSpPr>
        <p:spPr>
          <a:xfrm>
            <a:off x="1097280" y="3601720"/>
            <a:ext cx="50800" cy="64008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63040" y="3474720"/>
            <a:ext cx="9601200" cy="822960"/>
          </a:xfrm>
          <a:prstGeom prst="rect">
            <a:avLst/>
          </a:prstGeom>
          <a:noFill/>
        </p:spPr>
        <p:txBody>
          <a:bodyPr wrap="square">
            <a:spAutoFit/>
          </a:bodyPr>
          <a:lstStyle/>
          <a:p>
            <a:pPr algn="l">
              <a:defRPr sz="1800" b="0">
                <a:solidFill>
                  <a:srgbClr val="2D2D2D"/>
                </a:solidFill>
                <a:latin typeface="Microsoft YaHei"/>
              </a:defRPr>
            </a:pPr>
            <a:r>
              <a:t>围绕新质生产力、改革开放、民生保障、党的建设作出部署指引，为各地推进高质量发展指明方向、提供遵循。</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381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807200"/>
            <a:ext cx="12191695" cy="5080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7160"/>
            <a:ext cx="8229600" cy="640080"/>
          </a:xfrm>
          <a:prstGeom prst="rect">
            <a:avLst/>
          </a:prstGeom>
          <a:noFill/>
        </p:spPr>
        <p:txBody>
          <a:bodyPr wrap="square">
            <a:spAutoFit/>
          </a:bodyPr>
          <a:lstStyle/>
          <a:p>
            <a:pPr algn="l">
              <a:defRPr sz="3000" b="1">
                <a:solidFill>
                  <a:srgbClr val="FFFFFF"/>
                </a:solidFill>
                <a:latin typeface="Microsoft YaHei"/>
              </a:defRPr>
            </a:pPr>
            <a:r>
              <a:t>二、总体精神主旨</a:t>
            </a:r>
          </a:p>
        </p:txBody>
      </p:sp>
      <p:sp>
        <p:nvSpPr>
          <p:cNvPr id="7" name="TextBox 6"/>
          <p:cNvSpPr txBox="1"/>
          <p:nvPr/>
        </p:nvSpPr>
        <p:spPr>
          <a:xfrm>
            <a:off x="10789920" y="182880"/>
            <a:ext cx="1097280" cy="548640"/>
          </a:xfrm>
          <a:prstGeom prst="rect">
            <a:avLst/>
          </a:prstGeom>
          <a:noFill/>
        </p:spPr>
        <p:txBody>
          <a:bodyPr wrap="square">
            <a:spAutoFit/>
          </a:bodyPr>
          <a:lstStyle/>
          <a:p>
            <a:pPr algn="ctr">
              <a:defRPr sz="1400" b="1">
                <a:solidFill>
                  <a:srgbClr val="F5DEB3"/>
                </a:solidFill>
                <a:latin typeface="Microsoft YaHei"/>
              </a:defRPr>
            </a:pPr>
            <a:r>
              <a:t>12</a:t>
            </a:r>
          </a:p>
        </p:txBody>
      </p:sp>
      <p:sp>
        <p:nvSpPr>
          <p:cNvPr id="8" name="TextBox 7"/>
          <p:cNvSpPr txBox="1"/>
          <p:nvPr/>
        </p:nvSpPr>
        <p:spPr>
          <a:xfrm>
            <a:off x="7772400" y="228600"/>
            <a:ext cx="2743200" cy="457200"/>
          </a:xfrm>
          <a:prstGeom prst="rect">
            <a:avLst/>
          </a:prstGeom>
          <a:noFill/>
        </p:spPr>
        <p:txBody>
          <a:bodyPr wrap="square">
            <a:spAutoFit/>
          </a:bodyPr>
          <a:lstStyle/>
          <a:p>
            <a:pPr algn="r">
              <a:defRPr sz="1100" b="0">
                <a:solidFill>
                  <a:srgbClr val="F5DEB3"/>
                </a:solidFill>
                <a:latin typeface="Microsoft YaHei"/>
              </a:defRPr>
            </a:pPr>
            <a:r>
              <a:t>方案二</a:t>
            </a:r>
          </a:p>
        </p:txBody>
      </p:sp>
      <p:sp>
        <p:nvSpPr>
          <p:cNvPr id="9" name="Rectangle 8"/>
          <p:cNvSpPr/>
          <p:nvPr/>
        </p:nvSpPr>
        <p:spPr>
          <a:xfrm>
            <a:off x="6080760" y="1188720"/>
            <a:ext cx="25400" cy="5029200"/>
          </a:xfrm>
          <a:prstGeom prst="rect">
            <a:avLst/>
          </a:prstGeom>
          <a:solidFill>
            <a:srgbClr val="E0D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143000"/>
            <a:ext cx="4572000" cy="457200"/>
          </a:xfrm>
          <a:prstGeom prst="rect">
            <a:avLst/>
          </a:prstGeom>
          <a:noFill/>
        </p:spPr>
        <p:txBody>
          <a:bodyPr wrap="square">
            <a:spAutoFit/>
          </a:bodyPr>
          <a:lstStyle/>
          <a:p>
            <a:pPr algn="l">
              <a:defRPr sz="2000" b="1">
                <a:solidFill>
                  <a:srgbClr val="C41E3A"/>
                </a:solidFill>
                <a:latin typeface="Microsoft YaHei"/>
              </a:defRPr>
            </a:pPr>
            <a:r>
              <a:t>▶  要点解读</a:t>
            </a:r>
          </a:p>
        </p:txBody>
      </p:sp>
      <p:sp>
        <p:nvSpPr>
          <p:cNvPr id="11" name="TextBox 10"/>
          <p:cNvSpPr txBox="1"/>
          <p:nvPr/>
        </p:nvSpPr>
        <p:spPr>
          <a:xfrm>
            <a:off x="914400" y="1645920"/>
            <a:ext cx="4846320" cy="731520"/>
          </a:xfrm>
          <a:prstGeom prst="rect">
            <a:avLst/>
          </a:prstGeom>
          <a:noFill/>
        </p:spPr>
        <p:txBody>
          <a:bodyPr wrap="square">
            <a:spAutoFit/>
          </a:bodyPr>
          <a:lstStyle/>
          <a:p>
            <a:pPr algn="l">
              <a:spcAft>
                <a:spcPts val="400"/>
              </a:spcAft>
            </a:pPr>
            <a:r>
              <a:rPr sz="1600" b="1">
                <a:solidFill>
                  <a:srgbClr val="E8C35D"/>
                </a:solidFill>
                <a:latin typeface="Microsoft YaHei"/>
              </a:rPr>
              <a:t>1. </a:t>
            </a:r>
            <a:r>
              <a:rPr sz="1600" b="0">
                <a:solidFill>
                  <a:srgbClr val="2D2D2D"/>
                </a:solidFill>
                <a:latin typeface="Microsoft YaHei"/>
              </a:rPr>
              <a:t>完整、准确、全面贯彻新发展理念，服务构建新发展格局。</a:t>
            </a:r>
          </a:p>
        </p:txBody>
      </p:sp>
      <p:sp>
        <p:nvSpPr>
          <p:cNvPr id="12" name="TextBox 11"/>
          <p:cNvSpPr txBox="1"/>
          <p:nvPr/>
        </p:nvSpPr>
        <p:spPr>
          <a:xfrm>
            <a:off x="914400" y="2468880"/>
            <a:ext cx="4846320" cy="731520"/>
          </a:xfrm>
          <a:prstGeom prst="rect">
            <a:avLst/>
          </a:prstGeom>
          <a:noFill/>
        </p:spPr>
        <p:txBody>
          <a:bodyPr wrap="square">
            <a:spAutoFit/>
          </a:bodyPr>
          <a:lstStyle/>
          <a:p>
            <a:pPr algn="l">
              <a:spcAft>
                <a:spcPts val="400"/>
              </a:spcAft>
            </a:pPr>
            <a:r>
              <a:rPr sz="1600" b="1">
                <a:solidFill>
                  <a:srgbClr val="E8C35D"/>
                </a:solidFill>
                <a:latin typeface="Microsoft YaHei"/>
              </a:rPr>
              <a:t>2. </a:t>
            </a:r>
            <a:r>
              <a:rPr sz="1600" b="0">
                <a:solidFill>
                  <a:srgbClr val="2D2D2D"/>
                </a:solidFill>
                <a:latin typeface="Microsoft YaHei"/>
              </a:rPr>
              <a:t>牢牢把握高质量发展首要任务，做强实体经济。</a:t>
            </a:r>
          </a:p>
        </p:txBody>
      </p:sp>
      <p:sp>
        <p:nvSpPr>
          <p:cNvPr id="13" name="TextBox 12"/>
          <p:cNvSpPr txBox="1"/>
          <p:nvPr/>
        </p:nvSpPr>
        <p:spPr>
          <a:xfrm>
            <a:off x="914400" y="3291840"/>
            <a:ext cx="4846320" cy="731520"/>
          </a:xfrm>
          <a:prstGeom prst="rect">
            <a:avLst/>
          </a:prstGeom>
          <a:noFill/>
        </p:spPr>
        <p:txBody>
          <a:bodyPr wrap="square">
            <a:spAutoFit/>
          </a:bodyPr>
          <a:lstStyle/>
          <a:p>
            <a:pPr algn="l">
              <a:spcAft>
                <a:spcPts val="400"/>
              </a:spcAft>
            </a:pPr>
            <a:r>
              <a:rPr sz="1600" b="1">
                <a:solidFill>
                  <a:srgbClr val="E8C35D"/>
                </a:solidFill>
                <a:latin typeface="Microsoft YaHei"/>
              </a:rPr>
              <a:t>3. </a:t>
            </a:r>
            <a:r>
              <a:rPr sz="1600" b="0">
                <a:solidFill>
                  <a:srgbClr val="2D2D2D"/>
                </a:solidFill>
                <a:latin typeface="Microsoft YaHei"/>
              </a:rPr>
              <a:t>大力发展新质生产力，深化改革扩大开放。</a:t>
            </a:r>
          </a:p>
        </p:txBody>
      </p:sp>
      <p:sp>
        <p:nvSpPr>
          <p:cNvPr id="14" name="TextBox 13"/>
          <p:cNvSpPr txBox="1"/>
          <p:nvPr/>
        </p:nvSpPr>
        <p:spPr>
          <a:xfrm>
            <a:off x="914400" y="4114800"/>
            <a:ext cx="4846320" cy="731520"/>
          </a:xfrm>
          <a:prstGeom prst="rect">
            <a:avLst/>
          </a:prstGeom>
          <a:noFill/>
        </p:spPr>
        <p:txBody>
          <a:bodyPr wrap="square">
            <a:spAutoFit/>
          </a:bodyPr>
          <a:lstStyle/>
          <a:p>
            <a:pPr algn="l">
              <a:spcAft>
                <a:spcPts val="400"/>
              </a:spcAft>
            </a:pPr>
            <a:r>
              <a:rPr sz="1600" b="1">
                <a:solidFill>
                  <a:srgbClr val="E8C35D"/>
                </a:solidFill>
                <a:latin typeface="Microsoft YaHei"/>
              </a:rPr>
              <a:t>4. </a:t>
            </a:r>
            <a:r>
              <a:rPr sz="1600" b="0">
                <a:solidFill>
                  <a:srgbClr val="2D2D2D"/>
                </a:solidFill>
                <a:latin typeface="Microsoft YaHei"/>
              </a:rPr>
              <a:t>统筹发展和安全，持续增进民生福祉。</a:t>
            </a:r>
          </a:p>
        </p:txBody>
      </p:sp>
      <p:sp>
        <p:nvSpPr>
          <p:cNvPr id="15" name="TextBox 14"/>
          <p:cNvSpPr txBox="1"/>
          <p:nvPr/>
        </p:nvSpPr>
        <p:spPr>
          <a:xfrm>
            <a:off x="6400800" y="1143000"/>
            <a:ext cx="5029200" cy="457200"/>
          </a:xfrm>
          <a:prstGeom prst="rect">
            <a:avLst/>
          </a:prstGeom>
          <a:noFill/>
        </p:spPr>
        <p:txBody>
          <a:bodyPr wrap="square">
            <a:spAutoFit/>
          </a:bodyPr>
          <a:lstStyle/>
          <a:p>
            <a:pPr algn="l">
              <a:defRPr sz="2000" b="1">
                <a:solidFill>
                  <a:srgbClr val="C41E3A"/>
                </a:solidFill>
                <a:latin typeface="Microsoft YaHei"/>
              </a:defRPr>
            </a:pPr>
            <a:r>
              <a:t>▶  实践要求</a:t>
            </a:r>
          </a:p>
        </p:txBody>
      </p:sp>
      <p:sp>
        <p:nvSpPr>
          <p:cNvPr id="16" name="TextBox 15"/>
          <p:cNvSpPr txBox="1"/>
          <p:nvPr/>
        </p:nvSpPr>
        <p:spPr>
          <a:xfrm>
            <a:off x="6583680" y="1645920"/>
            <a:ext cx="4846320" cy="731520"/>
          </a:xfrm>
          <a:prstGeom prst="rect">
            <a:avLst/>
          </a:prstGeom>
          <a:noFill/>
        </p:spPr>
        <p:txBody>
          <a:bodyPr wrap="square">
            <a:spAutoFit/>
          </a:bodyPr>
          <a:lstStyle/>
          <a:p>
            <a:pPr algn="l">
              <a:spcAft>
                <a:spcPts val="400"/>
              </a:spcAft>
            </a:pPr>
            <a:r>
              <a:rPr sz="1600" b="1">
                <a:solidFill>
                  <a:srgbClr val="E8C35D"/>
                </a:solidFill>
                <a:latin typeface="Microsoft YaHei"/>
              </a:rPr>
              <a:t>1. </a:t>
            </a:r>
            <a:r>
              <a:rPr sz="1600" b="0">
                <a:solidFill>
                  <a:srgbClr val="2D2D2D"/>
                </a:solidFill>
                <a:latin typeface="Microsoft YaHei"/>
              </a:rPr>
              <a:t>以创新驱动为核心，加快产业转型升级。</a:t>
            </a:r>
          </a:p>
        </p:txBody>
      </p:sp>
      <p:sp>
        <p:nvSpPr>
          <p:cNvPr id="17" name="TextBox 16"/>
          <p:cNvSpPr txBox="1"/>
          <p:nvPr/>
        </p:nvSpPr>
        <p:spPr>
          <a:xfrm>
            <a:off x="6583680" y="2468880"/>
            <a:ext cx="4846320" cy="731520"/>
          </a:xfrm>
          <a:prstGeom prst="rect">
            <a:avLst/>
          </a:prstGeom>
          <a:noFill/>
        </p:spPr>
        <p:txBody>
          <a:bodyPr wrap="square">
            <a:spAutoFit/>
          </a:bodyPr>
          <a:lstStyle/>
          <a:p>
            <a:pPr algn="l">
              <a:spcAft>
                <a:spcPts val="400"/>
              </a:spcAft>
            </a:pPr>
            <a:r>
              <a:rPr sz="1600" b="1">
                <a:solidFill>
                  <a:srgbClr val="E8C35D"/>
                </a:solidFill>
                <a:latin typeface="Microsoft YaHei"/>
              </a:rPr>
              <a:t>2. </a:t>
            </a:r>
            <a:r>
              <a:rPr sz="1600" b="0">
                <a:solidFill>
                  <a:srgbClr val="2D2D2D"/>
                </a:solidFill>
                <a:latin typeface="Microsoft YaHei"/>
              </a:rPr>
              <a:t>优化营商环境，激发市场主体活力。</a:t>
            </a:r>
          </a:p>
        </p:txBody>
      </p:sp>
      <p:sp>
        <p:nvSpPr>
          <p:cNvPr id="18" name="TextBox 17"/>
          <p:cNvSpPr txBox="1"/>
          <p:nvPr/>
        </p:nvSpPr>
        <p:spPr>
          <a:xfrm>
            <a:off x="6583680" y="3291840"/>
            <a:ext cx="4846320" cy="731520"/>
          </a:xfrm>
          <a:prstGeom prst="rect">
            <a:avLst/>
          </a:prstGeom>
          <a:noFill/>
        </p:spPr>
        <p:txBody>
          <a:bodyPr wrap="square">
            <a:spAutoFit/>
          </a:bodyPr>
          <a:lstStyle/>
          <a:p>
            <a:pPr algn="l">
              <a:spcAft>
                <a:spcPts val="400"/>
              </a:spcAft>
            </a:pPr>
            <a:r>
              <a:rPr sz="1600" b="1">
                <a:solidFill>
                  <a:srgbClr val="E8C35D"/>
                </a:solidFill>
                <a:latin typeface="Microsoft YaHei"/>
              </a:rPr>
              <a:t>3. </a:t>
            </a:r>
            <a:r>
              <a:rPr sz="1600" b="0">
                <a:solidFill>
                  <a:srgbClr val="2D2D2D"/>
                </a:solidFill>
                <a:latin typeface="Microsoft YaHei"/>
              </a:rPr>
              <a:t>以高质量党建引领保障高质量发展。</a:t>
            </a:r>
          </a:p>
        </p:txBody>
      </p:sp>
      <p:sp>
        <p:nvSpPr>
          <p:cNvPr id="19" name="TextBox 18"/>
          <p:cNvSpPr txBox="1"/>
          <p:nvPr/>
        </p:nvSpPr>
        <p:spPr>
          <a:xfrm>
            <a:off x="6583680" y="4114800"/>
            <a:ext cx="4846320" cy="731520"/>
          </a:xfrm>
          <a:prstGeom prst="rect">
            <a:avLst/>
          </a:prstGeom>
          <a:noFill/>
        </p:spPr>
        <p:txBody>
          <a:bodyPr wrap="square">
            <a:spAutoFit/>
          </a:bodyPr>
          <a:lstStyle/>
          <a:p>
            <a:pPr algn="l">
              <a:spcAft>
                <a:spcPts val="400"/>
              </a:spcAft>
            </a:pPr>
            <a:r>
              <a:rPr sz="1600" b="1">
                <a:solidFill>
                  <a:srgbClr val="E8C35D"/>
                </a:solidFill>
                <a:latin typeface="Microsoft YaHei"/>
              </a:rPr>
              <a:t>4. </a:t>
            </a:r>
            <a:r>
              <a:rPr sz="1600" b="0">
                <a:solidFill>
                  <a:srgbClr val="2D2D2D"/>
                </a:solidFill>
                <a:latin typeface="Microsoft YaHei"/>
              </a:rPr>
              <a:t>坚持把人民群众对美好生活的向往作为奋斗目标。</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381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
            <a:ext cx="8229600" cy="640080"/>
          </a:xfrm>
          <a:prstGeom prst="rect">
            <a:avLst/>
          </a:prstGeom>
          <a:noFill/>
        </p:spPr>
        <p:txBody>
          <a:bodyPr wrap="square">
            <a:spAutoFit/>
          </a:bodyPr>
          <a:lstStyle/>
          <a:p>
            <a:pPr algn="l">
              <a:defRPr sz="3000" b="1">
                <a:solidFill>
                  <a:srgbClr val="FFFFFF"/>
                </a:solidFill>
                <a:latin typeface="Microsoft YaHei"/>
              </a:defRPr>
            </a:pPr>
            <a:r>
              <a:t>三、核心要点：发展新质生产力</a:t>
            </a:r>
          </a:p>
        </p:txBody>
      </p:sp>
      <p:sp>
        <p:nvSpPr>
          <p:cNvPr id="6" name="TextBox 5"/>
          <p:cNvSpPr txBox="1"/>
          <p:nvPr/>
        </p:nvSpPr>
        <p:spPr>
          <a:xfrm>
            <a:off x="10789920" y="182880"/>
            <a:ext cx="1097280" cy="548640"/>
          </a:xfrm>
          <a:prstGeom prst="rect">
            <a:avLst/>
          </a:prstGeom>
          <a:noFill/>
        </p:spPr>
        <p:txBody>
          <a:bodyPr wrap="square">
            <a:spAutoFit/>
          </a:bodyPr>
          <a:lstStyle/>
          <a:p>
            <a:pPr algn="ctr">
              <a:defRPr sz="1400" b="1">
                <a:solidFill>
                  <a:srgbClr val="F5DEB3"/>
                </a:solidFill>
                <a:latin typeface="Microsoft YaHei"/>
              </a:defRPr>
            </a:pPr>
            <a:r>
              <a:t>13</a:t>
            </a:r>
          </a:p>
        </p:txBody>
      </p:sp>
      <p:sp>
        <p:nvSpPr>
          <p:cNvPr id="7" name="TextBox 6"/>
          <p:cNvSpPr txBox="1"/>
          <p:nvPr/>
        </p:nvSpPr>
        <p:spPr>
          <a:xfrm>
            <a:off x="7772400" y="228600"/>
            <a:ext cx="2743200" cy="457200"/>
          </a:xfrm>
          <a:prstGeom prst="rect">
            <a:avLst/>
          </a:prstGeom>
          <a:noFill/>
        </p:spPr>
        <p:txBody>
          <a:bodyPr wrap="square">
            <a:spAutoFit/>
          </a:bodyPr>
          <a:lstStyle/>
          <a:p>
            <a:pPr algn="r">
              <a:defRPr sz="1100" b="0">
                <a:solidFill>
                  <a:srgbClr val="F5DEB3"/>
                </a:solidFill>
                <a:latin typeface="Microsoft YaHei"/>
              </a:defRPr>
            </a:pPr>
            <a:r>
              <a:t>方案二</a:t>
            </a:r>
          </a:p>
        </p:txBody>
      </p:sp>
      <p:sp>
        <p:nvSpPr>
          <p:cNvPr id="8" name="Rectangle 7"/>
          <p:cNvSpPr/>
          <p:nvPr/>
        </p:nvSpPr>
        <p:spPr>
          <a:xfrm>
            <a:off x="0" y="6807200"/>
            <a:ext cx="12191695" cy="5080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188720"/>
            <a:ext cx="10332720" cy="822960"/>
          </a:xfrm>
          <a:prstGeom prst="roundRect">
            <a:avLst/>
          </a:prstGeom>
          <a:solidFill>
            <a:srgbClr val="FFFEF8"/>
          </a:solidFill>
          <a:ln w="19050">
            <a:solidFill>
              <a:srgbClr val="E0D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1188720"/>
            <a:ext cx="63500" cy="82296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88720" y="1315720"/>
            <a:ext cx="365760" cy="36576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Microsoft YaHei"/>
              </a:defRPr>
            </a:pPr>
            <a:r>
              <a:t>1</a:t>
            </a:r>
          </a:p>
        </p:txBody>
      </p:sp>
      <p:sp>
        <p:nvSpPr>
          <p:cNvPr id="12" name="TextBox 11"/>
          <p:cNvSpPr txBox="1"/>
          <p:nvPr/>
        </p:nvSpPr>
        <p:spPr>
          <a:xfrm>
            <a:off x="1737360" y="1252220"/>
            <a:ext cx="9144000" cy="731520"/>
          </a:xfrm>
          <a:prstGeom prst="rect">
            <a:avLst/>
          </a:prstGeom>
          <a:noFill/>
        </p:spPr>
        <p:txBody>
          <a:bodyPr wrap="square">
            <a:spAutoFit/>
          </a:bodyPr>
          <a:lstStyle/>
          <a:p>
            <a:pPr algn="l">
              <a:spcAft>
                <a:spcPts val="400"/>
              </a:spcAft>
            </a:pPr>
            <a:r>
              <a:rPr sz="1700" b="1">
                <a:solidFill>
                  <a:srgbClr val="C41E3A"/>
                </a:solidFill>
                <a:latin typeface="Microsoft YaHei"/>
              </a:rPr>
              <a:t>聚力科技创新</a:t>
            </a:r>
            <a:r>
              <a:rPr sz="1500" b="0">
                <a:solidFill>
                  <a:srgbClr val="4A4A4A"/>
                </a:solidFill>
                <a:latin typeface="Microsoft YaHei"/>
              </a:rPr>
              <a:t>     ——  攻坚关键核心技术，实现高水平科技自立自强。</a:t>
            </a:r>
          </a:p>
        </p:txBody>
      </p:sp>
      <p:sp>
        <p:nvSpPr>
          <p:cNvPr id="13" name="Rounded Rectangle 12"/>
          <p:cNvSpPr/>
          <p:nvPr/>
        </p:nvSpPr>
        <p:spPr>
          <a:xfrm>
            <a:off x="914400" y="2331720"/>
            <a:ext cx="10332720" cy="822960"/>
          </a:xfrm>
          <a:prstGeom prst="roundRect">
            <a:avLst/>
          </a:prstGeom>
          <a:solidFill>
            <a:srgbClr val="FFFEF8"/>
          </a:solidFill>
          <a:ln w="19050">
            <a:solidFill>
              <a:srgbClr val="E0D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14400" y="2331720"/>
            <a:ext cx="63500" cy="82296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88720" y="2458720"/>
            <a:ext cx="365760" cy="36576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Microsoft YaHei"/>
              </a:defRPr>
            </a:pPr>
            <a:r>
              <a:t>2</a:t>
            </a:r>
          </a:p>
        </p:txBody>
      </p:sp>
      <p:sp>
        <p:nvSpPr>
          <p:cNvPr id="16" name="TextBox 15"/>
          <p:cNvSpPr txBox="1"/>
          <p:nvPr/>
        </p:nvSpPr>
        <p:spPr>
          <a:xfrm>
            <a:off x="1737360" y="2395220"/>
            <a:ext cx="9144000" cy="731520"/>
          </a:xfrm>
          <a:prstGeom prst="rect">
            <a:avLst/>
          </a:prstGeom>
          <a:noFill/>
        </p:spPr>
        <p:txBody>
          <a:bodyPr wrap="square">
            <a:spAutoFit/>
          </a:bodyPr>
          <a:lstStyle/>
          <a:p>
            <a:pPr algn="l">
              <a:spcAft>
                <a:spcPts val="400"/>
              </a:spcAft>
            </a:pPr>
            <a:r>
              <a:rPr sz="1700" b="1">
                <a:solidFill>
                  <a:srgbClr val="C41E3A"/>
                </a:solidFill>
                <a:latin typeface="Microsoft YaHei"/>
              </a:rPr>
              <a:t>推动深度融合</a:t>
            </a:r>
            <a:r>
              <a:rPr sz="1500" b="0">
                <a:solidFill>
                  <a:srgbClr val="4A4A4A"/>
                </a:solidFill>
                <a:latin typeface="Microsoft YaHei"/>
              </a:rPr>
              <a:t>     ——  科创、产业、人才深度融合，形成发展合力。</a:t>
            </a:r>
          </a:p>
        </p:txBody>
      </p:sp>
      <p:sp>
        <p:nvSpPr>
          <p:cNvPr id="17" name="Rounded Rectangle 16"/>
          <p:cNvSpPr/>
          <p:nvPr/>
        </p:nvSpPr>
        <p:spPr>
          <a:xfrm>
            <a:off x="914400" y="3474720"/>
            <a:ext cx="10332720" cy="822960"/>
          </a:xfrm>
          <a:prstGeom prst="roundRect">
            <a:avLst/>
          </a:prstGeom>
          <a:solidFill>
            <a:srgbClr val="FFFEF8"/>
          </a:solidFill>
          <a:ln w="19050">
            <a:solidFill>
              <a:srgbClr val="E0D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14400" y="3474720"/>
            <a:ext cx="63500" cy="82296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88720" y="3601720"/>
            <a:ext cx="365760" cy="36576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Microsoft YaHei"/>
              </a:defRPr>
            </a:pPr>
            <a:r>
              <a:t>3</a:t>
            </a:r>
          </a:p>
        </p:txBody>
      </p:sp>
      <p:sp>
        <p:nvSpPr>
          <p:cNvPr id="20" name="TextBox 19"/>
          <p:cNvSpPr txBox="1"/>
          <p:nvPr/>
        </p:nvSpPr>
        <p:spPr>
          <a:xfrm>
            <a:off x="1737360" y="3538220"/>
            <a:ext cx="9144000" cy="731520"/>
          </a:xfrm>
          <a:prstGeom prst="rect">
            <a:avLst/>
          </a:prstGeom>
          <a:noFill/>
        </p:spPr>
        <p:txBody>
          <a:bodyPr wrap="square">
            <a:spAutoFit/>
          </a:bodyPr>
          <a:lstStyle/>
          <a:p>
            <a:pPr algn="l">
              <a:spcAft>
                <a:spcPts val="400"/>
              </a:spcAft>
            </a:pPr>
            <a:r>
              <a:rPr sz="1700" b="1">
                <a:solidFill>
                  <a:srgbClr val="C41E3A"/>
                </a:solidFill>
                <a:latin typeface="Microsoft YaHei"/>
              </a:rPr>
              <a:t>做强实体经济</a:t>
            </a:r>
            <a:r>
              <a:rPr sz="1500" b="0">
                <a:solidFill>
                  <a:srgbClr val="4A4A4A"/>
                </a:solidFill>
                <a:latin typeface="Microsoft YaHei"/>
              </a:rPr>
              <a:t>     ——  推进产业转型升级，夯实经济根基。</a:t>
            </a:r>
          </a:p>
        </p:txBody>
      </p:sp>
      <p:sp>
        <p:nvSpPr>
          <p:cNvPr id="21" name="Rounded Rectangle 20"/>
          <p:cNvSpPr/>
          <p:nvPr/>
        </p:nvSpPr>
        <p:spPr>
          <a:xfrm>
            <a:off x="914400" y="4617720"/>
            <a:ext cx="10332720" cy="822960"/>
          </a:xfrm>
          <a:prstGeom prst="roundRect">
            <a:avLst/>
          </a:prstGeom>
          <a:solidFill>
            <a:srgbClr val="FFFEF8"/>
          </a:solidFill>
          <a:ln w="19050">
            <a:solidFill>
              <a:srgbClr val="E0D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 y="4617720"/>
            <a:ext cx="63500" cy="82296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188720" y="4744720"/>
            <a:ext cx="365760" cy="36576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Microsoft YaHei"/>
              </a:defRPr>
            </a:pPr>
            <a:r>
              <a:t>4</a:t>
            </a:r>
          </a:p>
        </p:txBody>
      </p:sp>
      <p:sp>
        <p:nvSpPr>
          <p:cNvPr id="24" name="TextBox 23"/>
          <p:cNvSpPr txBox="1"/>
          <p:nvPr/>
        </p:nvSpPr>
        <p:spPr>
          <a:xfrm>
            <a:off x="1737360" y="4681220"/>
            <a:ext cx="9144000" cy="731520"/>
          </a:xfrm>
          <a:prstGeom prst="rect">
            <a:avLst/>
          </a:prstGeom>
          <a:noFill/>
        </p:spPr>
        <p:txBody>
          <a:bodyPr wrap="square">
            <a:spAutoFit/>
          </a:bodyPr>
          <a:lstStyle/>
          <a:p>
            <a:pPr algn="l">
              <a:spcAft>
                <a:spcPts val="400"/>
              </a:spcAft>
            </a:pPr>
            <a:r>
              <a:rPr sz="1700" b="1">
                <a:solidFill>
                  <a:srgbClr val="C41E3A"/>
                </a:solidFill>
                <a:latin typeface="Microsoft YaHei"/>
              </a:rPr>
              <a:t>培育新兴产业</a:t>
            </a:r>
            <a:r>
              <a:rPr sz="1500" b="0">
                <a:solidFill>
                  <a:srgbClr val="4A4A4A"/>
                </a:solidFill>
                <a:latin typeface="Microsoft YaHei"/>
              </a:rPr>
              <a:t>     ——  改造传统产业，夯实发展根基。</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381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
            <a:ext cx="8229600" cy="640080"/>
          </a:xfrm>
          <a:prstGeom prst="rect">
            <a:avLst/>
          </a:prstGeom>
          <a:noFill/>
        </p:spPr>
        <p:txBody>
          <a:bodyPr wrap="square">
            <a:spAutoFit/>
          </a:bodyPr>
          <a:lstStyle/>
          <a:p>
            <a:pPr algn="l">
              <a:defRPr sz="3000" b="1">
                <a:solidFill>
                  <a:srgbClr val="FFFFFF"/>
                </a:solidFill>
                <a:latin typeface="Microsoft YaHei"/>
              </a:defRPr>
            </a:pPr>
            <a:r>
              <a:t>四、核心要点：深化改革扩大开放</a:t>
            </a:r>
          </a:p>
        </p:txBody>
      </p:sp>
      <p:sp>
        <p:nvSpPr>
          <p:cNvPr id="6" name="TextBox 5"/>
          <p:cNvSpPr txBox="1"/>
          <p:nvPr/>
        </p:nvSpPr>
        <p:spPr>
          <a:xfrm>
            <a:off x="10789920" y="182880"/>
            <a:ext cx="1097280" cy="548640"/>
          </a:xfrm>
          <a:prstGeom prst="rect">
            <a:avLst/>
          </a:prstGeom>
          <a:noFill/>
        </p:spPr>
        <p:txBody>
          <a:bodyPr wrap="square">
            <a:spAutoFit/>
          </a:bodyPr>
          <a:lstStyle/>
          <a:p>
            <a:pPr algn="ctr">
              <a:defRPr sz="1400" b="1">
                <a:solidFill>
                  <a:srgbClr val="F5DEB3"/>
                </a:solidFill>
                <a:latin typeface="Microsoft YaHei"/>
              </a:defRPr>
            </a:pPr>
            <a:r>
              <a:t>14</a:t>
            </a:r>
          </a:p>
        </p:txBody>
      </p:sp>
      <p:sp>
        <p:nvSpPr>
          <p:cNvPr id="7" name="TextBox 6"/>
          <p:cNvSpPr txBox="1"/>
          <p:nvPr/>
        </p:nvSpPr>
        <p:spPr>
          <a:xfrm>
            <a:off x="7772400" y="228600"/>
            <a:ext cx="2743200" cy="457200"/>
          </a:xfrm>
          <a:prstGeom prst="rect">
            <a:avLst/>
          </a:prstGeom>
          <a:noFill/>
        </p:spPr>
        <p:txBody>
          <a:bodyPr wrap="square">
            <a:spAutoFit/>
          </a:bodyPr>
          <a:lstStyle/>
          <a:p>
            <a:pPr algn="r">
              <a:defRPr sz="1100" b="0">
                <a:solidFill>
                  <a:srgbClr val="F5DEB3"/>
                </a:solidFill>
                <a:latin typeface="Microsoft YaHei"/>
              </a:defRPr>
            </a:pPr>
            <a:r>
              <a:t>方案二</a:t>
            </a:r>
          </a:p>
        </p:txBody>
      </p:sp>
      <p:sp>
        <p:nvSpPr>
          <p:cNvPr id="8" name="Rectangle 7"/>
          <p:cNvSpPr/>
          <p:nvPr/>
        </p:nvSpPr>
        <p:spPr>
          <a:xfrm>
            <a:off x="0" y="6807200"/>
            <a:ext cx="12191695" cy="5080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188720"/>
            <a:ext cx="10332720" cy="822960"/>
          </a:xfrm>
          <a:prstGeom prst="roundRect">
            <a:avLst/>
          </a:prstGeom>
          <a:solidFill>
            <a:srgbClr val="FFFEF8"/>
          </a:solidFill>
          <a:ln w="19050">
            <a:solidFill>
              <a:srgbClr val="E0D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1188720"/>
            <a:ext cx="63500" cy="82296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88720" y="1315720"/>
            <a:ext cx="365760" cy="36576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Microsoft YaHei"/>
              </a:defRPr>
            </a:pPr>
            <a:r>
              <a:t>1</a:t>
            </a:r>
          </a:p>
        </p:txBody>
      </p:sp>
      <p:sp>
        <p:nvSpPr>
          <p:cNvPr id="12" name="TextBox 11"/>
          <p:cNvSpPr txBox="1"/>
          <p:nvPr/>
        </p:nvSpPr>
        <p:spPr>
          <a:xfrm>
            <a:off x="1737360" y="1252220"/>
            <a:ext cx="9144000" cy="731520"/>
          </a:xfrm>
          <a:prstGeom prst="rect">
            <a:avLst/>
          </a:prstGeom>
          <a:noFill/>
        </p:spPr>
        <p:txBody>
          <a:bodyPr wrap="square">
            <a:spAutoFit/>
          </a:bodyPr>
          <a:lstStyle/>
          <a:p>
            <a:pPr algn="l">
              <a:spcAft>
                <a:spcPts val="400"/>
              </a:spcAft>
            </a:pPr>
            <a:r>
              <a:rPr sz="1700" b="1">
                <a:solidFill>
                  <a:srgbClr val="C41E3A"/>
                </a:solidFill>
                <a:latin typeface="Microsoft YaHei"/>
              </a:rPr>
              <a:t>破除体制机制障碍</a:t>
            </a:r>
            <a:r>
              <a:rPr sz="1500" b="0">
                <a:solidFill>
                  <a:srgbClr val="4A4A4A"/>
                </a:solidFill>
                <a:latin typeface="Microsoft YaHei"/>
              </a:rPr>
              <a:t>     ——  持续破除体制机制堵点难点，激发内生动力。</a:t>
            </a:r>
          </a:p>
        </p:txBody>
      </p:sp>
      <p:sp>
        <p:nvSpPr>
          <p:cNvPr id="13" name="Rounded Rectangle 12"/>
          <p:cNvSpPr/>
          <p:nvPr/>
        </p:nvSpPr>
        <p:spPr>
          <a:xfrm>
            <a:off x="914400" y="2331720"/>
            <a:ext cx="10332720" cy="822960"/>
          </a:xfrm>
          <a:prstGeom prst="roundRect">
            <a:avLst/>
          </a:prstGeom>
          <a:solidFill>
            <a:srgbClr val="FFFEF8"/>
          </a:solidFill>
          <a:ln w="19050">
            <a:solidFill>
              <a:srgbClr val="E0D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14400" y="2331720"/>
            <a:ext cx="63500" cy="82296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88720" y="2458720"/>
            <a:ext cx="365760" cy="36576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Microsoft YaHei"/>
              </a:defRPr>
            </a:pPr>
            <a:r>
              <a:t>2</a:t>
            </a:r>
          </a:p>
        </p:txBody>
      </p:sp>
      <p:sp>
        <p:nvSpPr>
          <p:cNvPr id="16" name="TextBox 15"/>
          <p:cNvSpPr txBox="1"/>
          <p:nvPr/>
        </p:nvSpPr>
        <p:spPr>
          <a:xfrm>
            <a:off x="1737360" y="2395220"/>
            <a:ext cx="9144000" cy="731520"/>
          </a:xfrm>
          <a:prstGeom prst="rect">
            <a:avLst/>
          </a:prstGeom>
          <a:noFill/>
        </p:spPr>
        <p:txBody>
          <a:bodyPr wrap="square">
            <a:spAutoFit/>
          </a:bodyPr>
          <a:lstStyle/>
          <a:p>
            <a:pPr algn="l">
              <a:spcAft>
                <a:spcPts val="400"/>
              </a:spcAft>
            </a:pPr>
            <a:r>
              <a:rPr sz="1700" b="1">
                <a:solidFill>
                  <a:srgbClr val="C41E3A"/>
                </a:solidFill>
                <a:latin typeface="Microsoft YaHei"/>
              </a:rPr>
              <a:t>优化营商环境</a:t>
            </a:r>
            <a:r>
              <a:rPr sz="1500" b="0">
                <a:solidFill>
                  <a:srgbClr val="4A4A4A"/>
                </a:solidFill>
                <a:latin typeface="Microsoft YaHei"/>
              </a:rPr>
              <a:t>     ——  持续优化营商环境，激发市场活力。</a:t>
            </a:r>
          </a:p>
        </p:txBody>
      </p:sp>
      <p:sp>
        <p:nvSpPr>
          <p:cNvPr id="17" name="Rounded Rectangle 16"/>
          <p:cNvSpPr/>
          <p:nvPr/>
        </p:nvSpPr>
        <p:spPr>
          <a:xfrm>
            <a:off x="914400" y="3474720"/>
            <a:ext cx="10332720" cy="822960"/>
          </a:xfrm>
          <a:prstGeom prst="roundRect">
            <a:avLst/>
          </a:prstGeom>
          <a:solidFill>
            <a:srgbClr val="FFFEF8"/>
          </a:solidFill>
          <a:ln w="19050">
            <a:solidFill>
              <a:srgbClr val="E0D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14400" y="3474720"/>
            <a:ext cx="63500" cy="82296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88720" y="3601720"/>
            <a:ext cx="365760" cy="36576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Microsoft YaHei"/>
              </a:defRPr>
            </a:pPr>
            <a:r>
              <a:t>3</a:t>
            </a:r>
          </a:p>
        </p:txBody>
      </p:sp>
      <p:sp>
        <p:nvSpPr>
          <p:cNvPr id="20" name="TextBox 19"/>
          <p:cNvSpPr txBox="1"/>
          <p:nvPr/>
        </p:nvSpPr>
        <p:spPr>
          <a:xfrm>
            <a:off x="1737360" y="3538220"/>
            <a:ext cx="9144000" cy="731520"/>
          </a:xfrm>
          <a:prstGeom prst="rect">
            <a:avLst/>
          </a:prstGeom>
          <a:noFill/>
        </p:spPr>
        <p:txBody>
          <a:bodyPr wrap="square">
            <a:spAutoFit/>
          </a:bodyPr>
          <a:lstStyle/>
          <a:p>
            <a:pPr algn="l">
              <a:spcAft>
                <a:spcPts val="400"/>
              </a:spcAft>
            </a:pPr>
            <a:r>
              <a:rPr sz="1700" b="1">
                <a:solidFill>
                  <a:srgbClr val="C41E3A"/>
                </a:solidFill>
                <a:latin typeface="Microsoft YaHei"/>
              </a:rPr>
              <a:t>融入区域协同发展</a:t>
            </a:r>
            <a:r>
              <a:rPr sz="1500" b="0">
                <a:solidFill>
                  <a:srgbClr val="4A4A4A"/>
                </a:solidFill>
                <a:latin typeface="Microsoft YaHei"/>
              </a:rPr>
              <a:t>     ——  主动融入区域协同发展布局，拓展发展空间。</a:t>
            </a:r>
          </a:p>
        </p:txBody>
      </p:sp>
      <p:sp>
        <p:nvSpPr>
          <p:cNvPr id="21" name="Rounded Rectangle 20"/>
          <p:cNvSpPr/>
          <p:nvPr/>
        </p:nvSpPr>
        <p:spPr>
          <a:xfrm>
            <a:off x="914400" y="4617720"/>
            <a:ext cx="10332720" cy="822960"/>
          </a:xfrm>
          <a:prstGeom prst="roundRect">
            <a:avLst/>
          </a:prstGeom>
          <a:solidFill>
            <a:srgbClr val="FFFEF8"/>
          </a:solidFill>
          <a:ln w="19050">
            <a:solidFill>
              <a:srgbClr val="E0D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 y="4617720"/>
            <a:ext cx="63500" cy="82296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188720" y="4744720"/>
            <a:ext cx="365760" cy="36576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Microsoft YaHei"/>
              </a:defRPr>
            </a:pPr>
            <a:r>
              <a:t>4</a:t>
            </a:r>
          </a:p>
        </p:txBody>
      </p:sp>
      <p:sp>
        <p:nvSpPr>
          <p:cNvPr id="24" name="TextBox 23"/>
          <p:cNvSpPr txBox="1"/>
          <p:nvPr/>
        </p:nvSpPr>
        <p:spPr>
          <a:xfrm>
            <a:off x="1737360" y="4681220"/>
            <a:ext cx="9144000" cy="731520"/>
          </a:xfrm>
          <a:prstGeom prst="rect">
            <a:avLst/>
          </a:prstGeom>
          <a:noFill/>
        </p:spPr>
        <p:txBody>
          <a:bodyPr wrap="square">
            <a:spAutoFit/>
          </a:bodyPr>
          <a:lstStyle/>
          <a:p>
            <a:pPr algn="l">
              <a:spcAft>
                <a:spcPts val="400"/>
              </a:spcAft>
            </a:pPr>
            <a:r>
              <a:rPr sz="1700" b="1">
                <a:solidFill>
                  <a:srgbClr val="C41E3A"/>
                </a:solidFill>
                <a:latin typeface="Microsoft YaHei"/>
              </a:rPr>
              <a:t>高水平对外开放</a:t>
            </a:r>
            <a:r>
              <a:rPr sz="1500" b="0">
                <a:solidFill>
                  <a:srgbClr val="4A4A4A"/>
                </a:solidFill>
                <a:latin typeface="Microsoft YaHei"/>
              </a:rPr>
              <a:t>     ——  稳步推进高水平对外开放，集聚发展动能。</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381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
            <a:ext cx="8229600" cy="640080"/>
          </a:xfrm>
          <a:prstGeom prst="rect">
            <a:avLst/>
          </a:prstGeom>
          <a:noFill/>
        </p:spPr>
        <p:txBody>
          <a:bodyPr wrap="square">
            <a:spAutoFit/>
          </a:bodyPr>
          <a:lstStyle/>
          <a:p>
            <a:pPr algn="l">
              <a:defRPr sz="3000" b="1">
                <a:solidFill>
                  <a:srgbClr val="FFFFFF"/>
                </a:solidFill>
                <a:latin typeface="Microsoft YaHei"/>
              </a:defRPr>
            </a:pPr>
            <a:r>
              <a:t>五、民生保障与党的建设</a:t>
            </a:r>
          </a:p>
        </p:txBody>
      </p:sp>
      <p:sp>
        <p:nvSpPr>
          <p:cNvPr id="6" name="TextBox 5"/>
          <p:cNvSpPr txBox="1"/>
          <p:nvPr/>
        </p:nvSpPr>
        <p:spPr>
          <a:xfrm>
            <a:off x="10789920" y="182880"/>
            <a:ext cx="1097280" cy="548640"/>
          </a:xfrm>
          <a:prstGeom prst="rect">
            <a:avLst/>
          </a:prstGeom>
          <a:noFill/>
        </p:spPr>
        <p:txBody>
          <a:bodyPr wrap="square">
            <a:spAutoFit/>
          </a:bodyPr>
          <a:lstStyle/>
          <a:p>
            <a:pPr algn="ctr">
              <a:defRPr sz="1400" b="1">
                <a:solidFill>
                  <a:srgbClr val="F5DEB3"/>
                </a:solidFill>
                <a:latin typeface="Microsoft YaHei"/>
              </a:defRPr>
            </a:pPr>
            <a:r>
              <a:t>15</a:t>
            </a:r>
          </a:p>
        </p:txBody>
      </p:sp>
      <p:sp>
        <p:nvSpPr>
          <p:cNvPr id="7" name="TextBox 6"/>
          <p:cNvSpPr txBox="1"/>
          <p:nvPr/>
        </p:nvSpPr>
        <p:spPr>
          <a:xfrm>
            <a:off x="7772400" y="228600"/>
            <a:ext cx="2743200" cy="457200"/>
          </a:xfrm>
          <a:prstGeom prst="rect">
            <a:avLst/>
          </a:prstGeom>
          <a:noFill/>
        </p:spPr>
        <p:txBody>
          <a:bodyPr wrap="square">
            <a:spAutoFit/>
          </a:bodyPr>
          <a:lstStyle/>
          <a:p>
            <a:pPr algn="r">
              <a:defRPr sz="1100" b="0">
                <a:solidFill>
                  <a:srgbClr val="F5DEB3"/>
                </a:solidFill>
                <a:latin typeface="Microsoft YaHei"/>
              </a:defRPr>
            </a:pPr>
            <a:r>
              <a:t>方案二</a:t>
            </a:r>
          </a:p>
        </p:txBody>
      </p:sp>
      <p:sp>
        <p:nvSpPr>
          <p:cNvPr id="8" name="Rectangle 7"/>
          <p:cNvSpPr/>
          <p:nvPr/>
        </p:nvSpPr>
        <p:spPr>
          <a:xfrm>
            <a:off x="0" y="6807200"/>
            <a:ext cx="12191695" cy="5080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188720"/>
            <a:ext cx="10332720" cy="822960"/>
          </a:xfrm>
          <a:prstGeom prst="roundRect">
            <a:avLst/>
          </a:prstGeom>
          <a:solidFill>
            <a:srgbClr val="FFFEF8"/>
          </a:solidFill>
          <a:ln w="19050">
            <a:solidFill>
              <a:srgbClr val="E0D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1188720"/>
            <a:ext cx="63500" cy="82296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88720" y="1315720"/>
            <a:ext cx="365760" cy="36576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Microsoft YaHei"/>
              </a:defRPr>
            </a:pPr>
            <a:r>
              <a:t>1</a:t>
            </a:r>
          </a:p>
        </p:txBody>
      </p:sp>
      <p:sp>
        <p:nvSpPr>
          <p:cNvPr id="12" name="TextBox 11"/>
          <p:cNvSpPr txBox="1"/>
          <p:nvPr/>
        </p:nvSpPr>
        <p:spPr>
          <a:xfrm>
            <a:off x="1737360" y="1252220"/>
            <a:ext cx="9144000" cy="731520"/>
          </a:xfrm>
          <a:prstGeom prst="rect">
            <a:avLst/>
          </a:prstGeom>
          <a:noFill/>
        </p:spPr>
        <p:txBody>
          <a:bodyPr wrap="square">
            <a:spAutoFit/>
          </a:bodyPr>
          <a:lstStyle/>
          <a:p>
            <a:pPr algn="l">
              <a:spcAft>
                <a:spcPts val="400"/>
              </a:spcAft>
            </a:pPr>
            <a:r>
              <a:rPr sz="1700" b="1">
                <a:solidFill>
                  <a:srgbClr val="C41E3A"/>
                </a:solidFill>
                <a:latin typeface="Microsoft YaHei"/>
              </a:rPr>
              <a:t>聚焦民生福祉</a:t>
            </a:r>
            <a:r>
              <a:rPr sz="1500" b="0">
                <a:solidFill>
                  <a:srgbClr val="4A4A4A"/>
                </a:solidFill>
                <a:latin typeface="Microsoft YaHei"/>
              </a:rPr>
              <a:t>     ——  统筹城乡融合发展，筑牢民生底线。</a:t>
            </a:r>
          </a:p>
        </p:txBody>
      </p:sp>
      <p:sp>
        <p:nvSpPr>
          <p:cNvPr id="13" name="Rounded Rectangle 12"/>
          <p:cNvSpPr/>
          <p:nvPr/>
        </p:nvSpPr>
        <p:spPr>
          <a:xfrm>
            <a:off x="914400" y="2331720"/>
            <a:ext cx="10332720" cy="822960"/>
          </a:xfrm>
          <a:prstGeom prst="roundRect">
            <a:avLst/>
          </a:prstGeom>
          <a:solidFill>
            <a:srgbClr val="FFFEF8"/>
          </a:solidFill>
          <a:ln w="19050">
            <a:solidFill>
              <a:srgbClr val="E0D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14400" y="2331720"/>
            <a:ext cx="63500" cy="82296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88720" y="2458720"/>
            <a:ext cx="365760" cy="36576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Microsoft YaHei"/>
              </a:defRPr>
            </a:pPr>
            <a:r>
              <a:t>2</a:t>
            </a:r>
          </a:p>
        </p:txBody>
      </p:sp>
      <p:sp>
        <p:nvSpPr>
          <p:cNvPr id="16" name="TextBox 15"/>
          <p:cNvSpPr txBox="1"/>
          <p:nvPr/>
        </p:nvSpPr>
        <p:spPr>
          <a:xfrm>
            <a:off x="1737360" y="2395220"/>
            <a:ext cx="9144000" cy="731520"/>
          </a:xfrm>
          <a:prstGeom prst="rect">
            <a:avLst/>
          </a:prstGeom>
          <a:noFill/>
        </p:spPr>
        <p:txBody>
          <a:bodyPr wrap="square">
            <a:spAutoFit/>
          </a:bodyPr>
          <a:lstStyle/>
          <a:p>
            <a:pPr algn="l">
              <a:spcAft>
                <a:spcPts val="400"/>
              </a:spcAft>
            </a:pPr>
            <a:r>
              <a:rPr sz="1700" b="1">
                <a:solidFill>
                  <a:srgbClr val="C41E3A"/>
                </a:solidFill>
                <a:latin typeface="Microsoft YaHei"/>
              </a:rPr>
              <a:t>抓实基层治理</a:t>
            </a:r>
            <a:r>
              <a:rPr sz="1500" b="0">
                <a:solidFill>
                  <a:srgbClr val="4A4A4A"/>
                </a:solidFill>
                <a:latin typeface="Microsoft YaHei"/>
              </a:rPr>
              <a:t>     ——  抓实粮食安全、基层治理，扎实推进共同富裕。</a:t>
            </a:r>
          </a:p>
        </p:txBody>
      </p:sp>
      <p:sp>
        <p:nvSpPr>
          <p:cNvPr id="17" name="Rounded Rectangle 16"/>
          <p:cNvSpPr/>
          <p:nvPr/>
        </p:nvSpPr>
        <p:spPr>
          <a:xfrm>
            <a:off x="914400" y="3474720"/>
            <a:ext cx="10332720" cy="822960"/>
          </a:xfrm>
          <a:prstGeom prst="roundRect">
            <a:avLst/>
          </a:prstGeom>
          <a:solidFill>
            <a:srgbClr val="FFFEF8"/>
          </a:solidFill>
          <a:ln w="19050">
            <a:solidFill>
              <a:srgbClr val="E0D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14400" y="3474720"/>
            <a:ext cx="63500" cy="82296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88720" y="3601720"/>
            <a:ext cx="365760" cy="36576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Microsoft YaHei"/>
              </a:defRPr>
            </a:pPr>
            <a:r>
              <a:t>3</a:t>
            </a:r>
          </a:p>
        </p:txBody>
      </p:sp>
      <p:sp>
        <p:nvSpPr>
          <p:cNvPr id="20" name="TextBox 19"/>
          <p:cNvSpPr txBox="1"/>
          <p:nvPr/>
        </p:nvSpPr>
        <p:spPr>
          <a:xfrm>
            <a:off x="1737360" y="3538220"/>
            <a:ext cx="9144000" cy="731520"/>
          </a:xfrm>
          <a:prstGeom prst="rect">
            <a:avLst/>
          </a:prstGeom>
          <a:noFill/>
        </p:spPr>
        <p:txBody>
          <a:bodyPr wrap="square">
            <a:spAutoFit/>
          </a:bodyPr>
          <a:lstStyle/>
          <a:p>
            <a:pPr algn="l">
              <a:spcAft>
                <a:spcPts val="400"/>
              </a:spcAft>
            </a:pPr>
            <a:r>
              <a:rPr sz="1700" b="1">
                <a:solidFill>
                  <a:srgbClr val="C41E3A"/>
                </a:solidFill>
                <a:latin typeface="Microsoft YaHei"/>
              </a:rPr>
              <a:t>全面从严治党</a:t>
            </a:r>
            <a:r>
              <a:rPr sz="1500" b="0">
                <a:solidFill>
                  <a:srgbClr val="4A4A4A"/>
                </a:solidFill>
                <a:latin typeface="Microsoft YaHei"/>
              </a:rPr>
              <a:t>     ——  压紧压实全面从严治党责任。</a:t>
            </a:r>
          </a:p>
        </p:txBody>
      </p:sp>
      <p:sp>
        <p:nvSpPr>
          <p:cNvPr id="21" name="Rounded Rectangle 20"/>
          <p:cNvSpPr/>
          <p:nvPr/>
        </p:nvSpPr>
        <p:spPr>
          <a:xfrm>
            <a:off x="914400" y="4617720"/>
            <a:ext cx="10332720" cy="822960"/>
          </a:xfrm>
          <a:prstGeom prst="roundRect">
            <a:avLst/>
          </a:prstGeom>
          <a:solidFill>
            <a:srgbClr val="FFFEF8"/>
          </a:solidFill>
          <a:ln w="19050">
            <a:solidFill>
              <a:srgbClr val="E0D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 y="4617720"/>
            <a:ext cx="63500" cy="82296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188720" y="4744720"/>
            <a:ext cx="365760" cy="36576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Microsoft YaHei"/>
              </a:defRPr>
            </a:pPr>
            <a:r>
              <a:t>4</a:t>
            </a:r>
          </a:p>
        </p:txBody>
      </p:sp>
      <p:sp>
        <p:nvSpPr>
          <p:cNvPr id="24" name="TextBox 23"/>
          <p:cNvSpPr txBox="1"/>
          <p:nvPr/>
        </p:nvSpPr>
        <p:spPr>
          <a:xfrm>
            <a:off x="1737360" y="4681220"/>
            <a:ext cx="9144000" cy="731520"/>
          </a:xfrm>
          <a:prstGeom prst="rect">
            <a:avLst/>
          </a:prstGeom>
          <a:noFill/>
        </p:spPr>
        <p:txBody>
          <a:bodyPr wrap="square">
            <a:spAutoFit/>
          </a:bodyPr>
          <a:lstStyle/>
          <a:p>
            <a:pPr algn="l">
              <a:spcAft>
                <a:spcPts val="400"/>
              </a:spcAft>
            </a:pPr>
            <a:r>
              <a:rPr sz="1700" b="1">
                <a:solidFill>
                  <a:srgbClr val="C41E3A"/>
                </a:solidFill>
                <a:latin typeface="Microsoft YaHei"/>
              </a:rPr>
              <a:t>锤炼务实作风</a:t>
            </a:r>
            <a:r>
              <a:rPr sz="1500" b="0">
                <a:solidFill>
                  <a:srgbClr val="4A4A4A"/>
                </a:solidFill>
                <a:latin typeface="Microsoft YaHei"/>
              </a:rPr>
              <a:t>     ——  力戒形式主义，敢于担当履职。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381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
            <a:ext cx="8229600" cy="640080"/>
          </a:xfrm>
          <a:prstGeom prst="rect">
            <a:avLst/>
          </a:prstGeom>
          <a:noFill/>
        </p:spPr>
        <p:txBody>
          <a:bodyPr wrap="square">
            <a:spAutoFit/>
          </a:bodyPr>
          <a:lstStyle/>
          <a:p>
            <a:pPr algn="l">
              <a:defRPr sz="3000" b="1">
                <a:solidFill>
                  <a:srgbClr val="FFFFFF"/>
                </a:solidFill>
                <a:latin typeface="Microsoft YaHei"/>
              </a:defRPr>
            </a:pPr>
            <a:r>
              <a:t>六、学习贯彻落实要求</a:t>
            </a:r>
          </a:p>
        </p:txBody>
      </p:sp>
      <p:sp>
        <p:nvSpPr>
          <p:cNvPr id="6" name="TextBox 5"/>
          <p:cNvSpPr txBox="1"/>
          <p:nvPr/>
        </p:nvSpPr>
        <p:spPr>
          <a:xfrm>
            <a:off x="10789920" y="182880"/>
            <a:ext cx="1097280" cy="548640"/>
          </a:xfrm>
          <a:prstGeom prst="rect">
            <a:avLst/>
          </a:prstGeom>
          <a:noFill/>
        </p:spPr>
        <p:txBody>
          <a:bodyPr wrap="square">
            <a:spAutoFit/>
          </a:bodyPr>
          <a:lstStyle/>
          <a:p>
            <a:pPr algn="ctr">
              <a:defRPr sz="1400" b="1">
                <a:solidFill>
                  <a:srgbClr val="F5DEB3"/>
                </a:solidFill>
                <a:latin typeface="Microsoft YaHei"/>
              </a:defRPr>
            </a:pPr>
            <a:r>
              <a:t>16</a:t>
            </a:r>
          </a:p>
        </p:txBody>
      </p:sp>
      <p:sp>
        <p:nvSpPr>
          <p:cNvPr id="7" name="TextBox 6"/>
          <p:cNvSpPr txBox="1"/>
          <p:nvPr/>
        </p:nvSpPr>
        <p:spPr>
          <a:xfrm>
            <a:off x="7772400" y="228600"/>
            <a:ext cx="2743200" cy="457200"/>
          </a:xfrm>
          <a:prstGeom prst="rect">
            <a:avLst/>
          </a:prstGeom>
          <a:noFill/>
        </p:spPr>
        <p:txBody>
          <a:bodyPr wrap="square">
            <a:spAutoFit/>
          </a:bodyPr>
          <a:lstStyle/>
          <a:p>
            <a:pPr algn="r">
              <a:defRPr sz="1100" b="0">
                <a:solidFill>
                  <a:srgbClr val="F5DEB3"/>
                </a:solidFill>
                <a:latin typeface="Microsoft YaHei"/>
              </a:defRPr>
            </a:pPr>
            <a:r>
              <a:t>方案二</a:t>
            </a:r>
          </a:p>
        </p:txBody>
      </p:sp>
      <p:sp>
        <p:nvSpPr>
          <p:cNvPr id="8" name="Rectangle 7"/>
          <p:cNvSpPr/>
          <p:nvPr/>
        </p:nvSpPr>
        <p:spPr>
          <a:xfrm>
            <a:off x="0" y="6807200"/>
            <a:ext cx="12191695" cy="5080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188720"/>
            <a:ext cx="10332720" cy="822960"/>
          </a:xfrm>
          <a:prstGeom prst="roundRect">
            <a:avLst/>
          </a:prstGeom>
          <a:solidFill>
            <a:srgbClr val="FFFEF8"/>
          </a:solidFill>
          <a:ln w="19050">
            <a:solidFill>
              <a:srgbClr val="E0D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1188720"/>
            <a:ext cx="63500" cy="82296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88720" y="1315720"/>
            <a:ext cx="365760" cy="36576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Microsoft YaHei"/>
              </a:defRPr>
            </a:pPr>
            <a:r>
              <a:t>1</a:t>
            </a:r>
          </a:p>
        </p:txBody>
      </p:sp>
      <p:sp>
        <p:nvSpPr>
          <p:cNvPr id="12" name="TextBox 11"/>
          <p:cNvSpPr txBox="1"/>
          <p:nvPr/>
        </p:nvSpPr>
        <p:spPr>
          <a:xfrm>
            <a:off x="1737360" y="1252220"/>
            <a:ext cx="9144000" cy="731520"/>
          </a:xfrm>
          <a:prstGeom prst="rect">
            <a:avLst/>
          </a:prstGeom>
          <a:noFill/>
        </p:spPr>
        <p:txBody>
          <a:bodyPr wrap="square">
            <a:spAutoFit/>
          </a:bodyPr>
          <a:lstStyle/>
          <a:p>
            <a:pPr algn="l">
              <a:spcAft>
                <a:spcPts val="400"/>
              </a:spcAft>
            </a:pPr>
            <a:r>
              <a:rPr sz="1700" b="1">
                <a:solidFill>
                  <a:srgbClr val="C41E3A"/>
                </a:solidFill>
                <a:latin typeface="Microsoft YaHei"/>
              </a:rPr>
              <a:t>抓实理论学习</a:t>
            </a:r>
            <a:r>
              <a:rPr sz="1500" b="0">
                <a:solidFill>
                  <a:srgbClr val="4A4A4A"/>
                </a:solidFill>
                <a:latin typeface="Microsoft YaHei"/>
              </a:rPr>
              <a:t>     ——  准确领会讲话精神实质。</a:t>
            </a:r>
          </a:p>
        </p:txBody>
      </p:sp>
      <p:sp>
        <p:nvSpPr>
          <p:cNvPr id="13" name="Rounded Rectangle 12"/>
          <p:cNvSpPr/>
          <p:nvPr/>
        </p:nvSpPr>
        <p:spPr>
          <a:xfrm>
            <a:off x="914400" y="2331720"/>
            <a:ext cx="10332720" cy="822960"/>
          </a:xfrm>
          <a:prstGeom prst="roundRect">
            <a:avLst/>
          </a:prstGeom>
          <a:solidFill>
            <a:srgbClr val="FFFEF8"/>
          </a:solidFill>
          <a:ln w="19050">
            <a:solidFill>
              <a:srgbClr val="E0D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14400" y="2331720"/>
            <a:ext cx="63500" cy="82296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88720" y="2458720"/>
            <a:ext cx="365760" cy="36576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Microsoft YaHei"/>
              </a:defRPr>
            </a:pPr>
            <a:r>
              <a:t>2</a:t>
            </a:r>
          </a:p>
        </p:txBody>
      </p:sp>
      <p:sp>
        <p:nvSpPr>
          <p:cNvPr id="16" name="TextBox 15"/>
          <p:cNvSpPr txBox="1"/>
          <p:nvPr/>
        </p:nvSpPr>
        <p:spPr>
          <a:xfrm>
            <a:off x="1737360" y="2395220"/>
            <a:ext cx="9144000" cy="731520"/>
          </a:xfrm>
          <a:prstGeom prst="rect">
            <a:avLst/>
          </a:prstGeom>
          <a:noFill/>
        </p:spPr>
        <p:txBody>
          <a:bodyPr wrap="square">
            <a:spAutoFit/>
          </a:bodyPr>
          <a:lstStyle/>
          <a:p>
            <a:pPr algn="l">
              <a:spcAft>
                <a:spcPts val="400"/>
              </a:spcAft>
            </a:pPr>
            <a:r>
              <a:rPr sz="1700" b="1">
                <a:solidFill>
                  <a:srgbClr val="C41E3A"/>
                </a:solidFill>
                <a:latin typeface="Microsoft YaHei"/>
              </a:rPr>
              <a:t>对标工作短板</a:t>
            </a:r>
            <a:r>
              <a:rPr sz="1500" b="0">
                <a:solidFill>
                  <a:srgbClr val="4A4A4A"/>
                </a:solidFill>
                <a:latin typeface="Microsoft YaHei"/>
              </a:rPr>
              <a:t>     ——  理清工作思路，靶向补齐弱项。</a:t>
            </a:r>
          </a:p>
        </p:txBody>
      </p:sp>
      <p:sp>
        <p:nvSpPr>
          <p:cNvPr id="17" name="Rounded Rectangle 16"/>
          <p:cNvSpPr/>
          <p:nvPr/>
        </p:nvSpPr>
        <p:spPr>
          <a:xfrm>
            <a:off x="914400" y="3474720"/>
            <a:ext cx="10332720" cy="822960"/>
          </a:xfrm>
          <a:prstGeom prst="roundRect">
            <a:avLst/>
          </a:prstGeom>
          <a:solidFill>
            <a:srgbClr val="FFFEF8"/>
          </a:solidFill>
          <a:ln w="19050">
            <a:solidFill>
              <a:srgbClr val="E0D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14400" y="3474720"/>
            <a:ext cx="63500" cy="82296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88720" y="3601720"/>
            <a:ext cx="365760" cy="36576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Microsoft YaHei"/>
              </a:defRPr>
            </a:pPr>
            <a:r>
              <a:t>3</a:t>
            </a:r>
          </a:p>
        </p:txBody>
      </p:sp>
      <p:sp>
        <p:nvSpPr>
          <p:cNvPr id="20" name="TextBox 19"/>
          <p:cNvSpPr txBox="1"/>
          <p:nvPr/>
        </p:nvSpPr>
        <p:spPr>
          <a:xfrm>
            <a:off x="1737360" y="3538220"/>
            <a:ext cx="9144000" cy="731520"/>
          </a:xfrm>
          <a:prstGeom prst="rect">
            <a:avLst/>
          </a:prstGeom>
          <a:noFill/>
        </p:spPr>
        <p:txBody>
          <a:bodyPr wrap="square">
            <a:spAutoFit/>
          </a:bodyPr>
          <a:lstStyle/>
          <a:p>
            <a:pPr algn="l">
              <a:spcAft>
                <a:spcPts val="400"/>
              </a:spcAft>
            </a:pPr>
            <a:r>
              <a:rPr sz="1700" b="1">
                <a:solidFill>
                  <a:srgbClr val="C41E3A"/>
                </a:solidFill>
                <a:latin typeface="Microsoft YaHei"/>
              </a:rPr>
              <a:t>立足本职岗位</a:t>
            </a:r>
            <a:r>
              <a:rPr sz="1500" b="0">
                <a:solidFill>
                  <a:srgbClr val="4A4A4A"/>
                </a:solidFill>
                <a:latin typeface="Microsoft YaHei"/>
              </a:rPr>
              <a:t>     ——  把讲话精神转化为具体工作举措。</a:t>
            </a:r>
          </a:p>
        </p:txBody>
      </p:sp>
      <p:sp>
        <p:nvSpPr>
          <p:cNvPr id="21" name="Rounded Rectangle 20"/>
          <p:cNvSpPr/>
          <p:nvPr/>
        </p:nvSpPr>
        <p:spPr>
          <a:xfrm>
            <a:off x="914400" y="4617720"/>
            <a:ext cx="10332720" cy="822960"/>
          </a:xfrm>
          <a:prstGeom prst="roundRect">
            <a:avLst/>
          </a:prstGeom>
          <a:solidFill>
            <a:srgbClr val="FFFEF8"/>
          </a:solidFill>
          <a:ln w="19050">
            <a:solidFill>
              <a:srgbClr val="E0D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 y="4617720"/>
            <a:ext cx="63500" cy="82296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188720" y="4744720"/>
            <a:ext cx="365760" cy="365760"/>
          </a:xfrm>
          <a:prstGeom prst="ellipse">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Microsoft YaHei"/>
              </a:defRPr>
            </a:pPr>
            <a:r>
              <a:t>4</a:t>
            </a:r>
          </a:p>
        </p:txBody>
      </p:sp>
      <p:sp>
        <p:nvSpPr>
          <p:cNvPr id="24" name="TextBox 23"/>
          <p:cNvSpPr txBox="1"/>
          <p:nvPr/>
        </p:nvSpPr>
        <p:spPr>
          <a:xfrm>
            <a:off x="1737360" y="4681220"/>
            <a:ext cx="9144000" cy="731520"/>
          </a:xfrm>
          <a:prstGeom prst="rect">
            <a:avLst/>
          </a:prstGeom>
          <a:noFill/>
        </p:spPr>
        <p:txBody>
          <a:bodyPr wrap="square">
            <a:spAutoFit/>
          </a:bodyPr>
          <a:lstStyle/>
          <a:p>
            <a:pPr algn="l">
              <a:spcAft>
                <a:spcPts val="400"/>
              </a:spcAft>
            </a:pPr>
            <a:r>
              <a:rPr sz="1700" b="1">
                <a:solidFill>
                  <a:srgbClr val="C41E3A"/>
                </a:solidFill>
                <a:latin typeface="Microsoft YaHei"/>
              </a:rPr>
              <a:t>严明工作作风</a:t>
            </a:r>
            <a:r>
              <a:rPr sz="1500" b="0">
                <a:solidFill>
                  <a:srgbClr val="4A4A4A"/>
                </a:solidFill>
                <a:latin typeface="Microsoft YaHei"/>
              </a:rPr>
              <a:t>     ——  求真务实，做到知行合一。</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35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94500"/>
            <a:ext cx="12191695" cy="635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548640" cy="381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38100" cy="54864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643055" y="0"/>
            <a:ext cx="548640" cy="381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153595" y="0"/>
            <a:ext cx="38100" cy="54864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819900"/>
            <a:ext cx="548640" cy="381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309360"/>
            <a:ext cx="38100" cy="54864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643055" y="6819900"/>
            <a:ext cx="548640" cy="381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153595" y="6309360"/>
            <a:ext cx="38100" cy="54864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5-Point Star 12"/>
          <p:cNvSpPr/>
          <p:nvPr/>
        </p:nvSpPr>
        <p:spPr>
          <a:xfrm>
            <a:off x="5303520" y="822960"/>
            <a:ext cx="1097280" cy="109728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5-Point Star 13"/>
          <p:cNvSpPr/>
          <p:nvPr/>
        </p:nvSpPr>
        <p:spPr>
          <a:xfrm>
            <a:off x="5943600" y="1005840"/>
            <a:ext cx="640080" cy="64008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5-Point Star 14"/>
          <p:cNvSpPr/>
          <p:nvPr/>
        </p:nvSpPr>
        <p:spPr>
          <a:xfrm>
            <a:off x="6400800" y="822960"/>
            <a:ext cx="1097280" cy="109728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5-Point Star 15"/>
          <p:cNvSpPr/>
          <p:nvPr/>
        </p:nvSpPr>
        <p:spPr>
          <a:xfrm>
            <a:off x="7040880" y="1005840"/>
            <a:ext cx="640080" cy="64008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5-Point Star 16"/>
          <p:cNvSpPr/>
          <p:nvPr/>
        </p:nvSpPr>
        <p:spPr>
          <a:xfrm>
            <a:off x="7498079" y="822960"/>
            <a:ext cx="1097280" cy="109728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71600" y="2194560"/>
            <a:ext cx="9418320" cy="1371600"/>
          </a:xfrm>
          <a:prstGeom prst="rect">
            <a:avLst/>
          </a:prstGeom>
          <a:noFill/>
        </p:spPr>
        <p:txBody>
          <a:bodyPr wrap="square">
            <a:spAutoFit/>
          </a:bodyPr>
          <a:lstStyle/>
          <a:p>
            <a:pPr algn="ctr">
              <a:defRPr sz="4200" b="1">
                <a:solidFill>
                  <a:srgbClr val="FFFFFF"/>
                </a:solidFill>
                <a:latin typeface="Microsoft YaHei"/>
              </a:defRPr>
            </a:pPr>
            <a:r>
              <a:t>凝心聚力勇担当 实干奋进促发展</a:t>
            </a:r>
          </a:p>
        </p:txBody>
      </p:sp>
      <p:sp>
        <p:nvSpPr>
          <p:cNvPr id="19" name="Rectangle 18"/>
          <p:cNvSpPr/>
          <p:nvPr/>
        </p:nvSpPr>
        <p:spPr>
          <a:xfrm>
            <a:off x="4572000" y="3749039"/>
            <a:ext cx="301752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828800" y="4114800"/>
            <a:ext cx="8503920" cy="731520"/>
          </a:xfrm>
          <a:prstGeom prst="rect">
            <a:avLst/>
          </a:prstGeom>
          <a:noFill/>
        </p:spPr>
        <p:txBody>
          <a:bodyPr wrap="square">
            <a:spAutoFit/>
          </a:bodyPr>
          <a:lstStyle/>
          <a:p>
            <a:pPr algn="ctr">
              <a:defRPr sz="1800" b="0">
                <a:solidFill>
                  <a:srgbClr val="F5DEB3"/>
                </a:solidFill>
                <a:latin typeface="Microsoft YaHei"/>
              </a:defRPr>
            </a:pPr>
            <a:r>
              <a:t>切实把学习成果转化为推动工作高质量发展的实际成效</a:t>
            </a:r>
          </a:p>
        </p:txBody>
      </p:sp>
      <p:sp>
        <p:nvSpPr>
          <p:cNvPr id="21" name="TextBox 20"/>
          <p:cNvSpPr txBox="1"/>
          <p:nvPr/>
        </p:nvSpPr>
        <p:spPr>
          <a:xfrm>
            <a:off x="1828800" y="5303520"/>
            <a:ext cx="8503920" cy="914400"/>
          </a:xfrm>
          <a:prstGeom prst="rect">
            <a:avLst/>
          </a:prstGeom>
          <a:noFill/>
        </p:spPr>
        <p:txBody>
          <a:bodyPr wrap="square">
            <a:spAutoFit/>
          </a:bodyPr>
          <a:lstStyle/>
          <a:p>
            <a:pPr algn="ctr">
              <a:defRPr sz="2200" b="1">
                <a:solidFill>
                  <a:srgbClr val="FFFFFF"/>
                </a:solidFill>
                <a:latin typeface="Microsoft YaHei"/>
              </a:defRPr>
            </a:pPr>
            <a:r>
              <a:t>方案二学习完毕</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35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94500"/>
            <a:ext cx="12191695" cy="635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371600"/>
            <a:ext cx="50800" cy="36576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71600"/>
            <a:ext cx="3657600" cy="254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5-Point Star 6"/>
          <p:cNvSpPr/>
          <p:nvPr/>
        </p:nvSpPr>
        <p:spPr>
          <a:xfrm>
            <a:off x="5303520" y="731520"/>
            <a:ext cx="914400" cy="91440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5-Point Star 7"/>
          <p:cNvSpPr/>
          <p:nvPr/>
        </p:nvSpPr>
        <p:spPr>
          <a:xfrm>
            <a:off x="5943600" y="833120"/>
            <a:ext cx="548640" cy="54864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5-Point Star 8"/>
          <p:cNvSpPr/>
          <p:nvPr/>
        </p:nvSpPr>
        <p:spPr>
          <a:xfrm>
            <a:off x="6400800" y="731520"/>
            <a:ext cx="914400" cy="91440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5-Point Star 9"/>
          <p:cNvSpPr/>
          <p:nvPr/>
        </p:nvSpPr>
        <p:spPr>
          <a:xfrm>
            <a:off x="7040880" y="833120"/>
            <a:ext cx="548640" cy="54864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5-Point Star 10"/>
          <p:cNvSpPr/>
          <p:nvPr/>
        </p:nvSpPr>
        <p:spPr>
          <a:xfrm>
            <a:off x="7498079" y="731520"/>
            <a:ext cx="914400" cy="91440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1371600"/>
            <a:ext cx="9144000" cy="548640"/>
          </a:xfrm>
          <a:prstGeom prst="rect">
            <a:avLst/>
          </a:prstGeom>
          <a:noFill/>
        </p:spPr>
        <p:txBody>
          <a:bodyPr wrap="square">
            <a:spAutoFit/>
          </a:bodyPr>
          <a:lstStyle/>
          <a:p>
            <a:pPr algn="l">
              <a:defRPr sz="2200" b="1">
                <a:solidFill>
                  <a:srgbClr val="FFD700"/>
                </a:solidFill>
                <a:latin typeface="Microsoft YaHei"/>
              </a:defRPr>
            </a:pPr>
            <a:r>
              <a:t>第三套方案</a:t>
            </a:r>
          </a:p>
        </p:txBody>
      </p:sp>
      <p:sp>
        <p:nvSpPr>
          <p:cNvPr id="13" name="Rectangle 12"/>
          <p:cNvSpPr/>
          <p:nvPr/>
        </p:nvSpPr>
        <p:spPr>
          <a:xfrm>
            <a:off x="1371600" y="2011680"/>
            <a:ext cx="4572000" cy="254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1600" y="2377440"/>
            <a:ext cx="9601200" cy="1097280"/>
          </a:xfrm>
          <a:prstGeom prst="rect">
            <a:avLst/>
          </a:prstGeom>
          <a:noFill/>
        </p:spPr>
        <p:txBody>
          <a:bodyPr wrap="square">
            <a:spAutoFit/>
          </a:bodyPr>
          <a:lstStyle/>
          <a:p>
            <a:pPr algn="l">
              <a:defRPr sz="4000" b="1">
                <a:solidFill>
                  <a:srgbClr val="FFFFFF"/>
                </a:solidFill>
                <a:latin typeface="Microsoft YaHei"/>
              </a:defRPr>
            </a:pPr>
            <a:r>
              <a:t>坚守为民初心 涵养正确政绩观</a:t>
            </a:r>
          </a:p>
        </p:txBody>
      </p:sp>
      <p:sp>
        <p:nvSpPr>
          <p:cNvPr id="15" name="TextBox 14"/>
          <p:cNvSpPr txBox="1"/>
          <p:nvPr/>
        </p:nvSpPr>
        <p:spPr>
          <a:xfrm>
            <a:off x="1371600" y="4572000"/>
            <a:ext cx="9144000" cy="914400"/>
          </a:xfrm>
          <a:prstGeom prst="rect">
            <a:avLst/>
          </a:prstGeom>
          <a:noFill/>
        </p:spPr>
        <p:txBody>
          <a:bodyPr wrap="square">
            <a:spAutoFit/>
          </a:bodyPr>
          <a:lstStyle/>
          <a:p>
            <a:pPr algn="l">
              <a:defRPr sz="2000" b="0">
                <a:solidFill>
                  <a:srgbClr val="F5DEB3"/>
                </a:solidFill>
                <a:latin typeface="Microsoft YaHei"/>
              </a:defRPr>
            </a:pPr>
            <a:r>
              <a:t>学习习近平总书记地方工作期间</a:t>
            </a:r>
            <a:br/>
            <a:r>
              <a:t>坚持正确政绩观生动实践</a:t>
            </a:r>
          </a:p>
        </p:txBody>
      </p:sp>
      <p:sp>
        <p:nvSpPr>
          <p:cNvPr id="16" name="Rectangle 15"/>
          <p:cNvSpPr/>
          <p:nvPr/>
        </p:nvSpPr>
        <p:spPr>
          <a:xfrm>
            <a:off x="1371600" y="5577840"/>
            <a:ext cx="2743200" cy="254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71600" y="5806440"/>
            <a:ext cx="4572000" cy="457200"/>
          </a:xfrm>
          <a:prstGeom prst="rect">
            <a:avLst/>
          </a:prstGeom>
          <a:noFill/>
        </p:spPr>
        <p:txBody>
          <a:bodyPr wrap="square">
            <a:spAutoFit/>
          </a:bodyPr>
          <a:lstStyle/>
          <a:p>
            <a:pPr algn="l">
              <a:defRPr sz="1600" b="0">
                <a:solidFill>
                  <a:srgbClr val="FFFFFF"/>
                </a:solidFill>
                <a:latin typeface="Microsoft YaHei"/>
              </a:defRPr>
            </a:pPr>
            <a:r>
              <a:t>XXX单位    XXXX年XX月</a:t>
            </a:r>
          </a:p>
        </p:txBody>
      </p:sp>
      <p:sp>
        <p:nvSpPr>
          <p:cNvPr id="18" name="Rectangle 17"/>
          <p:cNvSpPr/>
          <p:nvPr/>
        </p:nvSpPr>
        <p:spPr>
          <a:xfrm>
            <a:off x="0" y="0"/>
            <a:ext cx="548640" cy="381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38100" cy="54864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1643055" y="0"/>
            <a:ext cx="548640" cy="381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2153595" y="0"/>
            <a:ext cx="38100" cy="54864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6819900"/>
            <a:ext cx="548640" cy="381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309360"/>
            <a:ext cx="38100" cy="54864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1643055" y="6819900"/>
            <a:ext cx="548640" cy="381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2153595" y="6309360"/>
            <a:ext cx="38100" cy="54864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381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807200"/>
            <a:ext cx="12191695" cy="5080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7160"/>
            <a:ext cx="8229600" cy="640080"/>
          </a:xfrm>
          <a:prstGeom prst="rect">
            <a:avLst/>
          </a:prstGeom>
          <a:noFill/>
        </p:spPr>
        <p:txBody>
          <a:bodyPr wrap="square">
            <a:spAutoFit/>
          </a:bodyPr>
          <a:lstStyle/>
          <a:p>
            <a:pPr algn="l">
              <a:defRPr sz="3000" b="1">
                <a:solidFill>
                  <a:srgbClr val="FFFFFF"/>
                </a:solidFill>
                <a:latin typeface="Microsoft YaHei"/>
              </a:defRPr>
            </a:pPr>
            <a:r>
              <a:t>地方工作期间生动实践</a:t>
            </a:r>
          </a:p>
        </p:txBody>
      </p:sp>
      <p:sp>
        <p:nvSpPr>
          <p:cNvPr id="7" name="TextBox 6"/>
          <p:cNvSpPr txBox="1"/>
          <p:nvPr/>
        </p:nvSpPr>
        <p:spPr>
          <a:xfrm>
            <a:off x="10789920" y="182880"/>
            <a:ext cx="1097280" cy="548640"/>
          </a:xfrm>
          <a:prstGeom prst="rect">
            <a:avLst/>
          </a:prstGeom>
          <a:noFill/>
        </p:spPr>
        <p:txBody>
          <a:bodyPr wrap="square">
            <a:spAutoFit/>
          </a:bodyPr>
          <a:lstStyle/>
          <a:p>
            <a:pPr algn="ctr">
              <a:defRPr sz="1400" b="1">
                <a:solidFill>
                  <a:srgbClr val="F5DEB3"/>
                </a:solidFill>
                <a:latin typeface="Microsoft YaHei"/>
              </a:defRPr>
            </a:pPr>
            <a:r>
              <a:t>19</a:t>
            </a:r>
          </a:p>
        </p:txBody>
      </p:sp>
      <p:sp>
        <p:nvSpPr>
          <p:cNvPr id="8" name="TextBox 7"/>
          <p:cNvSpPr txBox="1"/>
          <p:nvPr/>
        </p:nvSpPr>
        <p:spPr>
          <a:xfrm>
            <a:off x="7772400" y="228600"/>
            <a:ext cx="2743200" cy="457200"/>
          </a:xfrm>
          <a:prstGeom prst="rect">
            <a:avLst/>
          </a:prstGeom>
          <a:noFill/>
        </p:spPr>
        <p:txBody>
          <a:bodyPr wrap="square">
            <a:spAutoFit/>
          </a:bodyPr>
          <a:lstStyle/>
          <a:p>
            <a:pPr algn="r">
              <a:defRPr sz="1100" b="0">
                <a:solidFill>
                  <a:srgbClr val="F5DEB3"/>
                </a:solidFill>
                <a:latin typeface="Microsoft YaHei"/>
              </a:defRPr>
            </a:pPr>
            <a:r>
              <a:t>方案三</a:t>
            </a:r>
          </a:p>
        </p:txBody>
      </p:sp>
      <p:sp>
        <p:nvSpPr>
          <p:cNvPr id="9" name="Rounded Rectangle 8"/>
          <p:cNvSpPr/>
          <p:nvPr/>
        </p:nvSpPr>
        <p:spPr>
          <a:xfrm>
            <a:off x="822960" y="1188720"/>
            <a:ext cx="5029200" cy="1463040"/>
          </a:xfrm>
          <a:prstGeom prst="roundRect">
            <a:avLst/>
          </a:prstGeom>
          <a:solidFill>
            <a:srgbClr val="FFFEF8"/>
          </a:solidFill>
          <a:ln w="19050">
            <a:solidFill>
              <a:srgbClr val="E0D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1188720"/>
            <a:ext cx="5029200" cy="5080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60120" y="1325880"/>
            <a:ext cx="1463040" cy="274320"/>
          </a:xfrm>
          <a:prstGeom prst="round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200" b="1">
                <a:solidFill>
                  <a:srgbClr val="FFFFFF"/>
                </a:solidFill>
                <a:latin typeface="Microsoft YaHei"/>
              </a:defRPr>
            </a:pPr>
            <a:r>
              <a:t>河北正定</a:t>
            </a:r>
          </a:p>
        </p:txBody>
      </p:sp>
      <p:sp>
        <p:nvSpPr>
          <p:cNvPr id="12" name="TextBox 11"/>
          <p:cNvSpPr txBox="1"/>
          <p:nvPr/>
        </p:nvSpPr>
        <p:spPr>
          <a:xfrm>
            <a:off x="2560320" y="1298448"/>
            <a:ext cx="3108960" cy="320040"/>
          </a:xfrm>
          <a:prstGeom prst="rect">
            <a:avLst/>
          </a:prstGeom>
          <a:noFill/>
        </p:spPr>
        <p:txBody>
          <a:bodyPr wrap="square">
            <a:spAutoFit/>
          </a:bodyPr>
          <a:lstStyle/>
          <a:p>
            <a:pPr algn="l">
              <a:defRPr sz="1600" b="1">
                <a:solidFill>
                  <a:srgbClr val="C41E3A"/>
                </a:solidFill>
                <a:latin typeface="Microsoft YaHei"/>
              </a:defRPr>
            </a:pPr>
            <a:r>
              <a:t>实事求是</a:t>
            </a:r>
          </a:p>
        </p:txBody>
      </p:sp>
      <p:sp>
        <p:nvSpPr>
          <p:cNvPr id="13" name="TextBox 12"/>
          <p:cNvSpPr txBox="1"/>
          <p:nvPr/>
        </p:nvSpPr>
        <p:spPr>
          <a:xfrm>
            <a:off x="1005840" y="1691640"/>
            <a:ext cx="4663440" cy="914400"/>
          </a:xfrm>
          <a:prstGeom prst="rect">
            <a:avLst/>
          </a:prstGeom>
          <a:noFill/>
        </p:spPr>
        <p:txBody>
          <a:bodyPr wrap="square">
            <a:spAutoFit/>
          </a:bodyPr>
          <a:lstStyle/>
          <a:p>
            <a:pPr algn="l">
              <a:defRPr sz="1400" b="0">
                <a:solidFill>
                  <a:srgbClr val="4A4A4A"/>
                </a:solidFill>
                <a:latin typeface="Microsoft YaHei"/>
              </a:defRPr>
            </a:pPr>
            <a:r>
              <a:t>放下虚名务实惠民，减免征购2800万斤，摒弃唯数据政绩思维。</a:t>
            </a:r>
          </a:p>
        </p:txBody>
      </p:sp>
      <p:sp>
        <p:nvSpPr>
          <p:cNvPr id="14" name="Rounded Rectangle 13"/>
          <p:cNvSpPr/>
          <p:nvPr/>
        </p:nvSpPr>
        <p:spPr>
          <a:xfrm>
            <a:off x="6217920" y="1188720"/>
            <a:ext cx="5029200" cy="1463040"/>
          </a:xfrm>
          <a:prstGeom prst="roundRect">
            <a:avLst/>
          </a:prstGeom>
          <a:solidFill>
            <a:srgbClr val="FFFEF8"/>
          </a:solidFill>
          <a:ln w="19050">
            <a:solidFill>
              <a:srgbClr val="E0D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188720"/>
            <a:ext cx="5029200" cy="5080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55080" y="1325880"/>
            <a:ext cx="1463040" cy="274320"/>
          </a:xfrm>
          <a:prstGeom prst="round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200" b="1">
                <a:solidFill>
                  <a:srgbClr val="FFFFFF"/>
                </a:solidFill>
                <a:latin typeface="Microsoft YaHei"/>
              </a:defRPr>
            </a:pPr>
            <a:r>
              <a:t>福建宁德</a:t>
            </a:r>
          </a:p>
        </p:txBody>
      </p:sp>
      <p:sp>
        <p:nvSpPr>
          <p:cNvPr id="17" name="TextBox 16"/>
          <p:cNvSpPr txBox="1"/>
          <p:nvPr/>
        </p:nvSpPr>
        <p:spPr>
          <a:xfrm>
            <a:off x="7955280" y="1298448"/>
            <a:ext cx="3108960" cy="320040"/>
          </a:xfrm>
          <a:prstGeom prst="rect">
            <a:avLst/>
          </a:prstGeom>
          <a:noFill/>
        </p:spPr>
        <p:txBody>
          <a:bodyPr wrap="square">
            <a:spAutoFit/>
          </a:bodyPr>
          <a:lstStyle/>
          <a:p>
            <a:pPr algn="l">
              <a:defRPr sz="1600" b="1">
                <a:solidFill>
                  <a:srgbClr val="C41E3A"/>
                </a:solidFill>
                <a:latin typeface="Microsoft YaHei"/>
              </a:defRPr>
            </a:pPr>
            <a:r>
              <a:t>弱鸟先飞</a:t>
            </a:r>
          </a:p>
        </p:txBody>
      </p:sp>
      <p:sp>
        <p:nvSpPr>
          <p:cNvPr id="18" name="TextBox 17"/>
          <p:cNvSpPr txBox="1"/>
          <p:nvPr/>
        </p:nvSpPr>
        <p:spPr>
          <a:xfrm>
            <a:off x="6400800" y="1691640"/>
            <a:ext cx="4663440" cy="914400"/>
          </a:xfrm>
          <a:prstGeom prst="rect">
            <a:avLst/>
          </a:prstGeom>
          <a:noFill/>
        </p:spPr>
        <p:txBody>
          <a:bodyPr wrap="square">
            <a:spAutoFit/>
          </a:bodyPr>
          <a:lstStyle/>
          <a:p>
            <a:pPr algn="l">
              <a:defRPr sz="1400" b="0">
                <a:solidFill>
                  <a:srgbClr val="4A4A4A"/>
                </a:solidFill>
                <a:latin typeface="Microsoft YaHei"/>
              </a:defRPr>
            </a:pPr>
            <a:r>
              <a:t>甘做长远潜绩，新官不急烧三把火，调研先行杜绝急功近利。</a:t>
            </a:r>
          </a:p>
        </p:txBody>
      </p:sp>
      <p:sp>
        <p:nvSpPr>
          <p:cNvPr id="19" name="Rounded Rectangle 18"/>
          <p:cNvSpPr/>
          <p:nvPr/>
        </p:nvSpPr>
        <p:spPr>
          <a:xfrm>
            <a:off x="822960" y="2880360"/>
            <a:ext cx="5029200" cy="1463040"/>
          </a:xfrm>
          <a:prstGeom prst="roundRect">
            <a:avLst/>
          </a:prstGeom>
          <a:solidFill>
            <a:srgbClr val="FFFEF8"/>
          </a:solidFill>
          <a:ln w="19050">
            <a:solidFill>
              <a:srgbClr val="E0D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 y="2880360"/>
            <a:ext cx="5029200" cy="5080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60120" y="3017520"/>
            <a:ext cx="1463040" cy="274320"/>
          </a:xfrm>
          <a:prstGeom prst="round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200" b="1">
                <a:solidFill>
                  <a:srgbClr val="FFFFFF"/>
                </a:solidFill>
                <a:latin typeface="Microsoft YaHei"/>
              </a:defRPr>
            </a:pPr>
            <a:r>
              <a:t>福州工作</a:t>
            </a:r>
          </a:p>
        </p:txBody>
      </p:sp>
      <p:sp>
        <p:nvSpPr>
          <p:cNvPr id="22" name="TextBox 21"/>
          <p:cNvSpPr txBox="1"/>
          <p:nvPr/>
        </p:nvSpPr>
        <p:spPr>
          <a:xfrm>
            <a:off x="2560320" y="2990088"/>
            <a:ext cx="3108960" cy="320040"/>
          </a:xfrm>
          <a:prstGeom prst="rect">
            <a:avLst/>
          </a:prstGeom>
          <a:noFill/>
        </p:spPr>
        <p:txBody>
          <a:bodyPr wrap="square">
            <a:spAutoFit/>
          </a:bodyPr>
          <a:lstStyle/>
          <a:p>
            <a:pPr algn="l">
              <a:defRPr sz="1600" b="1">
                <a:solidFill>
                  <a:srgbClr val="C41E3A"/>
                </a:solidFill>
                <a:latin typeface="Microsoft YaHei"/>
              </a:defRPr>
            </a:pPr>
            <a:r>
              <a:t>马上就办</a:t>
            </a:r>
          </a:p>
        </p:txBody>
      </p:sp>
      <p:sp>
        <p:nvSpPr>
          <p:cNvPr id="23" name="TextBox 22"/>
          <p:cNvSpPr txBox="1"/>
          <p:nvPr/>
        </p:nvSpPr>
        <p:spPr>
          <a:xfrm>
            <a:off x="1005840" y="3383280"/>
            <a:ext cx="4663440" cy="914400"/>
          </a:xfrm>
          <a:prstGeom prst="rect">
            <a:avLst/>
          </a:prstGeom>
          <a:noFill/>
        </p:spPr>
        <p:txBody>
          <a:bodyPr wrap="square">
            <a:spAutoFit/>
          </a:bodyPr>
          <a:lstStyle/>
          <a:p>
            <a:pPr algn="l">
              <a:defRPr sz="1400" b="0">
                <a:solidFill>
                  <a:srgbClr val="4A4A4A"/>
                </a:solidFill>
                <a:latin typeface="Microsoft YaHei"/>
              </a:defRPr>
            </a:pPr>
            <a:r>
              <a:t>马上就办真抓实干，谋划3820战略工程，立足二十年长远布局。</a:t>
            </a:r>
          </a:p>
        </p:txBody>
      </p:sp>
      <p:sp>
        <p:nvSpPr>
          <p:cNvPr id="24" name="Rounded Rectangle 23"/>
          <p:cNvSpPr/>
          <p:nvPr/>
        </p:nvSpPr>
        <p:spPr>
          <a:xfrm>
            <a:off x="6217920" y="2880360"/>
            <a:ext cx="5029200" cy="1463040"/>
          </a:xfrm>
          <a:prstGeom prst="roundRect">
            <a:avLst/>
          </a:prstGeom>
          <a:solidFill>
            <a:srgbClr val="FFFEF8"/>
          </a:solidFill>
          <a:ln w="19050">
            <a:solidFill>
              <a:srgbClr val="E0D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880360"/>
            <a:ext cx="5029200" cy="5080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355080" y="3017520"/>
            <a:ext cx="1463040" cy="274320"/>
          </a:xfrm>
          <a:prstGeom prst="round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200" b="1">
                <a:solidFill>
                  <a:srgbClr val="FFFFFF"/>
                </a:solidFill>
                <a:latin typeface="Microsoft YaHei"/>
              </a:defRPr>
            </a:pPr>
            <a:r>
              <a:t>浙江任职</a:t>
            </a:r>
          </a:p>
        </p:txBody>
      </p:sp>
      <p:sp>
        <p:nvSpPr>
          <p:cNvPr id="27" name="TextBox 26"/>
          <p:cNvSpPr txBox="1"/>
          <p:nvPr/>
        </p:nvSpPr>
        <p:spPr>
          <a:xfrm>
            <a:off x="7955280" y="2990088"/>
            <a:ext cx="3108960" cy="320040"/>
          </a:xfrm>
          <a:prstGeom prst="rect">
            <a:avLst/>
          </a:prstGeom>
          <a:noFill/>
        </p:spPr>
        <p:txBody>
          <a:bodyPr wrap="square">
            <a:spAutoFit/>
          </a:bodyPr>
          <a:lstStyle/>
          <a:p>
            <a:pPr algn="l">
              <a:defRPr sz="1600" b="1">
                <a:solidFill>
                  <a:srgbClr val="C41E3A"/>
                </a:solidFill>
                <a:latin typeface="Microsoft YaHei"/>
              </a:defRPr>
            </a:pPr>
            <a:r>
              <a:t>着眼长远</a:t>
            </a:r>
          </a:p>
        </p:txBody>
      </p:sp>
      <p:sp>
        <p:nvSpPr>
          <p:cNvPr id="28" name="TextBox 27"/>
          <p:cNvSpPr txBox="1"/>
          <p:nvPr/>
        </p:nvSpPr>
        <p:spPr>
          <a:xfrm>
            <a:off x="6400800" y="3383280"/>
            <a:ext cx="4663440" cy="914400"/>
          </a:xfrm>
          <a:prstGeom prst="rect">
            <a:avLst/>
          </a:prstGeom>
          <a:noFill/>
        </p:spPr>
        <p:txBody>
          <a:bodyPr wrap="square">
            <a:spAutoFit/>
          </a:bodyPr>
          <a:lstStyle/>
          <a:p>
            <a:pPr algn="l">
              <a:defRPr sz="1400" b="0">
                <a:solidFill>
                  <a:srgbClr val="4A4A4A"/>
                </a:solidFill>
                <a:latin typeface="Microsoft YaHei"/>
              </a:defRPr>
            </a:pPr>
            <a:r>
              <a:t>部署千万工程，提出两山理念，保护万寿岩遗址守护历史资源。</a:t>
            </a:r>
          </a:p>
        </p:txBody>
      </p:sp>
      <p:sp>
        <p:nvSpPr>
          <p:cNvPr id="29" name="Rounded Rectangle 28"/>
          <p:cNvSpPr/>
          <p:nvPr/>
        </p:nvSpPr>
        <p:spPr>
          <a:xfrm>
            <a:off x="822960" y="4572000"/>
            <a:ext cx="5029200" cy="1463040"/>
          </a:xfrm>
          <a:prstGeom prst="roundRect">
            <a:avLst/>
          </a:prstGeom>
          <a:solidFill>
            <a:srgbClr val="FFFEF8"/>
          </a:solidFill>
          <a:ln w="19050">
            <a:solidFill>
              <a:srgbClr val="E0D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22960" y="4572000"/>
            <a:ext cx="5029200" cy="50800"/>
          </a:xfrm>
          <a:prstGeom prst="rect">
            <a:avLst/>
          </a:prstGeom>
          <a:solidFill>
            <a:srgbClr val="DE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60120" y="4709160"/>
            <a:ext cx="1463040" cy="274320"/>
          </a:xfrm>
          <a:prstGeom prst="round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200" b="1">
                <a:solidFill>
                  <a:srgbClr val="FFFFFF"/>
                </a:solidFill>
                <a:latin typeface="Microsoft YaHei"/>
              </a:defRPr>
            </a:pPr>
            <a:r>
              <a:t>上海任职</a:t>
            </a:r>
          </a:p>
        </p:txBody>
      </p:sp>
      <p:sp>
        <p:nvSpPr>
          <p:cNvPr id="32" name="TextBox 31"/>
          <p:cNvSpPr txBox="1"/>
          <p:nvPr/>
        </p:nvSpPr>
        <p:spPr>
          <a:xfrm>
            <a:off x="2560320" y="4681728"/>
            <a:ext cx="3108960" cy="320040"/>
          </a:xfrm>
          <a:prstGeom prst="rect">
            <a:avLst/>
          </a:prstGeom>
          <a:noFill/>
        </p:spPr>
        <p:txBody>
          <a:bodyPr wrap="square">
            <a:spAutoFit/>
          </a:bodyPr>
          <a:lstStyle/>
          <a:p>
            <a:pPr algn="l">
              <a:defRPr sz="1600" b="1">
                <a:solidFill>
                  <a:srgbClr val="C41E3A"/>
                </a:solidFill>
                <a:latin typeface="Microsoft YaHei"/>
              </a:defRPr>
            </a:pPr>
            <a:r>
              <a:t>胸怀大局</a:t>
            </a:r>
          </a:p>
        </p:txBody>
      </p:sp>
      <p:sp>
        <p:nvSpPr>
          <p:cNvPr id="33" name="TextBox 32"/>
          <p:cNvSpPr txBox="1"/>
          <p:nvPr/>
        </p:nvSpPr>
        <p:spPr>
          <a:xfrm>
            <a:off x="1005840" y="5074920"/>
            <a:ext cx="4663440" cy="914400"/>
          </a:xfrm>
          <a:prstGeom prst="rect">
            <a:avLst/>
          </a:prstGeom>
          <a:noFill/>
        </p:spPr>
        <p:txBody>
          <a:bodyPr wrap="square">
            <a:spAutoFit/>
          </a:bodyPr>
          <a:lstStyle/>
          <a:p>
            <a:pPr algn="l">
              <a:defRPr sz="1400" b="0">
                <a:solidFill>
                  <a:srgbClr val="4A4A4A"/>
                </a:solidFill>
                <a:latin typeface="Microsoft YaHei"/>
              </a:defRPr>
            </a:pPr>
            <a:r>
              <a:t>接续奋斗不搞推倒重来，一张蓝图绘到底。</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35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94500"/>
            <a:ext cx="12191695" cy="635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548640" cy="381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38100" cy="54864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643055" y="0"/>
            <a:ext cx="548640" cy="381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153595" y="0"/>
            <a:ext cx="38100" cy="54864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819900"/>
            <a:ext cx="548640" cy="381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309360"/>
            <a:ext cx="38100" cy="54864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643055" y="6819900"/>
            <a:ext cx="548640" cy="3810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153595" y="6309360"/>
            <a:ext cx="38100" cy="548640"/>
          </a:xfrm>
          <a:prstGeom prst="rect">
            <a:avLst/>
          </a:prstGeom>
          <a:solidFill>
            <a:srgbClr val="E8C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5-Point Star 12"/>
          <p:cNvSpPr/>
          <p:nvPr/>
        </p:nvSpPr>
        <p:spPr>
          <a:xfrm>
            <a:off x="5303520" y="822960"/>
            <a:ext cx="1097280" cy="109728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5-Point Star 13"/>
          <p:cNvSpPr/>
          <p:nvPr/>
        </p:nvSpPr>
        <p:spPr>
          <a:xfrm>
            <a:off x="5943600" y="1005840"/>
            <a:ext cx="640080" cy="64008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5-Point Star 14"/>
          <p:cNvSpPr/>
          <p:nvPr/>
        </p:nvSpPr>
        <p:spPr>
          <a:xfrm>
            <a:off x="6400800" y="822960"/>
            <a:ext cx="1097280" cy="109728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5-Point Star 15"/>
          <p:cNvSpPr/>
          <p:nvPr/>
        </p:nvSpPr>
        <p:spPr>
          <a:xfrm>
            <a:off x="7040880" y="1005840"/>
            <a:ext cx="640080" cy="64008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5-Point Star 16"/>
          <p:cNvSpPr/>
          <p:nvPr/>
        </p:nvSpPr>
        <p:spPr>
          <a:xfrm>
            <a:off x="7498079" y="822960"/>
            <a:ext cx="1097280" cy="1097280"/>
          </a:xfrm>
          <a:prstGeom prst="star5">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71600" y="2194560"/>
            <a:ext cx="9418320" cy="1371600"/>
          </a:xfrm>
          <a:prstGeom prst="rect">
            <a:avLst/>
          </a:prstGeom>
          <a:noFill/>
        </p:spPr>
        <p:txBody>
          <a:bodyPr wrap="square">
            <a:spAutoFit/>
          </a:bodyPr>
          <a:lstStyle/>
          <a:p>
            <a:pPr algn="ctr">
              <a:defRPr sz="4200" b="1">
                <a:solidFill>
                  <a:srgbClr val="FFFFFF"/>
                </a:solidFill>
                <a:latin typeface="Microsoft YaHei"/>
              </a:defRPr>
            </a:pPr>
            <a:r>
              <a:t>树立正确政绩观</a:t>
            </a:r>
            <a:br/>
            <a:r>
              <a:t>实干担当建新功</a:t>
            </a:r>
          </a:p>
        </p:txBody>
      </p:sp>
      <p:sp>
        <p:nvSpPr>
          <p:cNvPr id="19" name="Rectangle 18"/>
          <p:cNvSpPr/>
          <p:nvPr/>
        </p:nvSpPr>
        <p:spPr>
          <a:xfrm>
            <a:off x="4572000" y="3749039"/>
            <a:ext cx="301752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828800" y="4114800"/>
            <a:ext cx="8503920" cy="731520"/>
          </a:xfrm>
          <a:prstGeom prst="rect">
            <a:avLst/>
          </a:prstGeom>
          <a:noFill/>
        </p:spPr>
        <p:txBody>
          <a:bodyPr wrap="square">
            <a:spAutoFit/>
          </a:bodyPr>
          <a:lstStyle/>
          <a:p>
            <a:pPr algn="ctr">
              <a:defRPr sz="1800" b="0">
                <a:solidFill>
                  <a:srgbClr val="F5DEB3"/>
                </a:solidFill>
                <a:latin typeface="Microsoft YaHei"/>
              </a:defRPr>
            </a:pPr>
            <a:r>
              <a:t>汇报完毕    谢谢聆听</a:t>
            </a:r>
          </a:p>
        </p:txBody>
      </p:sp>
      <p:sp>
        <p:nvSpPr>
          <p:cNvPr id="21" name="TextBox 20"/>
          <p:cNvSpPr txBox="1"/>
          <p:nvPr/>
        </p:nvSpPr>
        <p:spPr>
          <a:xfrm>
            <a:off x="1828800" y="5303520"/>
            <a:ext cx="8503920" cy="914400"/>
          </a:xfrm>
          <a:prstGeom prst="rect">
            <a:avLst/>
          </a:prstGeom>
          <a:noFill/>
        </p:spPr>
        <p:txBody>
          <a:bodyPr wrap="square">
            <a:spAutoFit/>
          </a:bodyPr>
          <a:lstStyle/>
          <a:p>
            <a:pPr algn="ctr">
              <a:defRPr sz="2200" b="1">
                <a:solidFill>
                  <a:srgbClr val="FFFFFF"/>
                </a:solidFill>
                <a:latin typeface="Microsoft YaHei"/>
              </a:defRPr>
            </a:pPr>
            <a:r>
              <a:t>方案三学习完毕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