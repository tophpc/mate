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CB97EEB0-7C06-42CA-84CB-4AAA0C90C813}"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29AED31-785A-455C-B243-9AF3A1F9FD37}"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5D150CF-BD02-4611-AB6A-4BE02413684D}"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A0BB0AF-063E-4CD9-B3FE-5F23807070D3}"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F6D85D3-B31A-41EA-B495-8956306B0D17}"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08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8333FEC-8C43-4464-89E4-31E0AE31B56D}"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7F53A02-3A19-46FC-96FE-8E9D5C21399B}"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B7DDCA0-D015-4FFA-B8FA-90A10AB01B55}"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043E25F-696A-4D92-8091-51AD7E034102}"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609480" y="1604520"/>
            <a:ext cx="109720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F7CE760E-245F-469E-9EBB-3D7D4C35788D}"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877E2F6F-9FFF-4766-AD32-230C17C0D724}"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609480" y="160452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4319280" y="160452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8028720" y="160452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609480" y="368208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4319280" y="368208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8028720" y="3682080"/>
            <a:ext cx="353268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B11DAD67-001D-41BB-A64D-399236C1B845}"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420625D4-BD86-4906-83DC-1834FE09DE00}" type="slidenum">
              <a:rPr b="0" lang="en-US" sz="1200" spc="-1" strike="noStrike">
                <a:solidFill>
                  <a:srgbClr val="8b8b8b"/>
                </a:solidFill>
                <a:latin typeface="Calibri"/>
              </a:rPr>
              <a:t>&lt;number&gt;</a:t>
            </a:fld>
            <a:endParaRPr b="0" lang="en-US" sz="1200" spc="-1" strike="noStrike">
              <a:latin typeface="Times New Roman"/>
            </a:endParaRPr>
          </a:p>
        </p:txBody>
      </p:sp>
      <p:sp>
        <p:nvSpPr>
          <p:cNvPr id="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Rectangle 1"/>
          <p:cNvSpPr/>
          <p:nvPr/>
        </p:nvSpPr>
        <p:spPr>
          <a:xfrm>
            <a:off x="0" y="0"/>
            <a:ext cx="12191400" cy="68576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 name="Rectangle 2"/>
          <p:cNvSpPr/>
          <p:nvPr/>
        </p:nvSpPr>
        <p:spPr>
          <a:xfrm>
            <a:off x="0" y="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3" name="Rectangle 3"/>
          <p:cNvSpPr/>
          <p:nvPr/>
        </p:nvSpPr>
        <p:spPr>
          <a:xfrm>
            <a:off x="0" y="679464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4" name="Rectangle 4"/>
          <p:cNvSpPr/>
          <p:nvPr/>
        </p:nvSpPr>
        <p:spPr>
          <a:xfrm>
            <a:off x="731520" y="1371600"/>
            <a:ext cx="50400" cy="365724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5" name="Rectangle 5"/>
          <p:cNvSpPr/>
          <p:nvPr/>
        </p:nvSpPr>
        <p:spPr>
          <a:xfrm>
            <a:off x="731520" y="1371600"/>
            <a:ext cx="3657240" cy="252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6" name="5-Point Star 6"/>
          <p:cNvSpPr/>
          <p:nvPr/>
        </p:nvSpPr>
        <p:spPr>
          <a:xfrm>
            <a:off x="5303520" y="731520"/>
            <a:ext cx="914040" cy="91404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7" name="5-Point Star 7"/>
          <p:cNvSpPr/>
          <p:nvPr/>
        </p:nvSpPr>
        <p:spPr>
          <a:xfrm>
            <a:off x="5943600" y="833040"/>
            <a:ext cx="548280" cy="54828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 name="5-Point Star 8"/>
          <p:cNvSpPr/>
          <p:nvPr/>
        </p:nvSpPr>
        <p:spPr>
          <a:xfrm>
            <a:off x="6400800" y="731520"/>
            <a:ext cx="914040" cy="91404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9" name="5-Point Star 9"/>
          <p:cNvSpPr/>
          <p:nvPr/>
        </p:nvSpPr>
        <p:spPr>
          <a:xfrm>
            <a:off x="7040880" y="833040"/>
            <a:ext cx="548280" cy="54828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0" name="5-Point Star 10"/>
          <p:cNvSpPr/>
          <p:nvPr/>
        </p:nvSpPr>
        <p:spPr>
          <a:xfrm>
            <a:off x="7498080" y="731520"/>
            <a:ext cx="914040" cy="91404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1" name="TextBox 11"/>
          <p:cNvSpPr/>
          <p:nvPr/>
        </p:nvSpPr>
        <p:spPr>
          <a:xfrm>
            <a:off x="1371600" y="1371600"/>
            <a:ext cx="9143640" cy="4248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2200" spc="-1" strike="noStrike">
                <a:solidFill>
                  <a:srgbClr val="ffd700"/>
                </a:solidFill>
                <a:latin typeface="Microsoft YaHei"/>
              </a:rPr>
              <a:t>第一套方案</a:t>
            </a:r>
            <a:endParaRPr b="0" lang="en-US" sz="2200" spc="-1" strike="noStrike">
              <a:latin typeface="Arial"/>
            </a:endParaRPr>
          </a:p>
        </p:txBody>
      </p:sp>
      <p:sp>
        <p:nvSpPr>
          <p:cNvPr id="52" name="Rectangle 12"/>
          <p:cNvSpPr/>
          <p:nvPr/>
        </p:nvSpPr>
        <p:spPr>
          <a:xfrm>
            <a:off x="1371600" y="2011680"/>
            <a:ext cx="4571640" cy="252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3" name="TextBox 13"/>
          <p:cNvSpPr/>
          <p:nvPr/>
        </p:nvSpPr>
        <p:spPr>
          <a:xfrm>
            <a:off x="1371600" y="2377440"/>
            <a:ext cx="9600840" cy="6991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4000" spc="-1" strike="noStrike">
                <a:solidFill>
                  <a:srgbClr val="ffffff"/>
                </a:solidFill>
                <a:latin typeface="Microsoft YaHei"/>
              </a:rPr>
              <a:t>树立践行正确政绩观</a:t>
            </a:r>
            <a:endParaRPr b="0" lang="en-US" sz="4000" spc="-1" strike="noStrike">
              <a:latin typeface="Arial"/>
            </a:endParaRPr>
          </a:p>
        </p:txBody>
      </p:sp>
      <p:sp>
        <p:nvSpPr>
          <p:cNvPr id="54" name="TextBox 14"/>
          <p:cNvSpPr/>
          <p:nvPr/>
        </p:nvSpPr>
        <p:spPr>
          <a:xfrm>
            <a:off x="1371600" y="3383280"/>
            <a:ext cx="9600840" cy="6991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4000" spc="-1" strike="noStrike">
                <a:solidFill>
                  <a:srgbClr val="ffffff"/>
                </a:solidFill>
                <a:latin typeface="Microsoft YaHei"/>
              </a:rPr>
              <a:t>砥砺实干勇担当</a:t>
            </a:r>
            <a:endParaRPr b="0" lang="en-US" sz="4000" spc="-1" strike="noStrike">
              <a:latin typeface="Arial"/>
            </a:endParaRPr>
          </a:p>
        </p:txBody>
      </p:sp>
      <p:sp>
        <p:nvSpPr>
          <p:cNvPr id="55" name="TextBox 15"/>
          <p:cNvSpPr/>
          <p:nvPr/>
        </p:nvSpPr>
        <p:spPr>
          <a:xfrm>
            <a:off x="1371600" y="4572000"/>
            <a:ext cx="914364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2000" spc="-1" strike="noStrike">
                <a:solidFill>
                  <a:srgbClr val="f5deb3"/>
                </a:solidFill>
                <a:latin typeface="Microsoft YaHei"/>
              </a:rPr>
              <a:t>专题学习《习近平关于树立和践行正确政绩观论述摘编》</a:t>
            </a:r>
            <a:endParaRPr b="0" lang="en-US" sz="2000" spc="-1" strike="noStrike">
              <a:latin typeface="Arial"/>
            </a:endParaRPr>
          </a:p>
        </p:txBody>
      </p:sp>
      <p:sp>
        <p:nvSpPr>
          <p:cNvPr id="56" name="Rectangle 16"/>
          <p:cNvSpPr/>
          <p:nvPr/>
        </p:nvSpPr>
        <p:spPr>
          <a:xfrm>
            <a:off x="1371600" y="5577840"/>
            <a:ext cx="2742840" cy="252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7" name="TextBox 17"/>
          <p:cNvSpPr/>
          <p:nvPr/>
        </p:nvSpPr>
        <p:spPr>
          <a:xfrm>
            <a:off x="1371600" y="5806440"/>
            <a:ext cx="457164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ffffff"/>
                </a:solidFill>
                <a:latin typeface="Microsoft YaHei"/>
              </a:rPr>
              <a:t>XXX</a:t>
            </a:r>
            <a:r>
              <a:rPr b="0" lang="zh-CN" sz="1600" spc="-1" strike="noStrike">
                <a:solidFill>
                  <a:srgbClr val="ffffff"/>
                </a:solidFill>
                <a:latin typeface="Microsoft YaHei"/>
              </a:rPr>
              <a:t>单位    </a:t>
            </a:r>
            <a:r>
              <a:rPr b="0" lang="en-US" sz="1600" spc="-1" strike="noStrike">
                <a:solidFill>
                  <a:srgbClr val="ffffff"/>
                </a:solidFill>
                <a:latin typeface="Microsoft YaHei"/>
              </a:rPr>
              <a:t>XXXX</a:t>
            </a:r>
            <a:r>
              <a:rPr b="0" lang="zh-CN" sz="1600" spc="-1" strike="noStrike">
                <a:solidFill>
                  <a:srgbClr val="ffffff"/>
                </a:solidFill>
                <a:latin typeface="Microsoft YaHei"/>
              </a:rPr>
              <a:t>年</a:t>
            </a:r>
            <a:r>
              <a:rPr b="0" lang="en-US" sz="1600" spc="-1" strike="noStrike">
                <a:solidFill>
                  <a:srgbClr val="ffffff"/>
                </a:solidFill>
                <a:latin typeface="Microsoft YaHei"/>
              </a:rPr>
              <a:t>XX</a:t>
            </a:r>
            <a:r>
              <a:rPr b="0" lang="zh-CN" sz="1600" spc="-1" strike="noStrike">
                <a:solidFill>
                  <a:srgbClr val="ffffff"/>
                </a:solidFill>
                <a:latin typeface="Microsoft YaHei"/>
              </a:rPr>
              <a:t>月</a:t>
            </a:r>
            <a:endParaRPr b="0" lang="en-US" sz="1600" spc="-1" strike="noStrike">
              <a:latin typeface="Arial"/>
            </a:endParaRPr>
          </a:p>
        </p:txBody>
      </p:sp>
      <p:sp>
        <p:nvSpPr>
          <p:cNvPr id="58" name="Rectangle 18"/>
          <p:cNvSpPr/>
          <p:nvPr/>
        </p:nvSpPr>
        <p:spPr>
          <a:xfrm>
            <a:off x="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9" name="Rectangle 19"/>
          <p:cNvSpPr/>
          <p:nvPr/>
        </p:nvSpPr>
        <p:spPr>
          <a:xfrm>
            <a:off x="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0" name="Rectangle 20"/>
          <p:cNvSpPr/>
          <p:nvPr/>
        </p:nvSpPr>
        <p:spPr>
          <a:xfrm>
            <a:off x="1164312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1" name="Rectangle 21"/>
          <p:cNvSpPr/>
          <p:nvPr/>
        </p:nvSpPr>
        <p:spPr>
          <a:xfrm>
            <a:off x="1215360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2" name="Rectangle 22"/>
          <p:cNvSpPr/>
          <p:nvPr/>
        </p:nvSpPr>
        <p:spPr>
          <a:xfrm>
            <a:off x="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3" name="Rectangle 23"/>
          <p:cNvSpPr/>
          <p:nvPr/>
        </p:nvSpPr>
        <p:spPr>
          <a:xfrm>
            <a:off x="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4" name="Rectangle 24"/>
          <p:cNvSpPr/>
          <p:nvPr/>
        </p:nvSpPr>
        <p:spPr>
          <a:xfrm>
            <a:off x="1164312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5" name="Rectangle 25"/>
          <p:cNvSpPr/>
          <p:nvPr/>
        </p:nvSpPr>
        <p:spPr>
          <a:xfrm>
            <a:off x="1215360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7" name="Rectangle 2"/>
          <p:cNvSpPr/>
          <p:nvPr/>
        </p:nvSpPr>
        <p:spPr>
          <a:xfrm>
            <a:off x="0" y="0"/>
            <a:ext cx="12191400" cy="100548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8" name="Rectangle 3"/>
          <p:cNvSpPr/>
          <p:nvPr/>
        </p:nvSpPr>
        <p:spPr>
          <a:xfrm>
            <a:off x="0" y="1005840"/>
            <a:ext cx="12191400" cy="504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69" name="TextBox 4"/>
          <p:cNvSpPr/>
          <p:nvPr/>
        </p:nvSpPr>
        <p:spPr>
          <a:xfrm>
            <a:off x="731520" y="182880"/>
            <a:ext cx="457164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600" spc="-1" strike="noStrike">
                <a:solidFill>
                  <a:srgbClr val="ffffff"/>
                </a:solidFill>
                <a:latin typeface="Microsoft YaHei"/>
              </a:rPr>
              <a:t>目  录</a:t>
            </a:r>
            <a:endParaRPr b="0" lang="en-US" sz="3600" spc="-1" strike="noStrike">
              <a:latin typeface="Arial"/>
            </a:endParaRPr>
          </a:p>
        </p:txBody>
      </p:sp>
      <p:sp>
        <p:nvSpPr>
          <p:cNvPr id="70" name="TextBox 5"/>
          <p:cNvSpPr/>
          <p:nvPr/>
        </p:nvSpPr>
        <p:spPr>
          <a:xfrm>
            <a:off x="7772400" y="274320"/>
            <a:ext cx="3657240" cy="3027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400" spc="-1" strike="noStrike">
                <a:solidFill>
                  <a:srgbClr val="f5deb3"/>
                </a:solidFill>
                <a:latin typeface="Microsoft YaHei"/>
              </a:rPr>
              <a:t>方案一：树立和践行正确政绩观</a:t>
            </a:r>
            <a:endParaRPr b="0" lang="en-US" sz="1400" spc="-1" strike="noStrike">
              <a:latin typeface="Arial"/>
            </a:endParaRPr>
          </a:p>
        </p:txBody>
      </p:sp>
      <p:sp>
        <p:nvSpPr>
          <p:cNvPr id="71" name="Rounded Rectangle 6"/>
          <p:cNvSpPr/>
          <p:nvPr/>
        </p:nvSpPr>
        <p:spPr>
          <a:xfrm>
            <a:off x="1097280" y="146304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2" name="Rectangle 7"/>
          <p:cNvSpPr/>
          <p:nvPr/>
        </p:nvSpPr>
        <p:spPr>
          <a:xfrm>
            <a:off x="1097280" y="146304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3" name="Oval 8"/>
          <p:cNvSpPr/>
          <p:nvPr/>
        </p:nvSpPr>
        <p:spPr>
          <a:xfrm>
            <a:off x="1417320" y="156456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1</a:t>
            </a:r>
            <a:endParaRPr b="0" lang="en-US" sz="1600" spc="-1" strike="noStrike">
              <a:latin typeface="Arial"/>
            </a:endParaRPr>
          </a:p>
        </p:txBody>
      </p:sp>
      <p:sp>
        <p:nvSpPr>
          <p:cNvPr id="74" name="TextBox 9"/>
          <p:cNvSpPr/>
          <p:nvPr/>
        </p:nvSpPr>
        <p:spPr>
          <a:xfrm>
            <a:off x="2011680" y="152640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前言概述</a:t>
            </a:r>
            <a:endParaRPr b="0" lang="en-US" sz="1800" spc="-1" strike="noStrike">
              <a:latin typeface="Arial"/>
            </a:endParaRPr>
          </a:p>
        </p:txBody>
      </p:sp>
      <p:sp>
        <p:nvSpPr>
          <p:cNvPr id="75" name="Rounded Rectangle 10"/>
          <p:cNvSpPr/>
          <p:nvPr/>
        </p:nvSpPr>
        <p:spPr>
          <a:xfrm>
            <a:off x="1097280" y="224028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6" name="Rectangle 11"/>
          <p:cNvSpPr/>
          <p:nvPr/>
        </p:nvSpPr>
        <p:spPr>
          <a:xfrm>
            <a:off x="1097280" y="224028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77" name="Oval 12"/>
          <p:cNvSpPr/>
          <p:nvPr/>
        </p:nvSpPr>
        <p:spPr>
          <a:xfrm>
            <a:off x="1417320" y="234180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2</a:t>
            </a:r>
            <a:endParaRPr b="0" lang="en-US" sz="1600" spc="-1" strike="noStrike">
              <a:latin typeface="Arial"/>
            </a:endParaRPr>
          </a:p>
        </p:txBody>
      </p:sp>
      <p:sp>
        <p:nvSpPr>
          <p:cNvPr id="78" name="TextBox 13"/>
          <p:cNvSpPr/>
          <p:nvPr/>
        </p:nvSpPr>
        <p:spPr>
          <a:xfrm>
            <a:off x="2011680" y="230364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正确政绩观核心内涵</a:t>
            </a:r>
            <a:endParaRPr b="0" lang="en-US" sz="1800" spc="-1" strike="noStrike">
              <a:latin typeface="Arial"/>
            </a:endParaRPr>
          </a:p>
        </p:txBody>
      </p:sp>
      <p:sp>
        <p:nvSpPr>
          <p:cNvPr id="79" name="Rounded Rectangle 14"/>
          <p:cNvSpPr/>
          <p:nvPr/>
        </p:nvSpPr>
        <p:spPr>
          <a:xfrm>
            <a:off x="1097280" y="301752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0" name="Rectangle 15"/>
          <p:cNvSpPr/>
          <p:nvPr/>
        </p:nvSpPr>
        <p:spPr>
          <a:xfrm>
            <a:off x="1097280" y="301752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1" name="Oval 16"/>
          <p:cNvSpPr/>
          <p:nvPr/>
        </p:nvSpPr>
        <p:spPr>
          <a:xfrm>
            <a:off x="1417320" y="311904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3</a:t>
            </a:r>
            <a:endParaRPr b="0" lang="en-US" sz="1600" spc="-1" strike="noStrike">
              <a:latin typeface="Arial"/>
            </a:endParaRPr>
          </a:p>
        </p:txBody>
      </p:sp>
      <p:sp>
        <p:nvSpPr>
          <p:cNvPr id="82" name="TextBox 17"/>
          <p:cNvSpPr/>
          <p:nvPr/>
        </p:nvSpPr>
        <p:spPr>
          <a:xfrm>
            <a:off x="2011680" y="308088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践行正确政绩观根本要求</a:t>
            </a:r>
            <a:endParaRPr b="0" lang="en-US" sz="1800" spc="-1" strike="noStrike">
              <a:latin typeface="Arial"/>
            </a:endParaRPr>
          </a:p>
        </p:txBody>
      </p:sp>
      <p:sp>
        <p:nvSpPr>
          <p:cNvPr id="83" name="Rounded Rectangle 18"/>
          <p:cNvSpPr/>
          <p:nvPr/>
        </p:nvSpPr>
        <p:spPr>
          <a:xfrm>
            <a:off x="6675120" y="146304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4" name="Rectangle 19"/>
          <p:cNvSpPr/>
          <p:nvPr/>
        </p:nvSpPr>
        <p:spPr>
          <a:xfrm>
            <a:off x="6675120" y="146304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5" name="Oval 20"/>
          <p:cNvSpPr/>
          <p:nvPr/>
        </p:nvSpPr>
        <p:spPr>
          <a:xfrm>
            <a:off x="6995160" y="156456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4</a:t>
            </a:r>
            <a:endParaRPr b="0" lang="en-US" sz="1600" spc="-1" strike="noStrike">
              <a:latin typeface="Arial"/>
            </a:endParaRPr>
          </a:p>
        </p:txBody>
      </p:sp>
      <p:sp>
        <p:nvSpPr>
          <p:cNvPr id="86" name="TextBox 21"/>
          <p:cNvSpPr/>
          <p:nvPr/>
        </p:nvSpPr>
        <p:spPr>
          <a:xfrm>
            <a:off x="7589520" y="152640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坚决纠治错误政绩观</a:t>
            </a:r>
            <a:endParaRPr b="0" lang="en-US" sz="1800" spc="-1" strike="noStrike">
              <a:latin typeface="Arial"/>
            </a:endParaRPr>
          </a:p>
        </p:txBody>
      </p:sp>
      <p:sp>
        <p:nvSpPr>
          <p:cNvPr id="87" name="Rounded Rectangle 22"/>
          <p:cNvSpPr/>
          <p:nvPr/>
        </p:nvSpPr>
        <p:spPr>
          <a:xfrm>
            <a:off x="6675120" y="224028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8" name="Rectangle 23"/>
          <p:cNvSpPr/>
          <p:nvPr/>
        </p:nvSpPr>
        <p:spPr>
          <a:xfrm>
            <a:off x="6675120" y="224028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9" name="Oval 24"/>
          <p:cNvSpPr/>
          <p:nvPr/>
        </p:nvSpPr>
        <p:spPr>
          <a:xfrm>
            <a:off x="6995160" y="234180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5</a:t>
            </a:r>
            <a:endParaRPr b="0" lang="en-US" sz="1600" spc="-1" strike="noStrike">
              <a:latin typeface="Arial"/>
            </a:endParaRPr>
          </a:p>
        </p:txBody>
      </p:sp>
      <p:sp>
        <p:nvSpPr>
          <p:cNvPr id="90" name="TextBox 25"/>
          <p:cNvSpPr/>
          <p:nvPr/>
        </p:nvSpPr>
        <p:spPr>
          <a:xfrm>
            <a:off x="7589520" y="230364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结合实际抓好贯彻落实</a:t>
            </a:r>
            <a:endParaRPr b="0" lang="en-US" sz="1800" spc="-1" strike="noStrike">
              <a:latin typeface="Arial"/>
            </a:endParaRPr>
          </a:p>
        </p:txBody>
      </p:sp>
      <p:sp>
        <p:nvSpPr>
          <p:cNvPr id="91" name="Rounded Rectangle 26"/>
          <p:cNvSpPr/>
          <p:nvPr/>
        </p:nvSpPr>
        <p:spPr>
          <a:xfrm>
            <a:off x="6675120" y="301752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2" name="Rectangle 27"/>
          <p:cNvSpPr/>
          <p:nvPr/>
        </p:nvSpPr>
        <p:spPr>
          <a:xfrm>
            <a:off x="6675120" y="301752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3" name="Oval 28"/>
          <p:cNvSpPr/>
          <p:nvPr/>
        </p:nvSpPr>
        <p:spPr>
          <a:xfrm>
            <a:off x="6995160" y="311904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6</a:t>
            </a:r>
            <a:endParaRPr b="0" lang="en-US" sz="1600" spc="-1" strike="noStrike">
              <a:latin typeface="Arial"/>
            </a:endParaRPr>
          </a:p>
        </p:txBody>
      </p:sp>
      <p:sp>
        <p:nvSpPr>
          <p:cNvPr id="94" name="TextBox 29"/>
          <p:cNvSpPr/>
          <p:nvPr/>
        </p:nvSpPr>
        <p:spPr>
          <a:xfrm>
            <a:off x="7589520" y="308088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学习总结</a:t>
            </a:r>
            <a:endParaRPr b="0" lang="en-US" sz="1800" spc="-1" strike="noStrike">
              <a:latin typeface="Arial"/>
            </a:endParaRPr>
          </a:p>
        </p:txBody>
      </p:sp>
      <p:sp>
        <p:nvSpPr>
          <p:cNvPr id="95" name="Rectangle 30"/>
          <p:cNvSpPr/>
          <p:nvPr/>
        </p:nvSpPr>
        <p:spPr>
          <a:xfrm>
            <a:off x="1097280" y="4572000"/>
            <a:ext cx="10058040" cy="12240"/>
          </a:xfrm>
          <a:prstGeom prst="rect">
            <a:avLst/>
          </a:prstGeom>
          <a:solidFill>
            <a:srgbClr val="e0d0a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6" name="TextBox 31"/>
          <p:cNvSpPr/>
          <p:nvPr/>
        </p:nvSpPr>
        <p:spPr>
          <a:xfrm>
            <a:off x="1097280" y="4709160"/>
            <a:ext cx="1005804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zh-CN" sz="1400" spc="-1" strike="noStrike">
                <a:solidFill>
                  <a:srgbClr val="4a4a4a"/>
                </a:solidFill>
                <a:latin typeface="Microsoft YaHei"/>
              </a:rPr>
              <a:t>专题学习 • 深刻领会 • 贯彻落实</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8"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9"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0" name="Rectangle 4"/>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1" name="TextBox 5"/>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一、前言概述</a:t>
            </a:r>
            <a:endParaRPr b="0" lang="en-US" sz="3000" spc="-1" strike="noStrike">
              <a:latin typeface="Arial"/>
            </a:endParaRPr>
          </a:p>
        </p:txBody>
      </p:sp>
      <p:sp>
        <p:nvSpPr>
          <p:cNvPr id="102" name="TextBox 6"/>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3</a:t>
            </a:r>
            <a:endParaRPr b="0" lang="en-US" sz="1400" spc="-1" strike="noStrike">
              <a:latin typeface="Arial"/>
            </a:endParaRPr>
          </a:p>
        </p:txBody>
      </p:sp>
      <p:sp>
        <p:nvSpPr>
          <p:cNvPr id="103" name="TextBox 7"/>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方案一</a:t>
            </a:r>
            <a:endParaRPr b="0" lang="en-US" sz="1100" spc="-1" strike="noStrike">
              <a:latin typeface="Arial"/>
            </a:endParaRPr>
          </a:p>
        </p:txBody>
      </p:sp>
      <p:sp>
        <p:nvSpPr>
          <p:cNvPr id="104" name="Rectangle 8"/>
          <p:cNvSpPr/>
          <p:nvPr/>
        </p:nvSpPr>
        <p:spPr>
          <a:xfrm>
            <a:off x="1097280" y="1407240"/>
            <a:ext cx="50400" cy="63972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5" name="TextBox 9"/>
          <p:cNvSpPr/>
          <p:nvPr/>
        </p:nvSpPr>
        <p:spPr>
          <a:xfrm>
            <a:off x="1463040" y="1280160"/>
            <a:ext cx="960084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1800" spc="-1" strike="noStrike">
                <a:solidFill>
                  <a:srgbClr val="2d2d2d"/>
                </a:solidFill>
                <a:latin typeface="Microsoft YaHei"/>
              </a:rPr>
              <a:t>《习近平关于树立和践行正确政绩观论述摘编》，收录总书记近年来关于政绩观重要讲话、指示批示内容，深刻回答政绩为谁而树、树什么样政绩、靠什么树政绩重大问题。</a:t>
            </a:r>
            <a:endParaRPr b="0" lang="en-US" sz="1800" spc="-1" strike="noStrike">
              <a:latin typeface="Arial"/>
            </a:endParaRPr>
          </a:p>
        </p:txBody>
      </p:sp>
      <p:sp>
        <p:nvSpPr>
          <p:cNvPr id="106" name="Rectangle 10"/>
          <p:cNvSpPr/>
          <p:nvPr/>
        </p:nvSpPr>
        <p:spPr>
          <a:xfrm>
            <a:off x="1097280" y="2504520"/>
            <a:ext cx="50400" cy="63972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7" name="TextBox 11"/>
          <p:cNvSpPr/>
          <p:nvPr/>
        </p:nvSpPr>
        <p:spPr>
          <a:xfrm>
            <a:off x="1463040" y="2377440"/>
            <a:ext cx="960084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1800" spc="-1" strike="noStrike">
                <a:solidFill>
                  <a:srgbClr val="2d2d2d"/>
                </a:solidFill>
                <a:latin typeface="Microsoft YaHei"/>
              </a:rPr>
              <a:t>引导全体党员干部坚守初心使命，端正干事导向，摒弃功利思想，始终求真务实、真抓实干，创造经得起实践、人民、历史检验的政绩。</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9"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0"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1" name="TextBox 4"/>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二、正确政绩观核心内涵</a:t>
            </a:r>
            <a:endParaRPr b="0" lang="en-US" sz="3000" spc="-1" strike="noStrike">
              <a:latin typeface="Arial"/>
            </a:endParaRPr>
          </a:p>
        </p:txBody>
      </p:sp>
      <p:sp>
        <p:nvSpPr>
          <p:cNvPr id="112" name="TextBox 5"/>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4</a:t>
            </a:r>
            <a:endParaRPr b="0" lang="en-US" sz="1400" spc="-1" strike="noStrike">
              <a:latin typeface="Arial"/>
            </a:endParaRPr>
          </a:p>
        </p:txBody>
      </p:sp>
      <p:sp>
        <p:nvSpPr>
          <p:cNvPr id="113" name="TextBox 6"/>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方案一</a:t>
            </a:r>
            <a:endParaRPr b="0" lang="en-US" sz="1100" spc="-1" strike="noStrike">
              <a:latin typeface="Arial"/>
            </a:endParaRPr>
          </a:p>
        </p:txBody>
      </p:sp>
      <p:sp>
        <p:nvSpPr>
          <p:cNvPr id="114" name="Rectangle 7"/>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5" name="Rounded Rectangle 8"/>
          <p:cNvSpPr/>
          <p:nvPr/>
        </p:nvSpPr>
        <p:spPr>
          <a:xfrm>
            <a:off x="914400" y="1188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6" name="Rectangle 9"/>
          <p:cNvSpPr/>
          <p:nvPr/>
        </p:nvSpPr>
        <p:spPr>
          <a:xfrm>
            <a:off x="914400" y="1188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7" name="Oval 10"/>
          <p:cNvSpPr/>
          <p:nvPr/>
        </p:nvSpPr>
        <p:spPr>
          <a:xfrm>
            <a:off x="1188720" y="1315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1</a:t>
            </a:r>
            <a:endParaRPr b="0" lang="en-US" sz="1400" spc="-1" strike="noStrike">
              <a:latin typeface="Arial"/>
            </a:endParaRPr>
          </a:p>
        </p:txBody>
      </p:sp>
      <p:sp>
        <p:nvSpPr>
          <p:cNvPr id="118" name="TextBox 11"/>
          <p:cNvSpPr/>
          <p:nvPr/>
        </p:nvSpPr>
        <p:spPr>
          <a:xfrm>
            <a:off x="1737360" y="1252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党性决定政绩观</a:t>
            </a:r>
            <a:r>
              <a:rPr b="0" lang="en-US" sz="1500" spc="-1" strike="noStrike">
                <a:solidFill>
                  <a:srgbClr val="4a4a4a"/>
                </a:solidFill>
                <a:latin typeface="Microsoft YaHei"/>
              </a:rPr>
              <a:t>     ——  政绩观是世界观、价值观的体现，党性强则政绩观正。</a:t>
            </a:r>
            <a:endParaRPr b="0" lang="en-US" sz="1500" spc="-1" strike="noStrike">
              <a:latin typeface="Arial"/>
            </a:endParaRPr>
          </a:p>
        </p:txBody>
      </p:sp>
      <p:sp>
        <p:nvSpPr>
          <p:cNvPr id="119" name="Rounded Rectangle 12"/>
          <p:cNvSpPr/>
          <p:nvPr/>
        </p:nvSpPr>
        <p:spPr>
          <a:xfrm>
            <a:off x="914400" y="2331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0" name="Rectangle 13"/>
          <p:cNvSpPr/>
          <p:nvPr/>
        </p:nvSpPr>
        <p:spPr>
          <a:xfrm>
            <a:off x="914400" y="2331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1" name="Oval 14"/>
          <p:cNvSpPr/>
          <p:nvPr/>
        </p:nvSpPr>
        <p:spPr>
          <a:xfrm>
            <a:off x="1188720" y="2458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2</a:t>
            </a:r>
            <a:endParaRPr b="0" lang="en-US" sz="1400" spc="-1" strike="noStrike">
              <a:latin typeface="Arial"/>
            </a:endParaRPr>
          </a:p>
        </p:txBody>
      </p:sp>
      <p:sp>
        <p:nvSpPr>
          <p:cNvPr id="122" name="TextBox 15"/>
          <p:cNvSpPr/>
          <p:nvPr/>
        </p:nvSpPr>
        <p:spPr>
          <a:xfrm>
            <a:off x="1737360" y="2395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为民造福是最大政绩</a:t>
            </a:r>
            <a:r>
              <a:rPr b="0" lang="en-US" sz="1500" spc="-1" strike="noStrike">
                <a:solidFill>
                  <a:srgbClr val="4a4a4a"/>
                </a:solidFill>
                <a:latin typeface="Microsoft YaHei"/>
              </a:rPr>
              <a:t>     ——  始终坚持以人民为中心，把群众利益放在首位。</a:t>
            </a:r>
            <a:endParaRPr b="0" lang="en-US" sz="1500" spc="-1" strike="noStrike">
              <a:latin typeface="Arial"/>
            </a:endParaRPr>
          </a:p>
        </p:txBody>
      </p:sp>
      <p:sp>
        <p:nvSpPr>
          <p:cNvPr id="123" name="Rounded Rectangle 16"/>
          <p:cNvSpPr/>
          <p:nvPr/>
        </p:nvSpPr>
        <p:spPr>
          <a:xfrm>
            <a:off x="914400" y="3474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4" name="Rectangle 17"/>
          <p:cNvSpPr/>
          <p:nvPr/>
        </p:nvSpPr>
        <p:spPr>
          <a:xfrm>
            <a:off x="914400" y="3474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5" name="Oval 18"/>
          <p:cNvSpPr/>
          <p:nvPr/>
        </p:nvSpPr>
        <p:spPr>
          <a:xfrm>
            <a:off x="1188720" y="3601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3</a:t>
            </a:r>
            <a:endParaRPr b="0" lang="en-US" sz="1400" spc="-1" strike="noStrike">
              <a:latin typeface="Arial"/>
            </a:endParaRPr>
          </a:p>
        </p:txBody>
      </p:sp>
      <p:sp>
        <p:nvSpPr>
          <p:cNvPr id="126" name="TextBox 19"/>
          <p:cNvSpPr/>
          <p:nvPr/>
        </p:nvSpPr>
        <p:spPr>
          <a:xfrm>
            <a:off x="1737360" y="3538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坚持辩证思维</a:t>
            </a:r>
            <a:r>
              <a:rPr b="0" lang="en-US" sz="1500" spc="-1" strike="noStrike">
                <a:solidFill>
                  <a:srgbClr val="4a4a4a"/>
                </a:solidFill>
                <a:latin typeface="Microsoft YaHei"/>
              </a:rPr>
              <a:t>     ——  分清显功与潜功、当前与长远、局部与全局关系。</a:t>
            </a:r>
            <a:endParaRPr b="0" lang="en-US" sz="1500" spc="-1" strike="noStrike">
              <a:latin typeface="Arial"/>
            </a:endParaRPr>
          </a:p>
        </p:txBody>
      </p:sp>
      <p:sp>
        <p:nvSpPr>
          <p:cNvPr id="127" name="Rounded Rectangle 20"/>
          <p:cNvSpPr/>
          <p:nvPr/>
        </p:nvSpPr>
        <p:spPr>
          <a:xfrm>
            <a:off x="914400" y="4617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8" name="Rectangle 21"/>
          <p:cNvSpPr/>
          <p:nvPr/>
        </p:nvSpPr>
        <p:spPr>
          <a:xfrm>
            <a:off x="914400" y="4617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9" name="Oval 22"/>
          <p:cNvSpPr/>
          <p:nvPr/>
        </p:nvSpPr>
        <p:spPr>
          <a:xfrm>
            <a:off x="1188720" y="4744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4</a:t>
            </a:r>
            <a:endParaRPr b="0" lang="en-US" sz="1400" spc="-1" strike="noStrike">
              <a:latin typeface="Arial"/>
            </a:endParaRPr>
          </a:p>
        </p:txBody>
      </p:sp>
      <p:sp>
        <p:nvSpPr>
          <p:cNvPr id="130" name="TextBox 23"/>
          <p:cNvSpPr/>
          <p:nvPr/>
        </p:nvSpPr>
        <p:spPr>
          <a:xfrm>
            <a:off x="1737360" y="4681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坚守发展导向</a:t>
            </a:r>
            <a:r>
              <a:rPr b="0" lang="en-US" sz="1500" spc="-1" strike="noStrike">
                <a:solidFill>
                  <a:srgbClr val="4a4a4a"/>
                </a:solidFill>
                <a:latin typeface="Microsoft YaHei"/>
              </a:rPr>
              <a:t>     ——  完整贯彻新发展理念，推动高质量发展。</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2"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3"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4" name="TextBox 4"/>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三、践行正确政绩观根本要求</a:t>
            </a:r>
            <a:endParaRPr b="0" lang="en-US" sz="3000" spc="-1" strike="noStrike">
              <a:latin typeface="Arial"/>
            </a:endParaRPr>
          </a:p>
        </p:txBody>
      </p:sp>
      <p:sp>
        <p:nvSpPr>
          <p:cNvPr id="135" name="TextBox 5"/>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5</a:t>
            </a:r>
            <a:endParaRPr b="0" lang="en-US" sz="1400" spc="-1" strike="noStrike">
              <a:latin typeface="Arial"/>
            </a:endParaRPr>
          </a:p>
        </p:txBody>
      </p:sp>
      <p:sp>
        <p:nvSpPr>
          <p:cNvPr id="136" name="TextBox 6"/>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方案一</a:t>
            </a:r>
            <a:endParaRPr b="0" lang="en-US" sz="1100" spc="-1" strike="noStrike">
              <a:latin typeface="Arial"/>
            </a:endParaRPr>
          </a:p>
        </p:txBody>
      </p:sp>
      <p:sp>
        <p:nvSpPr>
          <p:cNvPr id="137" name="Rectangle 7"/>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8" name="Rounded Rectangle 8"/>
          <p:cNvSpPr/>
          <p:nvPr/>
        </p:nvSpPr>
        <p:spPr>
          <a:xfrm>
            <a:off x="914400" y="1188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9" name="Rectangle 9"/>
          <p:cNvSpPr/>
          <p:nvPr/>
        </p:nvSpPr>
        <p:spPr>
          <a:xfrm>
            <a:off x="914400" y="1188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0" name="Oval 10"/>
          <p:cNvSpPr/>
          <p:nvPr/>
        </p:nvSpPr>
        <p:spPr>
          <a:xfrm>
            <a:off x="1188720" y="1315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1</a:t>
            </a:r>
            <a:endParaRPr b="0" lang="en-US" sz="1400" spc="-1" strike="noStrike">
              <a:latin typeface="Arial"/>
            </a:endParaRPr>
          </a:p>
        </p:txBody>
      </p:sp>
      <p:sp>
        <p:nvSpPr>
          <p:cNvPr id="141" name="TextBox 11"/>
          <p:cNvSpPr/>
          <p:nvPr/>
        </p:nvSpPr>
        <p:spPr>
          <a:xfrm>
            <a:off x="1737360" y="1252080"/>
            <a:ext cx="9143640" cy="577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坚定理想信念，筑牢思想根基</a:t>
            </a:r>
            <a:r>
              <a:rPr b="0" lang="en-US" sz="1500" spc="-1" strike="noStrike">
                <a:solidFill>
                  <a:srgbClr val="4a4a4a"/>
                </a:solidFill>
                <a:latin typeface="Microsoft YaHei"/>
              </a:rPr>
              <a:t>     ——  把理论学习常态化，补足精神之钙，始终对党忠诚，端正干事创业出发点。</a:t>
            </a:r>
            <a:endParaRPr b="0" lang="en-US" sz="1500" spc="-1" strike="noStrike">
              <a:latin typeface="Arial"/>
            </a:endParaRPr>
          </a:p>
        </p:txBody>
      </p:sp>
      <p:sp>
        <p:nvSpPr>
          <p:cNvPr id="142" name="Rounded Rectangle 12"/>
          <p:cNvSpPr/>
          <p:nvPr/>
        </p:nvSpPr>
        <p:spPr>
          <a:xfrm>
            <a:off x="914400" y="2331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3" name="Rectangle 13"/>
          <p:cNvSpPr/>
          <p:nvPr/>
        </p:nvSpPr>
        <p:spPr>
          <a:xfrm>
            <a:off x="914400" y="2331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4" name="Oval 14"/>
          <p:cNvSpPr/>
          <p:nvPr/>
        </p:nvSpPr>
        <p:spPr>
          <a:xfrm>
            <a:off x="1188720" y="2458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2</a:t>
            </a:r>
            <a:endParaRPr b="0" lang="en-US" sz="1400" spc="-1" strike="noStrike">
              <a:latin typeface="Arial"/>
            </a:endParaRPr>
          </a:p>
        </p:txBody>
      </p:sp>
      <p:sp>
        <p:nvSpPr>
          <p:cNvPr id="145" name="TextBox 15"/>
          <p:cNvSpPr/>
          <p:nvPr/>
        </p:nvSpPr>
        <p:spPr>
          <a:xfrm>
            <a:off x="1737360" y="2395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站稳人民立场，厚植为民情怀</a:t>
            </a:r>
            <a:r>
              <a:rPr b="0" lang="en-US" sz="1500" spc="-1" strike="noStrike">
                <a:solidFill>
                  <a:srgbClr val="4a4a4a"/>
                </a:solidFill>
                <a:latin typeface="Microsoft YaHei"/>
              </a:rPr>
              <a:t>     ——  用心解决群众急难愁盼问题，多做惠民利民实事。</a:t>
            </a:r>
            <a:endParaRPr b="0" lang="en-US" sz="1500" spc="-1" strike="noStrike">
              <a:latin typeface="Arial"/>
            </a:endParaRPr>
          </a:p>
        </p:txBody>
      </p:sp>
      <p:sp>
        <p:nvSpPr>
          <p:cNvPr id="146" name="Rounded Rectangle 16"/>
          <p:cNvSpPr/>
          <p:nvPr/>
        </p:nvSpPr>
        <p:spPr>
          <a:xfrm>
            <a:off x="914400" y="3474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7" name="Rectangle 17"/>
          <p:cNvSpPr/>
          <p:nvPr/>
        </p:nvSpPr>
        <p:spPr>
          <a:xfrm>
            <a:off x="914400" y="3474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8" name="Oval 18"/>
          <p:cNvSpPr/>
          <p:nvPr/>
        </p:nvSpPr>
        <p:spPr>
          <a:xfrm>
            <a:off x="1188720" y="3601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3</a:t>
            </a:r>
            <a:endParaRPr b="0" lang="en-US" sz="1400" spc="-1" strike="noStrike">
              <a:latin typeface="Arial"/>
            </a:endParaRPr>
          </a:p>
        </p:txBody>
      </p:sp>
      <p:sp>
        <p:nvSpPr>
          <p:cNvPr id="149" name="TextBox 19"/>
          <p:cNvSpPr/>
          <p:nvPr/>
        </p:nvSpPr>
        <p:spPr>
          <a:xfrm>
            <a:off x="1737360" y="3538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坚持实事求是，力戒浮躁功利</a:t>
            </a:r>
            <a:r>
              <a:rPr b="0" lang="en-US" sz="1500" spc="-1" strike="noStrike">
                <a:solidFill>
                  <a:srgbClr val="4a4a4a"/>
                </a:solidFill>
                <a:latin typeface="Microsoft YaHei"/>
              </a:rPr>
              <a:t>     ——  尊重客观规律，不搞花架子、不做表面文章。</a:t>
            </a:r>
            <a:endParaRPr b="0" lang="en-US" sz="1500" spc="-1" strike="noStrike">
              <a:latin typeface="Arial"/>
            </a:endParaRPr>
          </a:p>
        </p:txBody>
      </p:sp>
      <p:sp>
        <p:nvSpPr>
          <p:cNvPr id="150" name="Rounded Rectangle 20"/>
          <p:cNvSpPr/>
          <p:nvPr/>
        </p:nvSpPr>
        <p:spPr>
          <a:xfrm>
            <a:off x="914400" y="4617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1" name="Rectangle 21"/>
          <p:cNvSpPr/>
          <p:nvPr/>
        </p:nvSpPr>
        <p:spPr>
          <a:xfrm>
            <a:off x="914400" y="4617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2" name="Oval 22"/>
          <p:cNvSpPr/>
          <p:nvPr/>
        </p:nvSpPr>
        <p:spPr>
          <a:xfrm>
            <a:off x="1188720" y="4744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4</a:t>
            </a:r>
            <a:endParaRPr b="0" lang="en-US" sz="1400" spc="-1" strike="noStrike">
              <a:latin typeface="Arial"/>
            </a:endParaRPr>
          </a:p>
        </p:txBody>
      </p:sp>
      <p:sp>
        <p:nvSpPr>
          <p:cNvPr id="153" name="TextBox 23"/>
          <p:cNvSpPr/>
          <p:nvPr/>
        </p:nvSpPr>
        <p:spPr>
          <a:xfrm>
            <a:off x="1737360" y="4681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胸怀大局意识，做到久久为功</a:t>
            </a:r>
            <a:r>
              <a:rPr b="0" lang="en-US" sz="1500" spc="-1" strike="noStrike">
                <a:solidFill>
                  <a:srgbClr val="4a4a4a"/>
                </a:solidFill>
                <a:latin typeface="Microsoft YaHei"/>
              </a:rPr>
              <a:t>     ——  多做打基础、利长远、管根本的工作。</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5"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6"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7" name="TextBox 4"/>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四、坚决纠治错误政绩观</a:t>
            </a:r>
            <a:endParaRPr b="0" lang="en-US" sz="3000" spc="-1" strike="noStrike">
              <a:latin typeface="Arial"/>
            </a:endParaRPr>
          </a:p>
        </p:txBody>
      </p:sp>
      <p:sp>
        <p:nvSpPr>
          <p:cNvPr id="158" name="TextBox 5"/>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6</a:t>
            </a:r>
            <a:endParaRPr b="0" lang="en-US" sz="1400" spc="-1" strike="noStrike">
              <a:latin typeface="Arial"/>
            </a:endParaRPr>
          </a:p>
        </p:txBody>
      </p:sp>
      <p:sp>
        <p:nvSpPr>
          <p:cNvPr id="159" name="TextBox 6"/>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方案一</a:t>
            </a:r>
            <a:endParaRPr b="0" lang="en-US" sz="1100" spc="-1" strike="noStrike">
              <a:latin typeface="Arial"/>
            </a:endParaRPr>
          </a:p>
        </p:txBody>
      </p:sp>
      <p:sp>
        <p:nvSpPr>
          <p:cNvPr id="160" name="Rectangle 7"/>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1" name="Rounded Rectangle 8"/>
          <p:cNvSpPr/>
          <p:nvPr/>
        </p:nvSpPr>
        <p:spPr>
          <a:xfrm>
            <a:off x="914400" y="1188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2" name="Rectangle 9"/>
          <p:cNvSpPr/>
          <p:nvPr/>
        </p:nvSpPr>
        <p:spPr>
          <a:xfrm>
            <a:off x="914400" y="1188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3" name="Oval 10"/>
          <p:cNvSpPr/>
          <p:nvPr/>
        </p:nvSpPr>
        <p:spPr>
          <a:xfrm>
            <a:off x="1188720" y="1315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1</a:t>
            </a:r>
            <a:endParaRPr b="0" lang="en-US" sz="1400" spc="-1" strike="noStrike">
              <a:latin typeface="Arial"/>
            </a:endParaRPr>
          </a:p>
        </p:txBody>
      </p:sp>
      <p:sp>
        <p:nvSpPr>
          <p:cNvPr id="164" name="TextBox 11"/>
          <p:cNvSpPr/>
          <p:nvPr/>
        </p:nvSpPr>
        <p:spPr>
          <a:xfrm>
            <a:off x="1737360" y="1252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重短期效益、轻长远发展</a:t>
            </a:r>
            <a:r>
              <a:rPr b="0" lang="en-US" sz="1500" spc="-1" strike="noStrike">
                <a:solidFill>
                  <a:srgbClr val="4a4a4a"/>
                </a:solidFill>
                <a:latin typeface="Microsoft YaHei"/>
              </a:rPr>
              <a:t>     ——  急于求成，忽视可持续发展。</a:t>
            </a:r>
            <a:endParaRPr b="0" lang="en-US" sz="1500" spc="-1" strike="noStrike">
              <a:latin typeface="Arial"/>
            </a:endParaRPr>
          </a:p>
        </p:txBody>
      </p:sp>
      <p:sp>
        <p:nvSpPr>
          <p:cNvPr id="165" name="Rounded Rectangle 12"/>
          <p:cNvSpPr/>
          <p:nvPr/>
        </p:nvSpPr>
        <p:spPr>
          <a:xfrm>
            <a:off x="914400" y="2331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6" name="Rectangle 13"/>
          <p:cNvSpPr/>
          <p:nvPr/>
        </p:nvSpPr>
        <p:spPr>
          <a:xfrm>
            <a:off x="914400" y="2331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7" name="Oval 14"/>
          <p:cNvSpPr/>
          <p:nvPr/>
        </p:nvSpPr>
        <p:spPr>
          <a:xfrm>
            <a:off x="1188720" y="2458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2</a:t>
            </a:r>
            <a:endParaRPr b="0" lang="en-US" sz="1400" spc="-1" strike="noStrike">
              <a:latin typeface="Arial"/>
            </a:endParaRPr>
          </a:p>
        </p:txBody>
      </p:sp>
      <p:sp>
        <p:nvSpPr>
          <p:cNvPr id="168" name="TextBox 15"/>
          <p:cNvSpPr/>
          <p:nvPr/>
        </p:nvSpPr>
        <p:spPr>
          <a:xfrm>
            <a:off x="1737360" y="2395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重数据报表、轻工作实效</a:t>
            </a:r>
            <a:r>
              <a:rPr b="0" lang="en-US" sz="1500" spc="-1" strike="noStrike">
                <a:solidFill>
                  <a:srgbClr val="4a4a4a"/>
                </a:solidFill>
                <a:latin typeface="Microsoft YaHei"/>
              </a:rPr>
              <a:t>     ——  搞表面整改，缺乏真实成效。</a:t>
            </a:r>
            <a:endParaRPr b="0" lang="en-US" sz="1500" spc="-1" strike="noStrike">
              <a:latin typeface="Arial"/>
            </a:endParaRPr>
          </a:p>
        </p:txBody>
      </p:sp>
      <p:sp>
        <p:nvSpPr>
          <p:cNvPr id="169" name="Rounded Rectangle 16"/>
          <p:cNvSpPr/>
          <p:nvPr/>
        </p:nvSpPr>
        <p:spPr>
          <a:xfrm>
            <a:off x="914400" y="3474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0" name="Rectangle 17"/>
          <p:cNvSpPr/>
          <p:nvPr/>
        </p:nvSpPr>
        <p:spPr>
          <a:xfrm>
            <a:off x="914400" y="3474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1" name="Oval 18"/>
          <p:cNvSpPr/>
          <p:nvPr/>
        </p:nvSpPr>
        <p:spPr>
          <a:xfrm>
            <a:off x="1188720" y="3601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3</a:t>
            </a:r>
            <a:endParaRPr b="0" lang="en-US" sz="1400" spc="-1" strike="noStrike">
              <a:latin typeface="Arial"/>
            </a:endParaRPr>
          </a:p>
        </p:txBody>
      </p:sp>
      <p:sp>
        <p:nvSpPr>
          <p:cNvPr id="172" name="TextBox 19"/>
          <p:cNvSpPr/>
          <p:nvPr/>
        </p:nvSpPr>
        <p:spPr>
          <a:xfrm>
            <a:off x="1737360" y="3538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重形象工程、轻民生实事</a:t>
            </a:r>
            <a:r>
              <a:rPr b="0" lang="en-US" sz="1500" spc="-1" strike="noStrike">
                <a:solidFill>
                  <a:srgbClr val="4a4a4a"/>
                </a:solidFill>
                <a:latin typeface="Microsoft YaHei"/>
              </a:rPr>
              <a:t>     ——  形式主义突出，脱离群众需求。</a:t>
            </a:r>
            <a:endParaRPr b="0" lang="en-US" sz="1500" spc="-1" strike="noStrike">
              <a:latin typeface="Arial"/>
            </a:endParaRPr>
          </a:p>
        </p:txBody>
      </p:sp>
      <p:sp>
        <p:nvSpPr>
          <p:cNvPr id="173" name="Rounded Rectangle 20"/>
          <p:cNvSpPr/>
          <p:nvPr/>
        </p:nvSpPr>
        <p:spPr>
          <a:xfrm>
            <a:off x="914400" y="4617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4" name="Rectangle 21"/>
          <p:cNvSpPr/>
          <p:nvPr/>
        </p:nvSpPr>
        <p:spPr>
          <a:xfrm>
            <a:off x="914400" y="4617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5" name="Oval 22"/>
          <p:cNvSpPr/>
          <p:nvPr/>
        </p:nvSpPr>
        <p:spPr>
          <a:xfrm>
            <a:off x="1188720" y="4744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4</a:t>
            </a:r>
            <a:endParaRPr b="0" lang="en-US" sz="1400" spc="-1" strike="noStrike">
              <a:latin typeface="Arial"/>
            </a:endParaRPr>
          </a:p>
        </p:txBody>
      </p:sp>
      <p:sp>
        <p:nvSpPr>
          <p:cNvPr id="176" name="TextBox 23"/>
          <p:cNvSpPr/>
          <p:nvPr/>
        </p:nvSpPr>
        <p:spPr>
          <a:xfrm>
            <a:off x="1737360" y="4681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推诿懈怠不作为</a:t>
            </a:r>
            <a:r>
              <a:rPr b="0" lang="en-US" sz="1500" spc="-1" strike="noStrike">
                <a:solidFill>
                  <a:srgbClr val="4a4a4a"/>
                </a:solidFill>
                <a:latin typeface="Microsoft YaHei"/>
              </a:rPr>
              <a:t>     ——  遇事避责、敷衍了事，缺乏担当。</a:t>
            </a:r>
            <a:endParaRPr b="0" lang="en-US" sz="1500" spc="-1" strike="noStrike">
              <a:latin typeface="Arial"/>
            </a:endParaRPr>
          </a:p>
        </p:txBody>
      </p:sp>
      <p:sp>
        <p:nvSpPr>
          <p:cNvPr id="177" name="Rounded Rectangle 24"/>
          <p:cNvSpPr/>
          <p:nvPr/>
        </p:nvSpPr>
        <p:spPr>
          <a:xfrm>
            <a:off x="914400" y="5669280"/>
            <a:ext cx="10332360" cy="822600"/>
          </a:xfrm>
          <a:prstGeom prst="roundRect">
            <a:avLst>
              <a:gd name="adj" fmla="val 16667"/>
            </a:avLst>
          </a:prstGeom>
          <a:solidFill>
            <a:srgbClr val="fdeeee"/>
          </a:solidFill>
          <a:ln w="19050">
            <a:solidFill>
              <a:srgbClr val="de291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8" name="TextBox 25"/>
          <p:cNvSpPr/>
          <p:nvPr/>
        </p:nvSpPr>
        <p:spPr>
          <a:xfrm>
            <a:off x="1280160" y="5760720"/>
            <a:ext cx="960084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en-US" sz="1600" spc="-1" strike="noStrike">
                <a:solidFill>
                  <a:srgbClr val="c41e3a"/>
                </a:solidFill>
                <a:latin typeface="Microsoft YaHei"/>
              </a:rPr>
              <a:t>⚠  </a:t>
            </a:r>
            <a:r>
              <a:rPr b="1" lang="zh-CN" sz="1600" spc="-1" strike="noStrike">
                <a:solidFill>
                  <a:srgbClr val="c41e3a"/>
                </a:solidFill>
                <a:latin typeface="Microsoft YaHei"/>
              </a:rPr>
              <a:t>要求：</a:t>
            </a:r>
            <a:r>
              <a:rPr b="0" lang="zh-CN" sz="1500" spc="-1" strike="noStrike">
                <a:solidFill>
                  <a:srgbClr val="4a4a4a"/>
                </a:solidFill>
                <a:latin typeface="Microsoft YaHei"/>
              </a:rPr>
              <a:t>自觉抵制功利思想，摒弃形式主义、官僚主义，知敬畏、存戒惧、守底线。</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0"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1"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2" name="TextBox 4"/>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五、结合实际抓好贯彻落实</a:t>
            </a:r>
            <a:endParaRPr b="0" lang="en-US" sz="3000" spc="-1" strike="noStrike">
              <a:latin typeface="Arial"/>
            </a:endParaRPr>
          </a:p>
        </p:txBody>
      </p:sp>
      <p:sp>
        <p:nvSpPr>
          <p:cNvPr id="183" name="TextBox 5"/>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7</a:t>
            </a:r>
            <a:endParaRPr b="0" lang="en-US" sz="1400" spc="-1" strike="noStrike">
              <a:latin typeface="Arial"/>
            </a:endParaRPr>
          </a:p>
        </p:txBody>
      </p:sp>
      <p:sp>
        <p:nvSpPr>
          <p:cNvPr id="184" name="TextBox 6"/>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方案一</a:t>
            </a:r>
            <a:endParaRPr b="0" lang="en-US" sz="1100" spc="-1" strike="noStrike">
              <a:latin typeface="Arial"/>
            </a:endParaRPr>
          </a:p>
        </p:txBody>
      </p:sp>
      <p:sp>
        <p:nvSpPr>
          <p:cNvPr id="185" name="Rectangle 7"/>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6" name="Rounded Rectangle 8"/>
          <p:cNvSpPr/>
          <p:nvPr/>
        </p:nvSpPr>
        <p:spPr>
          <a:xfrm>
            <a:off x="914400" y="1188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7" name="Rectangle 9"/>
          <p:cNvSpPr/>
          <p:nvPr/>
        </p:nvSpPr>
        <p:spPr>
          <a:xfrm>
            <a:off x="914400" y="1188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8" name="Oval 10"/>
          <p:cNvSpPr/>
          <p:nvPr/>
        </p:nvSpPr>
        <p:spPr>
          <a:xfrm>
            <a:off x="1188720" y="1315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1</a:t>
            </a:r>
            <a:endParaRPr b="0" lang="en-US" sz="1400" spc="-1" strike="noStrike">
              <a:latin typeface="Arial"/>
            </a:endParaRPr>
          </a:p>
        </p:txBody>
      </p:sp>
      <p:sp>
        <p:nvSpPr>
          <p:cNvPr id="189" name="TextBox 11"/>
          <p:cNvSpPr/>
          <p:nvPr/>
        </p:nvSpPr>
        <p:spPr>
          <a:xfrm>
            <a:off x="1737360" y="1252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强化理论武装</a:t>
            </a:r>
            <a:r>
              <a:rPr b="0" lang="en-US" sz="1500" spc="-1" strike="noStrike">
                <a:solidFill>
                  <a:srgbClr val="4a4a4a"/>
                </a:solidFill>
                <a:latin typeface="Microsoft YaHei"/>
              </a:rPr>
              <a:t>     ——  持续深学细悟，筑牢正确思想认知。</a:t>
            </a:r>
            <a:endParaRPr b="0" lang="en-US" sz="1500" spc="-1" strike="noStrike">
              <a:latin typeface="Arial"/>
            </a:endParaRPr>
          </a:p>
        </p:txBody>
      </p:sp>
      <p:sp>
        <p:nvSpPr>
          <p:cNvPr id="190" name="Rounded Rectangle 12"/>
          <p:cNvSpPr/>
          <p:nvPr/>
        </p:nvSpPr>
        <p:spPr>
          <a:xfrm>
            <a:off x="914400" y="214884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1" name="Rectangle 13"/>
          <p:cNvSpPr/>
          <p:nvPr/>
        </p:nvSpPr>
        <p:spPr>
          <a:xfrm>
            <a:off x="914400" y="214884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2" name="Oval 14"/>
          <p:cNvSpPr/>
          <p:nvPr/>
        </p:nvSpPr>
        <p:spPr>
          <a:xfrm>
            <a:off x="1188720" y="227592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2</a:t>
            </a:r>
            <a:endParaRPr b="0" lang="en-US" sz="1400" spc="-1" strike="noStrike">
              <a:latin typeface="Arial"/>
            </a:endParaRPr>
          </a:p>
        </p:txBody>
      </p:sp>
      <p:sp>
        <p:nvSpPr>
          <p:cNvPr id="193" name="TextBox 15"/>
          <p:cNvSpPr/>
          <p:nvPr/>
        </p:nvSpPr>
        <p:spPr>
          <a:xfrm>
            <a:off x="1737360" y="221220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对标自查自纠</a:t>
            </a:r>
            <a:r>
              <a:rPr b="0" lang="en-US" sz="1500" spc="-1" strike="noStrike">
                <a:solidFill>
                  <a:srgbClr val="4a4a4a"/>
                </a:solidFill>
                <a:latin typeface="Microsoft YaHei"/>
              </a:rPr>
              <a:t>     ——  检视自身工作是否存在功利心态。</a:t>
            </a:r>
            <a:endParaRPr b="0" lang="en-US" sz="1500" spc="-1" strike="noStrike">
              <a:latin typeface="Arial"/>
            </a:endParaRPr>
          </a:p>
        </p:txBody>
      </p:sp>
      <p:sp>
        <p:nvSpPr>
          <p:cNvPr id="194" name="Rounded Rectangle 16"/>
          <p:cNvSpPr/>
          <p:nvPr/>
        </p:nvSpPr>
        <p:spPr>
          <a:xfrm>
            <a:off x="914400" y="310896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5" name="Rectangle 17"/>
          <p:cNvSpPr/>
          <p:nvPr/>
        </p:nvSpPr>
        <p:spPr>
          <a:xfrm>
            <a:off x="914400" y="310896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6" name="Oval 18"/>
          <p:cNvSpPr/>
          <p:nvPr/>
        </p:nvSpPr>
        <p:spPr>
          <a:xfrm>
            <a:off x="1188720" y="323604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3</a:t>
            </a:r>
            <a:endParaRPr b="0" lang="en-US" sz="1400" spc="-1" strike="noStrike">
              <a:latin typeface="Arial"/>
            </a:endParaRPr>
          </a:p>
        </p:txBody>
      </p:sp>
      <p:sp>
        <p:nvSpPr>
          <p:cNvPr id="197" name="TextBox 19"/>
          <p:cNvSpPr/>
          <p:nvPr/>
        </p:nvSpPr>
        <p:spPr>
          <a:xfrm>
            <a:off x="1737360" y="317232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立足岗位职责</a:t>
            </a:r>
            <a:r>
              <a:rPr b="0" lang="en-US" sz="1500" spc="-1" strike="noStrike">
                <a:solidFill>
                  <a:srgbClr val="4a4a4a"/>
                </a:solidFill>
                <a:latin typeface="Microsoft YaHei"/>
              </a:rPr>
              <a:t>     ——  务实履职尽责，真抓实干推动工作。</a:t>
            </a:r>
            <a:endParaRPr b="0" lang="en-US" sz="1500" spc="-1" strike="noStrike">
              <a:latin typeface="Arial"/>
            </a:endParaRPr>
          </a:p>
        </p:txBody>
      </p:sp>
      <p:sp>
        <p:nvSpPr>
          <p:cNvPr id="198" name="Rounded Rectangle 20"/>
          <p:cNvSpPr/>
          <p:nvPr/>
        </p:nvSpPr>
        <p:spPr>
          <a:xfrm>
            <a:off x="914400" y="406908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9" name="Rectangle 21"/>
          <p:cNvSpPr/>
          <p:nvPr/>
        </p:nvSpPr>
        <p:spPr>
          <a:xfrm>
            <a:off x="914400" y="406908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0" name="Oval 22"/>
          <p:cNvSpPr/>
          <p:nvPr/>
        </p:nvSpPr>
        <p:spPr>
          <a:xfrm>
            <a:off x="1188720" y="419616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4</a:t>
            </a:r>
            <a:endParaRPr b="0" lang="en-US" sz="1400" spc="-1" strike="noStrike">
              <a:latin typeface="Arial"/>
            </a:endParaRPr>
          </a:p>
        </p:txBody>
      </p:sp>
      <p:sp>
        <p:nvSpPr>
          <p:cNvPr id="201" name="TextBox 23"/>
          <p:cNvSpPr/>
          <p:nvPr/>
        </p:nvSpPr>
        <p:spPr>
          <a:xfrm>
            <a:off x="1737360" y="413244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坚持久久为功</a:t>
            </a:r>
            <a:r>
              <a:rPr b="0" lang="en-US" sz="1500" spc="-1" strike="noStrike">
                <a:solidFill>
                  <a:srgbClr val="4a4a4a"/>
                </a:solidFill>
                <a:latin typeface="Microsoft YaHei"/>
              </a:rPr>
              <a:t>     ——  涵养潜绩思维，注重长效建设。</a:t>
            </a:r>
            <a:endParaRPr b="0" lang="en-US" sz="1500" spc="-1" strike="noStrike">
              <a:latin typeface="Arial"/>
            </a:endParaRPr>
          </a:p>
        </p:txBody>
      </p:sp>
      <p:sp>
        <p:nvSpPr>
          <p:cNvPr id="202" name="Rounded Rectangle 24"/>
          <p:cNvSpPr/>
          <p:nvPr/>
        </p:nvSpPr>
        <p:spPr>
          <a:xfrm>
            <a:off x="914400" y="502920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3" name="Rectangle 25"/>
          <p:cNvSpPr/>
          <p:nvPr/>
        </p:nvSpPr>
        <p:spPr>
          <a:xfrm>
            <a:off x="914400" y="502920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4" name="Oval 26"/>
          <p:cNvSpPr/>
          <p:nvPr/>
        </p:nvSpPr>
        <p:spPr>
          <a:xfrm>
            <a:off x="1188720" y="515628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5</a:t>
            </a:r>
            <a:endParaRPr b="0" lang="en-US" sz="1400" spc="-1" strike="noStrike">
              <a:latin typeface="Arial"/>
            </a:endParaRPr>
          </a:p>
        </p:txBody>
      </p:sp>
      <p:sp>
        <p:nvSpPr>
          <p:cNvPr id="205" name="TextBox 27"/>
          <p:cNvSpPr/>
          <p:nvPr/>
        </p:nvSpPr>
        <p:spPr>
          <a:xfrm>
            <a:off x="1737360" y="509256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严守纪律规矩</a:t>
            </a:r>
            <a:r>
              <a:rPr b="0" lang="en-US" sz="1500" spc="-1" strike="noStrike">
                <a:solidFill>
                  <a:srgbClr val="4a4a4a"/>
                </a:solidFill>
                <a:latin typeface="Microsoft YaHei"/>
              </a:rPr>
              <a:t>     ——  清正廉洁自律，永葆干部本色。</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Rectangle 1"/>
          <p:cNvSpPr/>
          <p:nvPr/>
        </p:nvSpPr>
        <p:spPr>
          <a:xfrm>
            <a:off x="0" y="0"/>
            <a:ext cx="12191400" cy="68576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7" name="Rectangle 2"/>
          <p:cNvSpPr/>
          <p:nvPr/>
        </p:nvSpPr>
        <p:spPr>
          <a:xfrm>
            <a:off x="0" y="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8" name="Rectangle 3"/>
          <p:cNvSpPr/>
          <p:nvPr/>
        </p:nvSpPr>
        <p:spPr>
          <a:xfrm>
            <a:off x="0" y="679464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9" name="Rectangle 4"/>
          <p:cNvSpPr/>
          <p:nvPr/>
        </p:nvSpPr>
        <p:spPr>
          <a:xfrm>
            <a:off x="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0" name="Rectangle 5"/>
          <p:cNvSpPr/>
          <p:nvPr/>
        </p:nvSpPr>
        <p:spPr>
          <a:xfrm>
            <a:off x="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1" name="Rectangle 6"/>
          <p:cNvSpPr/>
          <p:nvPr/>
        </p:nvSpPr>
        <p:spPr>
          <a:xfrm>
            <a:off x="1164312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2" name="Rectangle 7"/>
          <p:cNvSpPr/>
          <p:nvPr/>
        </p:nvSpPr>
        <p:spPr>
          <a:xfrm>
            <a:off x="1215360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3" name="Rectangle 8"/>
          <p:cNvSpPr/>
          <p:nvPr/>
        </p:nvSpPr>
        <p:spPr>
          <a:xfrm>
            <a:off x="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4" name="Rectangle 9"/>
          <p:cNvSpPr/>
          <p:nvPr/>
        </p:nvSpPr>
        <p:spPr>
          <a:xfrm>
            <a:off x="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5" name="Rectangle 10"/>
          <p:cNvSpPr/>
          <p:nvPr/>
        </p:nvSpPr>
        <p:spPr>
          <a:xfrm>
            <a:off x="1164312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6" name="Rectangle 11"/>
          <p:cNvSpPr/>
          <p:nvPr/>
        </p:nvSpPr>
        <p:spPr>
          <a:xfrm>
            <a:off x="1215360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7" name="5-Point Star 12"/>
          <p:cNvSpPr/>
          <p:nvPr/>
        </p:nvSpPr>
        <p:spPr>
          <a:xfrm>
            <a:off x="5303520" y="822960"/>
            <a:ext cx="1096920" cy="10969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8" name="5-Point Star 13"/>
          <p:cNvSpPr/>
          <p:nvPr/>
        </p:nvSpPr>
        <p:spPr>
          <a:xfrm>
            <a:off x="5943600" y="1005840"/>
            <a:ext cx="639720" cy="6397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9" name="5-Point Star 14"/>
          <p:cNvSpPr/>
          <p:nvPr/>
        </p:nvSpPr>
        <p:spPr>
          <a:xfrm>
            <a:off x="6400800" y="822960"/>
            <a:ext cx="1096920" cy="10969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0" name="5-Point Star 15"/>
          <p:cNvSpPr/>
          <p:nvPr/>
        </p:nvSpPr>
        <p:spPr>
          <a:xfrm>
            <a:off x="7040880" y="1005840"/>
            <a:ext cx="639720" cy="6397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1" name="5-Point Star 16"/>
          <p:cNvSpPr/>
          <p:nvPr/>
        </p:nvSpPr>
        <p:spPr>
          <a:xfrm>
            <a:off x="7498080" y="822960"/>
            <a:ext cx="1096920" cy="10969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2" name="TextBox 17"/>
          <p:cNvSpPr/>
          <p:nvPr/>
        </p:nvSpPr>
        <p:spPr>
          <a:xfrm>
            <a:off x="1371600" y="2194560"/>
            <a:ext cx="9417960" cy="1369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zh-CN" sz="4200" spc="-1" strike="noStrike">
                <a:solidFill>
                  <a:srgbClr val="ffffff"/>
                </a:solidFill>
                <a:latin typeface="Microsoft YaHei"/>
              </a:rPr>
              <a:t>牢固树立正确政绩观</a:t>
            </a:r>
            <a:br>
              <a:rPr sz="4200"/>
            </a:br>
            <a:r>
              <a:rPr b="1" lang="zh-CN" sz="4200" spc="-1" strike="noStrike">
                <a:solidFill>
                  <a:srgbClr val="ffffff"/>
                </a:solidFill>
                <a:latin typeface="Microsoft YaHei"/>
              </a:rPr>
              <a:t>坚守为民初心 务实担当作为</a:t>
            </a:r>
            <a:endParaRPr b="0" lang="en-US" sz="4200" spc="-1" strike="noStrike">
              <a:latin typeface="Arial"/>
            </a:endParaRPr>
          </a:p>
        </p:txBody>
      </p:sp>
      <p:sp>
        <p:nvSpPr>
          <p:cNvPr id="223" name="Rectangle 18"/>
          <p:cNvSpPr/>
          <p:nvPr/>
        </p:nvSpPr>
        <p:spPr>
          <a:xfrm>
            <a:off x="4572000" y="3749040"/>
            <a:ext cx="3017160" cy="378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4" name="TextBox 19"/>
          <p:cNvSpPr/>
          <p:nvPr/>
        </p:nvSpPr>
        <p:spPr>
          <a:xfrm>
            <a:off x="1828800" y="4114800"/>
            <a:ext cx="850356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zh-CN" sz="1800" spc="-1" strike="noStrike">
                <a:solidFill>
                  <a:srgbClr val="f5deb3"/>
                </a:solidFill>
                <a:latin typeface="Microsoft YaHei"/>
              </a:rPr>
              <a:t>以过硬作风推动各项工作高质量发展</a:t>
            </a:r>
            <a:endParaRPr b="0" lang="en-US" sz="1800" spc="-1" strike="noStrike">
              <a:latin typeface="Arial"/>
            </a:endParaRPr>
          </a:p>
        </p:txBody>
      </p:sp>
      <p:sp>
        <p:nvSpPr>
          <p:cNvPr id="225" name="TextBox 20"/>
          <p:cNvSpPr/>
          <p:nvPr/>
        </p:nvSpPr>
        <p:spPr>
          <a:xfrm>
            <a:off x="1828800" y="5303520"/>
            <a:ext cx="8503560" cy="424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zh-CN" sz="2200" spc="-1" strike="noStrike">
                <a:solidFill>
                  <a:srgbClr val="ffffff"/>
                </a:solidFill>
                <a:latin typeface="Microsoft YaHei"/>
              </a:rPr>
              <a:t>方案一学习完毕</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Rectangle 1"/>
          <p:cNvSpPr/>
          <p:nvPr/>
        </p:nvSpPr>
        <p:spPr>
          <a:xfrm>
            <a:off x="0" y="0"/>
            <a:ext cx="12191400" cy="6857640"/>
          </a:xfrm>
          <a:prstGeom prst="rect">
            <a:avLst/>
          </a:prstGeom>
          <a:solidFill>
            <a:srgbClr val="b8203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7" name="Rectangle 2"/>
          <p:cNvSpPr/>
          <p:nvPr/>
        </p:nvSpPr>
        <p:spPr>
          <a:xfrm>
            <a:off x="0" y="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8" name="Rectangle 3"/>
          <p:cNvSpPr/>
          <p:nvPr/>
        </p:nvSpPr>
        <p:spPr>
          <a:xfrm>
            <a:off x="0" y="679464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9" name="Rectangle 4"/>
          <p:cNvSpPr/>
          <p:nvPr/>
        </p:nvSpPr>
        <p:spPr>
          <a:xfrm>
            <a:off x="731520" y="1371600"/>
            <a:ext cx="50400" cy="365724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0" name="Rectangle 5"/>
          <p:cNvSpPr/>
          <p:nvPr/>
        </p:nvSpPr>
        <p:spPr>
          <a:xfrm>
            <a:off x="731520" y="1371600"/>
            <a:ext cx="3657240" cy="252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1" name="5-Point Star 6"/>
          <p:cNvSpPr/>
          <p:nvPr/>
        </p:nvSpPr>
        <p:spPr>
          <a:xfrm>
            <a:off x="5303520" y="731520"/>
            <a:ext cx="914040" cy="91404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2" name="5-Point Star 7"/>
          <p:cNvSpPr/>
          <p:nvPr/>
        </p:nvSpPr>
        <p:spPr>
          <a:xfrm>
            <a:off x="5943600" y="833040"/>
            <a:ext cx="548280" cy="54828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3" name="5-Point Star 8"/>
          <p:cNvSpPr/>
          <p:nvPr/>
        </p:nvSpPr>
        <p:spPr>
          <a:xfrm>
            <a:off x="6400800" y="731520"/>
            <a:ext cx="914040" cy="91404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4" name="5-Point Star 9"/>
          <p:cNvSpPr/>
          <p:nvPr/>
        </p:nvSpPr>
        <p:spPr>
          <a:xfrm>
            <a:off x="7040880" y="833040"/>
            <a:ext cx="548280" cy="54828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5" name="5-Point Star 10"/>
          <p:cNvSpPr/>
          <p:nvPr/>
        </p:nvSpPr>
        <p:spPr>
          <a:xfrm>
            <a:off x="7498080" y="731520"/>
            <a:ext cx="914040" cy="91404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6" name="TextBox 11"/>
          <p:cNvSpPr/>
          <p:nvPr/>
        </p:nvSpPr>
        <p:spPr>
          <a:xfrm>
            <a:off x="1371600" y="1371600"/>
            <a:ext cx="9143640" cy="4248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2200" spc="-1" strike="noStrike">
                <a:solidFill>
                  <a:srgbClr val="ffd700"/>
                </a:solidFill>
                <a:latin typeface="Microsoft YaHei"/>
              </a:rPr>
              <a:t>第二套方案</a:t>
            </a:r>
            <a:endParaRPr b="0" lang="en-US" sz="2200" spc="-1" strike="noStrike">
              <a:latin typeface="Arial"/>
            </a:endParaRPr>
          </a:p>
        </p:txBody>
      </p:sp>
      <p:sp>
        <p:nvSpPr>
          <p:cNvPr id="237" name="Rectangle 12"/>
          <p:cNvSpPr/>
          <p:nvPr/>
        </p:nvSpPr>
        <p:spPr>
          <a:xfrm>
            <a:off x="1371600" y="2011680"/>
            <a:ext cx="4571640" cy="252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8" name="TextBox 13"/>
          <p:cNvSpPr/>
          <p:nvPr/>
        </p:nvSpPr>
        <p:spPr>
          <a:xfrm>
            <a:off x="1371600" y="2377440"/>
            <a:ext cx="9600840" cy="6991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4000" spc="-1" strike="noStrike">
                <a:solidFill>
                  <a:srgbClr val="ffffff"/>
                </a:solidFill>
                <a:latin typeface="Microsoft YaHei"/>
              </a:rPr>
              <a:t>深学细悟重要讲话</a:t>
            </a:r>
            <a:endParaRPr b="0" lang="en-US" sz="4000" spc="-1" strike="noStrike">
              <a:latin typeface="Arial"/>
            </a:endParaRPr>
          </a:p>
        </p:txBody>
      </p:sp>
      <p:sp>
        <p:nvSpPr>
          <p:cNvPr id="239" name="TextBox 14"/>
          <p:cNvSpPr/>
          <p:nvPr/>
        </p:nvSpPr>
        <p:spPr>
          <a:xfrm>
            <a:off x="1371600" y="3383280"/>
            <a:ext cx="9600840" cy="6991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4000" spc="-1" strike="noStrike">
                <a:solidFill>
                  <a:srgbClr val="ffffff"/>
                </a:solidFill>
                <a:latin typeface="Microsoft YaHei"/>
              </a:rPr>
              <a:t>聚力赋能高质量发展</a:t>
            </a:r>
            <a:endParaRPr b="0" lang="en-US" sz="4000" spc="-1" strike="noStrike">
              <a:latin typeface="Arial"/>
            </a:endParaRPr>
          </a:p>
        </p:txBody>
      </p:sp>
      <p:sp>
        <p:nvSpPr>
          <p:cNvPr id="240" name="TextBox 15"/>
          <p:cNvSpPr/>
          <p:nvPr/>
        </p:nvSpPr>
        <p:spPr>
          <a:xfrm>
            <a:off x="1371600" y="4572000"/>
            <a:ext cx="9143640" cy="699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2000" spc="-1" strike="noStrike">
                <a:solidFill>
                  <a:srgbClr val="f5deb3"/>
                </a:solidFill>
                <a:latin typeface="Microsoft YaHei"/>
              </a:rPr>
              <a:t>学习习近平总书记参加十四届全国人大四次会议</a:t>
            </a:r>
            <a:br>
              <a:rPr sz="2000"/>
            </a:br>
            <a:r>
              <a:rPr b="0" lang="zh-CN" sz="2000" spc="-1" strike="noStrike">
                <a:solidFill>
                  <a:srgbClr val="f5deb3"/>
                </a:solidFill>
                <a:latin typeface="Microsoft YaHei"/>
              </a:rPr>
              <a:t>江苏代表团审议重要讲话精神</a:t>
            </a:r>
            <a:endParaRPr b="0" lang="en-US" sz="2000" spc="-1" strike="noStrike">
              <a:latin typeface="Arial"/>
            </a:endParaRPr>
          </a:p>
        </p:txBody>
      </p:sp>
      <p:sp>
        <p:nvSpPr>
          <p:cNvPr id="241" name="Rectangle 16"/>
          <p:cNvSpPr/>
          <p:nvPr/>
        </p:nvSpPr>
        <p:spPr>
          <a:xfrm>
            <a:off x="1371600" y="5577840"/>
            <a:ext cx="2742840" cy="252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2" name="TextBox 17"/>
          <p:cNvSpPr/>
          <p:nvPr/>
        </p:nvSpPr>
        <p:spPr>
          <a:xfrm>
            <a:off x="1371600" y="5806440"/>
            <a:ext cx="457164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ffffff"/>
                </a:solidFill>
                <a:latin typeface="Microsoft YaHei"/>
              </a:rPr>
              <a:t>XXX</a:t>
            </a:r>
            <a:r>
              <a:rPr b="0" lang="zh-CN" sz="1600" spc="-1" strike="noStrike">
                <a:solidFill>
                  <a:srgbClr val="ffffff"/>
                </a:solidFill>
                <a:latin typeface="Microsoft YaHei"/>
              </a:rPr>
              <a:t>单位    </a:t>
            </a:r>
            <a:r>
              <a:rPr b="0" lang="en-US" sz="1600" spc="-1" strike="noStrike">
                <a:solidFill>
                  <a:srgbClr val="ffffff"/>
                </a:solidFill>
                <a:latin typeface="Microsoft YaHei"/>
              </a:rPr>
              <a:t>XXXX</a:t>
            </a:r>
            <a:r>
              <a:rPr b="0" lang="zh-CN" sz="1600" spc="-1" strike="noStrike">
                <a:solidFill>
                  <a:srgbClr val="ffffff"/>
                </a:solidFill>
                <a:latin typeface="Microsoft YaHei"/>
              </a:rPr>
              <a:t>年</a:t>
            </a:r>
            <a:r>
              <a:rPr b="0" lang="en-US" sz="1600" spc="-1" strike="noStrike">
                <a:solidFill>
                  <a:srgbClr val="ffffff"/>
                </a:solidFill>
                <a:latin typeface="Microsoft YaHei"/>
              </a:rPr>
              <a:t>XX</a:t>
            </a:r>
            <a:r>
              <a:rPr b="0" lang="zh-CN" sz="1600" spc="-1" strike="noStrike">
                <a:solidFill>
                  <a:srgbClr val="ffffff"/>
                </a:solidFill>
                <a:latin typeface="Microsoft YaHei"/>
              </a:rPr>
              <a:t>月</a:t>
            </a:r>
            <a:endParaRPr b="0" lang="en-US" sz="1600" spc="-1" strike="noStrike">
              <a:latin typeface="Arial"/>
            </a:endParaRPr>
          </a:p>
        </p:txBody>
      </p:sp>
      <p:sp>
        <p:nvSpPr>
          <p:cNvPr id="243" name="Rectangle 18"/>
          <p:cNvSpPr/>
          <p:nvPr/>
        </p:nvSpPr>
        <p:spPr>
          <a:xfrm>
            <a:off x="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4" name="Rectangle 19"/>
          <p:cNvSpPr/>
          <p:nvPr/>
        </p:nvSpPr>
        <p:spPr>
          <a:xfrm>
            <a:off x="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5" name="Rectangle 20"/>
          <p:cNvSpPr/>
          <p:nvPr/>
        </p:nvSpPr>
        <p:spPr>
          <a:xfrm>
            <a:off x="1164312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6" name="Rectangle 21"/>
          <p:cNvSpPr/>
          <p:nvPr/>
        </p:nvSpPr>
        <p:spPr>
          <a:xfrm>
            <a:off x="1215360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7" name="Rectangle 22"/>
          <p:cNvSpPr/>
          <p:nvPr/>
        </p:nvSpPr>
        <p:spPr>
          <a:xfrm>
            <a:off x="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8" name="Rectangle 23"/>
          <p:cNvSpPr/>
          <p:nvPr/>
        </p:nvSpPr>
        <p:spPr>
          <a:xfrm>
            <a:off x="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9" name="Rectangle 24"/>
          <p:cNvSpPr/>
          <p:nvPr/>
        </p:nvSpPr>
        <p:spPr>
          <a:xfrm>
            <a:off x="1164312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0" name="Rectangle 25"/>
          <p:cNvSpPr/>
          <p:nvPr/>
        </p:nvSpPr>
        <p:spPr>
          <a:xfrm>
            <a:off x="1215360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2" name="Rectangle 2"/>
          <p:cNvSpPr/>
          <p:nvPr/>
        </p:nvSpPr>
        <p:spPr>
          <a:xfrm>
            <a:off x="0" y="0"/>
            <a:ext cx="12191400" cy="100548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3" name="Rectangle 3"/>
          <p:cNvSpPr/>
          <p:nvPr/>
        </p:nvSpPr>
        <p:spPr>
          <a:xfrm>
            <a:off x="0" y="1005840"/>
            <a:ext cx="12191400" cy="504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4" name="TextBox 4"/>
          <p:cNvSpPr/>
          <p:nvPr/>
        </p:nvSpPr>
        <p:spPr>
          <a:xfrm>
            <a:off x="731520" y="182880"/>
            <a:ext cx="457164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600" spc="-1" strike="noStrike">
                <a:solidFill>
                  <a:srgbClr val="ffffff"/>
                </a:solidFill>
                <a:latin typeface="Microsoft YaHei"/>
              </a:rPr>
              <a:t>目  录</a:t>
            </a:r>
            <a:endParaRPr b="0" lang="en-US" sz="3600" spc="-1" strike="noStrike">
              <a:latin typeface="Arial"/>
            </a:endParaRPr>
          </a:p>
        </p:txBody>
      </p:sp>
      <p:sp>
        <p:nvSpPr>
          <p:cNvPr id="255" name="TextBox 5"/>
          <p:cNvSpPr/>
          <p:nvPr/>
        </p:nvSpPr>
        <p:spPr>
          <a:xfrm>
            <a:off x="7772400" y="274320"/>
            <a:ext cx="3657240" cy="3027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400" spc="-1" strike="noStrike">
                <a:solidFill>
                  <a:srgbClr val="f5deb3"/>
                </a:solidFill>
                <a:latin typeface="Microsoft YaHei"/>
              </a:rPr>
              <a:t>方案二：江苏代表团讲话精神</a:t>
            </a:r>
            <a:endParaRPr b="0" lang="en-US" sz="1400" spc="-1" strike="noStrike">
              <a:latin typeface="Arial"/>
            </a:endParaRPr>
          </a:p>
        </p:txBody>
      </p:sp>
      <p:sp>
        <p:nvSpPr>
          <p:cNvPr id="256" name="Rounded Rectangle 6"/>
          <p:cNvSpPr/>
          <p:nvPr/>
        </p:nvSpPr>
        <p:spPr>
          <a:xfrm>
            <a:off x="1097280" y="146304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7" name="Rectangle 7"/>
          <p:cNvSpPr/>
          <p:nvPr/>
        </p:nvSpPr>
        <p:spPr>
          <a:xfrm>
            <a:off x="1097280" y="146304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8" name="Oval 8"/>
          <p:cNvSpPr/>
          <p:nvPr/>
        </p:nvSpPr>
        <p:spPr>
          <a:xfrm>
            <a:off x="1417320" y="156456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1</a:t>
            </a:r>
            <a:endParaRPr b="0" lang="en-US" sz="1600" spc="-1" strike="noStrike">
              <a:latin typeface="Arial"/>
            </a:endParaRPr>
          </a:p>
        </p:txBody>
      </p:sp>
      <p:sp>
        <p:nvSpPr>
          <p:cNvPr id="259" name="TextBox 9"/>
          <p:cNvSpPr/>
          <p:nvPr/>
        </p:nvSpPr>
        <p:spPr>
          <a:xfrm>
            <a:off x="2011680" y="152640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讲话概况</a:t>
            </a:r>
            <a:endParaRPr b="0" lang="en-US" sz="1800" spc="-1" strike="noStrike">
              <a:latin typeface="Arial"/>
            </a:endParaRPr>
          </a:p>
        </p:txBody>
      </p:sp>
      <p:sp>
        <p:nvSpPr>
          <p:cNvPr id="260" name="Rounded Rectangle 10"/>
          <p:cNvSpPr/>
          <p:nvPr/>
        </p:nvSpPr>
        <p:spPr>
          <a:xfrm>
            <a:off x="1097280" y="224028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1" name="Rectangle 11"/>
          <p:cNvSpPr/>
          <p:nvPr/>
        </p:nvSpPr>
        <p:spPr>
          <a:xfrm>
            <a:off x="1097280" y="224028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2" name="Oval 12"/>
          <p:cNvSpPr/>
          <p:nvPr/>
        </p:nvSpPr>
        <p:spPr>
          <a:xfrm>
            <a:off x="1417320" y="234180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2</a:t>
            </a:r>
            <a:endParaRPr b="0" lang="en-US" sz="1600" spc="-1" strike="noStrike">
              <a:latin typeface="Arial"/>
            </a:endParaRPr>
          </a:p>
        </p:txBody>
      </p:sp>
      <p:sp>
        <p:nvSpPr>
          <p:cNvPr id="263" name="TextBox 13"/>
          <p:cNvSpPr/>
          <p:nvPr/>
        </p:nvSpPr>
        <p:spPr>
          <a:xfrm>
            <a:off x="2011680" y="230364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总体精神主旨</a:t>
            </a:r>
            <a:endParaRPr b="0" lang="en-US" sz="1800" spc="-1" strike="noStrike">
              <a:latin typeface="Arial"/>
            </a:endParaRPr>
          </a:p>
        </p:txBody>
      </p:sp>
      <p:sp>
        <p:nvSpPr>
          <p:cNvPr id="264" name="Rounded Rectangle 14"/>
          <p:cNvSpPr/>
          <p:nvPr/>
        </p:nvSpPr>
        <p:spPr>
          <a:xfrm>
            <a:off x="1097280" y="301752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5" name="Rectangle 15"/>
          <p:cNvSpPr/>
          <p:nvPr/>
        </p:nvSpPr>
        <p:spPr>
          <a:xfrm>
            <a:off x="1097280" y="301752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6" name="Oval 16"/>
          <p:cNvSpPr/>
          <p:nvPr/>
        </p:nvSpPr>
        <p:spPr>
          <a:xfrm>
            <a:off x="1417320" y="311904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3</a:t>
            </a:r>
            <a:endParaRPr b="0" lang="en-US" sz="1600" spc="-1" strike="noStrike">
              <a:latin typeface="Arial"/>
            </a:endParaRPr>
          </a:p>
        </p:txBody>
      </p:sp>
      <p:sp>
        <p:nvSpPr>
          <p:cNvPr id="267" name="TextBox 17"/>
          <p:cNvSpPr/>
          <p:nvPr/>
        </p:nvSpPr>
        <p:spPr>
          <a:xfrm>
            <a:off x="2011680" y="308088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核心学习要点</a:t>
            </a:r>
            <a:endParaRPr b="0" lang="en-US" sz="1800" spc="-1" strike="noStrike">
              <a:latin typeface="Arial"/>
            </a:endParaRPr>
          </a:p>
        </p:txBody>
      </p:sp>
      <p:sp>
        <p:nvSpPr>
          <p:cNvPr id="268" name="Rounded Rectangle 18"/>
          <p:cNvSpPr/>
          <p:nvPr/>
        </p:nvSpPr>
        <p:spPr>
          <a:xfrm>
            <a:off x="6675120" y="146304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9" name="Rectangle 19"/>
          <p:cNvSpPr/>
          <p:nvPr/>
        </p:nvSpPr>
        <p:spPr>
          <a:xfrm>
            <a:off x="6675120" y="146304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0" name="Oval 20"/>
          <p:cNvSpPr/>
          <p:nvPr/>
        </p:nvSpPr>
        <p:spPr>
          <a:xfrm>
            <a:off x="6995160" y="156456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4</a:t>
            </a:r>
            <a:endParaRPr b="0" lang="en-US" sz="1600" spc="-1" strike="noStrike">
              <a:latin typeface="Arial"/>
            </a:endParaRPr>
          </a:p>
        </p:txBody>
      </p:sp>
      <p:sp>
        <p:nvSpPr>
          <p:cNvPr id="271" name="TextBox 21"/>
          <p:cNvSpPr/>
          <p:nvPr/>
        </p:nvSpPr>
        <p:spPr>
          <a:xfrm>
            <a:off x="7589520" y="152640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学习贯彻落实要求</a:t>
            </a:r>
            <a:endParaRPr b="0" lang="en-US" sz="1800" spc="-1" strike="noStrike">
              <a:latin typeface="Arial"/>
            </a:endParaRPr>
          </a:p>
        </p:txBody>
      </p:sp>
      <p:sp>
        <p:nvSpPr>
          <p:cNvPr id="272" name="Rounded Rectangle 22"/>
          <p:cNvSpPr/>
          <p:nvPr/>
        </p:nvSpPr>
        <p:spPr>
          <a:xfrm>
            <a:off x="6675120" y="2240280"/>
            <a:ext cx="5028840" cy="639720"/>
          </a:xfrm>
          <a:prstGeom prst="roundRect">
            <a:avLst>
              <a:gd name="adj" fmla="val 16667"/>
            </a:avLst>
          </a:prstGeom>
          <a:solidFill>
            <a:srgbClr val="ffffff"/>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3" name="Rectangle 23"/>
          <p:cNvSpPr/>
          <p:nvPr/>
        </p:nvSpPr>
        <p:spPr>
          <a:xfrm>
            <a:off x="6675120" y="2240280"/>
            <a:ext cx="63000" cy="63972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4" name="Oval 24"/>
          <p:cNvSpPr/>
          <p:nvPr/>
        </p:nvSpPr>
        <p:spPr>
          <a:xfrm>
            <a:off x="6995160" y="2341800"/>
            <a:ext cx="411120" cy="41112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600" spc="-1" strike="noStrike">
                <a:solidFill>
                  <a:srgbClr val="ffffff"/>
                </a:solidFill>
                <a:latin typeface="Microsoft YaHei"/>
              </a:rPr>
              <a:t>5</a:t>
            </a:r>
            <a:endParaRPr b="0" lang="en-US" sz="1600" spc="-1" strike="noStrike">
              <a:latin typeface="Arial"/>
            </a:endParaRPr>
          </a:p>
        </p:txBody>
      </p:sp>
      <p:sp>
        <p:nvSpPr>
          <p:cNvPr id="275" name="TextBox 25"/>
          <p:cNvSpPr/>
          <p:nvPr/>
        </p:nvSpPr>
        <p:spPr>
          <a:xfrm>
            <a:off x="7589520" y="2303640"/>
            <a:ext cx="3931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800" spc="-1" strike="noStrike">
                <a:solidFill>
                  <a:srgbClr val="2d2d2d"/>
                </a:solidFill>
                <a:latin typeface="Microsoft YaHei"/>
              </a:rPr>
              <a:t>总结</a:t>
            </a:r>
            <a:endParaRPr b="0" lang="en-US" sz="1800" spc="-1" strike="noStrike">
              <a:latin typeface="Arial"/>
            </a:endParaRPr>
          </a:p>
        </p:txBody>
      </p:sp>
      <p:sp>
        <p:nvSpPr>
          <p:cNvPr id="276" name="Rectangle 26"/>
          <p:cNvSpPr/>
          <p:nvPr/>
        </p:nvSpPr>
        <p:spPr>
          <a:xfrm>
            <a:off x="1097280" y="4572000"/>
            <a:ext cx="10058040" cy="12240"/>
          </a:xfrm>
          <a:prstGeom prst="rect">
            <a:avLst/>
          </a:prstGeom>
          <a:solidFill>
            <a:srgbClr val="e0d0a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7" name="TextBox 27"/>
          <p:cNvSpPr/>
          <p:nvPr/>
        </p:nvSpPr>
        <p:spPr>
          <a:xfrm>
            <a:off x="1097280" y="4709160"/>
            <a:ext cx="1005804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zh-CN" sz="1400" spc="-1" strike="noStrike">
                <a:solidFill>
                  <a:srgbClr val="4a4a4a"/>
                </a:solidFill>
                <a:latin typeface="Microsoft YaHei"/>
              </a:rPr>
              <a:t>专题学习 • 深刻领会 • 贯彻落实</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9"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0"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1" name="Rectangle 4"/>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2" name="TextBox 5"/>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一、讲话概况</a:t>
            </a:r>
            <a:endParaRPr b="0" lang="en-US" sz="3000" spc="-1" strike="noStrike">
              <a:latin typeface="Arial"/>
            </a:endParaRPr>
          </a:p>
        </p:txBody>
      </p:sp>
      <p:sp>
        <p:nvSpPr>
          <p:cNvPr id="283" name="TextBox 6"/>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11</a:t>
            </a:r>
            <a:endParaRPr b="0" lang="en-US" sz="1400" spc="-1" strike="noStrike">
              <a:latin typeface="Arial"/>
            </a:endParaRPr>
          </a:p>
        </p:txBody>
      </p:sp>
      <p:sp>
        <p:nvSpPr>
          <p:cNvPr id="284" name="TextBox 7"/>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方案二</a:t>
            </a:r>
            <a:endParaRPr b="0" lang="en-US" sz="1100" spc="-1" strike="noStrike">
              <a:latin typeface="Arial"/>
            </a:endParaRPr>
          </a:p>
        </p:txBody>
      </p:sp>
      <p:sp>
        <p:nvSpPr>
          <p:cNvPr id="285" name="Rectangle 8"/>
          <p:cNvSpPr/>
          <p:nvPr/>
        </p:nvSpPr>
        <p:spPr>
          <a:xfrm>
            <a:off x="1097280" y="1407240"/>
            <a:ext cx="50400" cy="63972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6" name="TextBox 9"/>
          <p:cNvSpPr/>
          <p:nvPr/>
        </p:nvSpPr>
        <p:spPr>
          <a:xfrm>
            <a:off x="1463040" y="1280160"/>
            <a:ext cx="960084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2d2d2d"/>
                </a:solidFill>
                <a:latin typeface="Microsoft YaHei"/>
              </a:rPr>
              <a:t>2025</a:t>
            </a:r>
            <a:r>
              <a:rPr b="0" lang="zh-CN" sz="1800" spc="-1" strike="noStrike">
                <a:solidFill>
                  <a:srgbClr val="2d2d2d"/>
                </a:solidFill>
                <a:latin typeface="Microsoft YaHei"/>
              </a:rPr>
              <a:t>年</a:t>
            </a:r>
            <a:r>
              <a:rPr b="0" lang="en-US" sz="1800" spc="-1" strike="noStrike">
                <a:solidFill>
                  <a:srgbClr val="2d2d2d"/>
                </a:solidFill>
                <a:latin typeface="Microsoft YaHei"/>
              </a:rPr>
              <a:t>3</a:t>
            </a:r>
            <a:r>
              <a:rPr b="0" lang="zh-CN" sz="1800" spc="-1" strike="noStrike">
                <a:solidFill>
                  <a:srgbClr val="2d2d2d"/>
                </a:solidFill>
                <a:latin typeface="Microsoft YaHei"/>
              </a:rPr>
              <a:t>月</a:t>
            </a:r>
            <a:r>
              <a:rPr b="0" lang="en-US" sz="1800" spc="-1" strike="noStrike">
                <a:solidFill>
                  <a:srgbClr val="2d2d2d"/>
                </a:solidFill>
                <a:latin typeface="Microsoft YaHei"/>
              </a:rPr>
              <a:t>5</a:t>
            </a:r>
            <a:r>
              <a:rPr b="0" lang="zh-CN" sz="1800" spc="-1" strike="noStrike">
                <a:solidFill>
                  <a:srgbClr val="2d2d2d"/>
                </a:solidFill>
                <a:latin typeface="Microsoft YaHei"/>
              </a:rPr>
              <a:t>日，习近平总书记参加十四届全国人大四次会议江苏代表团审议并发表重要讲话。</a:t>
            </a:r>
            <a:endParaRPr b="0" lang="en-US" sz="1800" spc="-1" strike="noStrike">
              <a:latin typeface="Arial"/>
            </a:endParaRPr>
          </a:p>
        </p:txBody>
      </p:sp>
      <p:sp>
        <p:nvSpPr>
          <p:cNvPr id="287" name="Rectangle 10"/>
          <p:cNvSpPr/>
          <p:nvPr/>
        </p:nvSpPr>
        <p:spPr>
          <a:xfrm>
            <a:off x="1097280" y="2504520"/>
            <a:ext cx="50400" cy="63972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8" name="TextBox 11"/>
          <p:cNvSpPr/>
          <p:nvPr/>
        </p:nvSpPr>
        <p:spPr>
          <a:xfrm>
            <a:off x="1463040" y="2377440"/>
            <a:ext cx="96008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1800" spc="-1" strike="noStrike">
                <a:solidFill>
                  <a:srgbClr val="2d2d2d"/>
                </a:solidFill>
                <a:latin typeface="Microsoft YaHei"/>
              </a:rPr>
              <a:t>立足国家发展全局，明确提出经济大省要扛起责任、勇挑大梁。</a:t>
            </a:r>
            <a:endParaRPr b="0" lang="en-US" sz="1800" spc="-1" strike="noStrike">
              <a:latin typeface="Arial"/>
            </a:endParaRPr>
          </a:p>
        </p:txBody>
      </p:sp>
      <p:sp>
        <p:nvSpPr>
          <p:cNvPr id="289" name="Rectangle 12"/>
          <p:cNvSpPr/>
          <p:nvPr/>
        </p:nvSpPr>
        <p:spPr>
          <a:xfrm>
            <a:off x="1097280" y="3601800"/>
            <a:ext cx="50400" cy="63972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0" name="TextBox 13"/>
          <p:cNvSpPr/>
          <p:nvPr/>
        </p:nvSpPr>
        <p:spPr>
          <a:xfrm>
            <a:off x="1463040" y="3474720"/>
            <a:ext cx="960084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1800" spc="-1" strike="noStrike">
                <a:solidFill>
                  <a:srgbClr val="2d2d2d"/>
                </a:solidFill>
                <a:latin typeface="Microsoft YaHei"/>
              </a:rPr>
              <a:t>围绕新质生产力、改革开放、民生保障、党的建设作出部署指引，为各地推进高质量发展指明方向、提供遵循。</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2"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3"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4" name="Rectangle 4"/>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5" name="TextBox 5"/>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二、总体精神主旨</a:t>
            </a:r>
            <a:endParaRPr b="0" lang="en-US" sz="3000" spc="-1" strike="noStrike">
              <a:latin typeface="Arial"/>
            </a:endParaRPr>
          </a:p>
        </p:txBody>
      </p:sp>
      <p:sp>
        <p:nvSpPr>
          <p:cNvPr id="296" name="TextBox 6"/>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12</a:t>
            </a:r>
            <a:endParaRPr b="0" lang="en-US" sz="1400" spc="-1" strike="noStrike">
              <a:latin typeface="Arial"/>
            </a:endParaRPr>
          </a:p>
        </p:txBody>
      </p:sp>
      <p:sp>
        <p:nvSpPr>
          <p:cNvPr id="297" name="TextBox 7"/>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方案二</a:t>
            </a:r>
            <a:endParaRPr b="0" lang="en-US" sz="1100" spc="-1" strike="noStrike">
              <a:latin typeface="Arial"/>
            </a:endParaRPr>
          </a:p>
        </p:txBody>
      </p:sp>
      <p:sp>
        <p:nvSpPr>
          <p:cNvPr id="298" name="Rectangle 8"/>
          <p:cNvSpPr/>
          <p:nvPr/>
        </p:nvSpPr>
        <p:spPr>
          <a:xfrm>
            <a:off x="6080760" y="1188720"/>
            <a:ext cx="25200" cy="5028840"/>
          </a:xfrm>
          <a:prstGeom prst="rect">
            <a:avLst/>
          </a:prstGeom>
          <a:solidFill>
            <a:srgbClr val="e0d0a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9" name="TextBox 9"/>
          <p:cNvSpPr/>
          <p:nvPr/>
        </p:nvSpPr>
        <p:spPr>
          <a:xfrm>
            <a:off x="731520" y="1143000"/>
            <a:ext cx="457164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000" spc="-1" strike="noStrike">
                <a:solidFill>
                  <a:srgbClr val="c41e3a"/>
                </a:solidFill>
                <a:latin typeface="Microsoft YaHei"/>
              </a:rPr>
              <a:t>▶  </a:t>
            </a:r>
            <a:r>
              <a:rPr b="1" lang="zh-CN" sz="2000" spc="-1" strike="noStrike">
                <a:solidFill>
                  <a:srgbClr val="c41e3a"/>
                </a:solidFill>
                <a:latin typeface="Microsoft YaHei"/>
              </a:rPr>
              <a:t>要点解读</a:t>
            </a:r>
            <a:endParaRPr b="0" lang="en-US" sz="2000" spc="-1" strike="noStrike">
              <a:latin typeface="Arial"/>
            </a:endParaRPr>
          </a:p>
        </p:txBody>
      </p:sp>
      <p:sp>
        <p:nvSpPr>
          <p:cNvPr id="300" name="TextBox 10"/>
          <p:cNvSpPr/>
          <p:nvPr/>
        </p:nvSpPr>
        <p:spPr>
          <a:xfrm>
            <a:off x="914400" y="1645920"/>
            <a:ext cx="4845960" cy="5763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en-US" sz="1600" spc="-1" strike="noStrike">
                <a:solidFill>
                  <a:srgbClr val="e8c35d"/>
                </a:solidFill>
                <a:latin typeface="Microsoft YaHei"/>
              </a:rPr>
              <a:t>1. </a:t>
            </a:r>
            <a:r>
              <a:rPr b="0" lang="zh-CN" sz="1600" spc="-1" strike="noStrike">
                <a:solidFill>
                  <a:srgbClr val="2d2d2d"/>
                </a:solidFill>
                <a:latin typeface="Microsoft YaHei"/>
              </a:rPr>
              <a:t>完整、准确、全面贯彻新发展理念，服务构建新发展格局。</a:t>
            </a:r>
            <a:endParaRPr b="0" lang="en-US" sz="1600" spc="-1" strike="noStrike">
              <a:latin typeface="Arial"/>
            </a:endParaRPr>
          </a:p>
        </p:txBody>
      </p:sp>
      <p:sp>
        <p:nvSpPr>
          <p:cNvPr id="301" name="TextBox 11"/>
          <p:cNvSpPr/>
          <p:nvPr/>
        </p:nvSpPr>
        <p:spPr>
          <a:xfrm>
            <a:off x="914400" y="2468880"/>
            <a:ext cx="484596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en-US" sz="1600" spc="-1" strike="noStrike">
                <a:solidFill>
                  <a:srgbClr val="e8c35d"/>
                </a:solidFill>
                <a:latin typeface="Microsoft YaHei"/>
              </a:rPr>
              <a:t>2. </a:t>
            </a:r>
            <a:r>
              <a:rPr b="0" lang="zh-CN" sz="1600" spc="-1" strike="noStrike">
                <a:solidFill>
                  <a:srgbClr val="2d2d2d"/>
                </a:solidFill>
                <a:latin typeface="Microsoft YaHei"/>
              </a:rPr>
              <a:t>牢牢把握高质量发展首要任务，做强实体经济。</a:t>
            </a:r>
            <a:endParaRPr b="0" lang="en-US" sz="1600" spc="-1" strike="noStrike">
              <a:latin typeface="Arial"/>
            </a:endParaRPr>
          </a:p>
        </p:txBody>
      </p:sp>
      <p:sp>
        <p:nvSpPr>
          <p:cNvPr id="302" name="TextBox 12"/>
          <p:cNvSpPr/>
          <p:nvPr/>
        </p:nvSpPr>
        <p:spPr>
          <a:xfrm>
            <a:off x="914400" y="3291840"/>
            <a:ext cx="484596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en-US" sz="1600" spc="-1" strike="noStrike">
                <a:solidFill>
                  <a:srgbClr val="e8c35d"/>
                </a:solidFill>
                <a:latin typeface="Microsoft YaHei"/>
              </a:rPr>
              <a:t>3. </a:t>
            </a:r>
            <a:r>
              <a:rPr b="0" lang="zh-CN" sz="1600" spc="-1" strike="noStrike">
                <a:solidFill>
                  <a:srgbClr val="2d2d2d"/>
                </a:solidFill>
                <a:latin typeface="Microsoft YaHei"/>
              </a:rPr>
              <a:t>大力发展新质生产力，深化改革扩大开放。</a:t>
            </a:r>
            <a:endParaRPr b="0" lang="en-US" sz="1600" spc="-1" strike="noStrike">
              <a:latin typeface="Arial"/>
            </a:endParaRPr>
          </a:p>
        </p:txBody>
      </p:sp>
      <p:sp>
        <p:nvSpPr>
          <p:cNvPr id="303" name="TextBox 13"/>
          <p:cNvSpPr/>
          <p:nvPr/>
        </p:nvSpPr>
        <p:spPr>
          <a:xfrm>
            <a:off x="914400" y="4114800"/>
            <a:ext cx="484596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en-US" sz="1600" spc="-1" strike="noStrike">
                <a:solidFill>
                  <a:srgbClr val="e8c35d"/>
                </a:solidFill>
                <a:latin typeface="Microsoft YaHei"/>
              </a:rPr>
              <a:t>4. </a:t>
            </a:r>
            <a:r>
              <a:rPr b="0" lang="zh-CN" sz="1600" spc="-1" strike="noStrike">
                <a:solidFill>
                  <a:srgbClr val="2d2d2d"/>
                </a:solidFill>
                <a:latin typeface="Microsoft YaHei"/>
              </a:rPr>
              <a:t>统筹发展和安全，持续增进民生福祉。</a:t>
            </a:r>
            <a:endParaRPr b="0" lang="en-US" sz="1600" spc="-1" strike="noStrike">
              <a:latin typeface="Arial"/>
            </a:endParaRPr>
          </a:p>
        </p:txBody>
      </p:sp>
      <p:sp>
        <p:nvSpPr>
          <p:cNvPr id="304" name="TextBox 14"/>
          <p:cNvSpPr/>
          <p:nvPr/>
        </p:nvSpPr>
        <p:spPr>
          <a:xfrm>
            <a:off x="6400800" y="1143000"/>
            <a:ext cx="502884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000" spc="-1" strike="noStrike">
                <a:solidFill>
                  <a:srgbClr val="c41e3a"/>
                </a:solidFill>
                <a:latin typeface="Microsoft YaHei"/>
              </a:rPr>
              <a:t>▶  </a:t>
            </a:r>
            <a:r>
              <a:rPr b="1" lang="zh-CN" sz="2000" spc="-1" strike="noStrike">
                <a:solidFill>
                  <a:srgbClr val="c41e3a"/>
                </a:solidFill>
                <a:latin typeface="Microsoft YaHei"/>
              </a:rPr>
              <a:t>实践要求</a:t>
            </a:r>
            <a:endParaRPr b="0" lang="en-US" sz="2000" spc="-1" strike="noStrike">
              <a:latin typeface="Arial"/>
            </a:endParaRPr>
          </a:p>
        </p:txBody>
      </p:sp>
      <p:sp>
        <p:nvSpPr>
          <p:cNvPr id="305" name="TextBox 15"/>
          <p:cNvSpPr/>
          <p:nvPr/>
        </p:nvSpPr>
        <p:spPr>
          <a:xfrm>
            <a:off x="6583680" y="1645920"/>
            <a:ext cx="484596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en-US" sz="1600" spc="-1" strike="noStrike">
                <a:solidFill>
                  <a:srgbClr val="e8c35d"/>
                </a:solidFill>
                <a:latin typeface="Microsoft YaHei"/>
              </a:rPr>
              <a:t>1. </a:t>
            </a:r>
            <a:r>
              <a:rPr b="0" lang="zh-CN" sz="1600" spc="-1" strike="noStrike">
                <a:solidFill>
                  <a:srgbClr val="2d2d2d"/>
                </a:solidFill>
                <a:latin typeface="Microsoft YaHei"/>
              </a:rPr>
              <a:t>以创新驱动为核心，加快产业转型升级。</a:t>
            </a:r>
            <a:endParaRPr b="0" lang="en-US" sz="1600" spc="-1" strike="noStrike">
              <a:latin typeface="Arial"/>
            </a:endParaRPr>
          </a:p>
        </p:txBody>
      </p:sp>
      <p:sp>
        <p:nvSpPr>
          <p:cNvPr id="306" name="TextBox 16"/>
          <p:cNvSpPr/>
          <p:nvPr/>
        </p:nvSpPr>
        <p:spPr>
          <a:xfrm>
            <a:off x="6583680" y="2468880"/>
            <a:ext cx="484596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en-US" sz="1600" spc="-1" strike="noStrike">
                <a:solidFill>
                  <a:srgbClr val="e8c35d"/>
                </a:solidFill>
                <a:latin typeface="Microsoft YaHei"/>
              </a:rPr>
              <a:t>2. </a:t>
            </a:r>
            <a:r>
              <a:rPr b="0" lang="zh-CN" sz="1600" spc="-1" strike="noStrike">
                <a:solidFill>
                  <a:srgbClr val="2d2d2d"/>
                </a:solidFill>
                <a:latin typeface="Microsoft YaHei"/>
              </a:rPr>
              <a:t>优化营商环境，激发市场主体活力。</a:t>
            </a:r>
            <a:endParaRPr b="0" lang="en-US" sz="1600" spc="-1" strike="noStrike">
              <a:latin typeface="Arial"/>
            </a:endParaRPr>
          </a:p>
        </p:txBody>
      </p:sp>
      <p:sp>
        <p:nvSpPr>
          <p:cNvPr id="307" name="TextBox 17"/>
          <p:cNvSpPr/>
          <p:nvPr/>
        </p:nvSpPr>
        <p:spPr>
          <a:xfrm>
            <a:off x="6583680" y="3291840"/>
            <a:ext cx="484596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en-US" sz="1600" spc="-1" strike="noStrike">
                <a:solidFill>
                  <a:srgbClr val="e8c35d"/>
                </a:solidFill>
                <a:latin typeface="Microsoft YaHei"/>
              </a:rPr>
              <a:t>3. </a:t>
            </a:r>
            <a:r>
              <a:rPr b="0" lang="zh-CN" sz="1600" spc="-1" strike="noStrike">
                <a:solidFill>
                  <a:srgbClr val="2d2d2d"/>
                </a:solidFill>
                <a:latin typeface="Microsoft YaHei"/>
              </a:rPr>
              <a:t>以高质量党建引领保障高质量发展。</a:t>
            </a:r>
            <a:endParaRPr b="0" lang="en-US" sz="1600" spc="-1" strike="noStrike">
              <a:latin typeface="Arial"/>
            </a:endParaRPr>
          </a:p>
        </p:txBody>
      </p:sp>
      <p:sp>
        <p:nvSpPr>
          <p:cNvPr id="308" name="TextBox 18"/>
          <p:cNvSpPr/>
          <p:nvPr/>
        </p:nvSpPr>
        <p:spPr>
          <a:xfrm>
            <a:off x="6583680" y="4114800"/>
            <a:ext cx="484596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en-US" sz="1600" spc="-1" strike="noStrike">
                <a:solidFill>
                  <a:srgbClr val="e8c35d"/>
                </a:solidFill>
                <a:latin typeface="Microsoft YaHei"/>
              </a:rPr>
              <a:t>4. </a:t>
            </a:r>
            <a:r>
              <a:rPr b="0" lang="zh-CN" sz="1600" spc="-1" strike="noStrike">
                <a:solidFill>
                  <a:srgbClr val="2d2d2d"/>
                </a:solidFill>
                <a:latin typeface="Microsoft YaHei"/>
              </a:rPr>
              <a:t>坚持把人民群众对美好生活的向往作为奋斗目标。</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0"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1"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2" name="TextBox 4"/>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三、核心要点：发展新质生产力</a:t>
            </a:r>
            <a:endParaRPr b="0" lang="en-US" sz="3000" spc="-1" strike="noStrike">
              <a:latin typeface="Arial"/>
            </a:endParaRPr>
          </a:p>
        </p:txBody>
      </p:sp>
      <p:sp>
        <p:nvSpPr>
          <p:cNvPr id="313" name="TextBox 5"/>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13</a:t>
            </a:r>
            <a:endParaRPr b="0" lang="en-US" sz="1400" spc="-1" strike="noStrike">
              <a:latin typeface="Arial"/>
            </a:endParaRPr>
          </a:p>
        </p:txBody>
      </p:sp>
      <p:sp>
        <p:nvSpPr>
          <p:cNvPr id="314" name="TextBox 6"/>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方案二</a:t>
            </a:r>
            <a:endParaRPr b="0" lang="en-US" sz="1100" spc="-1" strike="noStrike">
              <a:latin typeface="Arial"/>
            </a:endParaRPr>
          </a:p>
        </p:txBody>
      </p:sp>
      <p:sp>
        <p:nvSpPr>
          <p:cNvPr id="315" name="Rectangle 7"/>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6" name="Rounded Rectangle 8"/>
          <p:cNvSpPr/>
          <p:nvPr/>
        </p:nvSpPr>
        <p:spPr>
          <a:xfrm>
            <a:off x="914400" y="1188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7" name="Rectangle 9"/>
          <p:cNvSpPr/>
          <p:nvPr/>
        </p:nvSpPr>
        <p:spPr>
          <a:xfrm>
            <a:off x="914400" y="1188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8" name="Oval 10"/>
          <p:cNvSpPr/>
          <p:nvPr/>
        </p:nvSpPr>
        <p:spPr>
          <a:xfrm>
            <a:off x="1188720" y="1315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1</a:t>
            </a:r>
            <a:endParaRPr b="0" lang="en-US" sz="1400" spc="-1" strike="noStrike">
              <a:latin typeface="Arial"/>
            </a:endParaRPr>
          </a:p>
        </p:txBody>
      </p:sp>
      <p:sp>
        <p:nvSpPr>
          <p:cNvPr id="319" name="TextBox 11"/>
          <p:cNvSpPr/>
          <p:nvPr/>
        </p:nvSpPr>
        <p:spPr>
          <a:xfrm>
            <a:off x="1737360" y="1252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聚力科技创新</a:t>
            </a:r>
            <a:r>
              <a:rPr b="0" lang="en-US" sz="1500" spc="-1" strike="noStrike">
                <a:solidFill>
                  <a:srgbClr val="4a4a4a"/>
                </a:solidFill>
                <a:latin typeface="Microsoft YaHei"/>
              </a:rPr>
              <a:t>     ——  攻坚关键核心技术，实现高水平科技自立自强。</a:t>
            </a:r>
            <a:endParaRPr b="0" lang="en-US" sz="1500" spc="-1" strike="noStrike">
              <a:latin typeface="Arial"/>
            </a:endParaRPr>
          </a:p>
        </p:txBody>
      </p:sp>
      <p:sp>
        <p:nvSpPr>
          <p:cNvPr id="320" name="Rounded Rectangle 12"/>
          <p:cNvSpPr/>
          <p:nvPr/>
        </p:nvSpPr>
        <p:spPr>
          <a:xfrm>
            <a:off x="914400" y="2331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1" name="Rectangle 13"/>
          <p:cNvSpPr/>
          <p:nvPr/>
        </p:nvSpPr>
        <p:spPr>
          <a:xfrm>
            <a:off x="914400" y="2331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2" name="Oval 14"/>
          <p:cNvSpPr/>
          <p:nvPr/>
        </p:nvSpPr>
        <p:spPr>
          <a:xfrm>
            <a:off x="1188720" y="2458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2</a:t>
            </a:r>
            <a:endParaRPr b="0" lang="en-US" sz="1400" spc="-1" strike="noStrike">
              <a:latin typeface="Arial"/>
            </a:endParaRPr>
          </a:p>
        </p:txBody>
      </p:sp>
      <p:sp>
        <p:nvSpPr>
          <p:cNvPr id="323" name="TextBox 15"/>
          <p:cNvSpPr/>
          <p:nvPr/>
        </p:nvSpPr>
        <p:spPr>
          <a:xfrm>
            <a:off x="1737360" y="2395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推动深度融合</a:t>
            </a:r>
            <a:r>
              <a:rPr b="0" lang="en-US" sz="1500" spc="-1" strike="noStrike">
                <a:solidFill>
                  <a:srgbClr val="4a4a4a"/>
                </a:solidFill>
                <a:latin typeface="Microsoft YaHei"/>
              </a:rPr>
              <a:t>     ——  科创、产业、人才深度融合，形成发展合力。</a:t>
            </a:r>
            <a:endParaRPr b="0" lang="en-US" sz="1500" spc="-1" strike="noStrike">
              <a:latin typeface="Arial"/>
            </a:endParaRPr>
          </a:p>
        </p:txBody>
      </p:sp>
      <p:sp>
        <p:nvSpPr>
          <p:cNvPr id="324" name="Rounded Rectangle 16"/>
          <p:cNvSpPr/>
          <p:nvPr/>
        </p:nvSpPr>
        <p:spPr>
          <a:xfrm>
            <a:off x="914400" y="3474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5" name="Rectangle 17"/>
          <p:cNvSpPr/>
          <p:nvPr/>
        </p:nvSpPr>
        <p:spPr>
          <a:xfrm>
            <a:off x="914400" y="3474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6" name="Oval 18"/>
          <p:cNvSpPr/>
          <p:nvPr/>
        </p:nvSpPr>
        <p:spPr>
          <a:xfrm>
            <a:off x="1188720" y="3601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3</a:t>
            </a:r>
            <a:endParaRPr b="0" lang="en-US" sz="1400" spc="-1" strike="noStrike">
              <a:latin typeface="Arial"/>
            </a:endParaRPr>
          </a:p>
        </p:txBody>
      </p:sp>
      <p:sp>
        <p:nvSpPr>
          <p:cNvPr id="327" name="TextBox 19"/>
          <p:cNvSpPr/>
          <p:nvPr/>
        </p:nvSpPr>
        <p:spPr>
          <a:xfrm>
            <a:off x="1737360" y="3538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做强实体经济</a:t>
            </a:r>
            <a:r>
              <a:rPr b="0" lang="en-US" sz="1500" spc="-1" strike="noStrike">
                <a:solidFill>
                  <a:srgbClr val="4a4a4a"/>
                </a:solidFill>
                <a:latin typeface="Microsoft YaHei"/>
              </a:rPr>
              <a:t>     ——  推进产业转型升级，夯实经济根基。</a:t>
            </a:r>
            <a:endParaRPr b="0" lang="en-US" sz="1500" spc="-1" strike="noStrike">
              <a:latin typeface="Arial"/>
            </a:endParaRPr>
          </a:p>
        </p:txBody>
      </p:sp>
      <p:sp>
        <p:nvSpPr>
          <p:cNvPr id="328" name="Rounded Rectangle 20"/>
          <p:cNvSpPr/>
          <p:nvPr/>
        </p:nvSpPr>
        <p:spPr>
          <a:xfrm>
            <a:off x="914400" y="4617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9" name="Rectangle 21"/>
          <p:cNvSpPr/>
          <p:nvPr/>
        </p:nvSpPr>
        <p:spPr>
          <a:xfrm>
            <a:off x="914400" y="4617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0" name="Oval 22"/>
          <p:cNvSpPr/>
          <p:nvPr/>
        </p:nvSpPr>
        <p:spPr>
          <a:xfrm>
            <a:off x="1188720" y="4744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4</a:t>
            </a:r>
            <a:endParaRPr b="0" lang="en-US" sz="1400" spc="-1" strike="noStrike">
              <a:latin typeface="Arial"/>
            </a:endParaRPr>
          </a:p>
        </p:txBody>
      </p:sp>
      <p:sp>
        <p:nvSpPr>
          <p:cNvPr id="331" name="TextBox 23"/>
          <p:cNvSpPr/>
          <p:nvPr/>
        </p:nvSpPr>
        <p:spPr>
          <a:xfrm>
            <a:off x="1737360" y="4681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培育新兴产业</a:t>
            </a:r>
            <a:r>
              <a:rPr b="0" lang="en-US" sz="1500" spc="-1" strike="noStrike">
                <a:solidFill>
                  <a:srgbClr val="4a4a4a"/>
                </a:solidFill>
                <a:latin typeface="Microsoft YaHei"/>
              </a:rPr>
              <a:t>     ——  改造传统产业，夯实发展根基。</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3"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4"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5" name="TextBox 4"/>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四、核心要点：深化改革扩大开放</a:t>
            </a:r>
            <a:endParaRPr b="0" lang="en-US" sz="3000" spc="-1" strike="noStrike">
              <a:latin typeface="Arial"/>
            </a:endParaRPr>
          </a:p>
        </p:txBody>
      </p:sp>
      <p:sp>
        <p:nvSpPr>
          <p:cNvPr id="336" name="TextBox 5"/>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14</a:t>
            </a:r>
            <a:endParaRPr b="0" lang="en-US" sz="1400" spc="-1" strike="noStrike">
              <a:latin typeface="Arial"/>
            </a:endParaRPr>
          </a:p>
        </p:txBody>
      </p:sp>
      <p:sp>
        <p:nvSpPr>
          <p:cNvPr id="337" name="TextBox 6"/>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方案二</a:t>
            </a:r>
            <a:endParaRPr b="0" lang="en-US" sz="1100" spc="-1" strike="noStrike">
              <a:latin typeface="Arial"/>
            </a:endParaRPr>
          </a:p>
        </p:txBody>
      </p:sp>
      <p:sp>
        <p:nvSpPr>
          <p:cNvPr id="338" name="Rectangle 7"/>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9" name="Rounded Rectangle 8"/>
          <p:cNvSpPr/>
          <p:nvPr/>
        </p:nvSpPr>
        <p:spPr>
          <a:xfrm>
            <a:off x="914400" y="1188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0" name="Rectangle 9"/>
          <p:cNvSpPr/>
          <p:nvPr/>
        </p:nvSpPr>
        <p:spPr>
          <a:xfrm>
            <a:off x="914400" y="1188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1" name="Oval 10"/>
          <p:cNvSpPr/>
          <p:nvPr/>
        </p:nvSpPr>
        <p:spPr>
          <a:xfrm>
            <a:off x="1188720" y="1315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1</a:t>
            </a:r>
            <a:endParaRPr b="0" lang="en-US" sz="1400" spc="-1" strike="noStrike">
              <a:latin typeface="Arial"/>
            </a:endParaRPr>
          </a:p>
        </p:txBody>
      </p:sp>
      <p:sp>
        <p:nvSpPr>
          <p:cNvPr id="342" name="TextBox 11"/>
          <p:cNvSpPr/>
          <p:nvPr/>
        </p:nvSpPr>
        <p:spPr>
          <a:xfrm>
            <a:off x="1737360" y="1252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破除体制机制障碍</a:t>
            </a:r>
            <a:r>
              <a:rPr b="0" lang="en-US" sz="1500" spc="-1" strike="noStrike">
                <a:solidFill>
                  <a:srgbClr val="4a4a4a"/>
                </a:solidFill>
                <a:latin typeface="Microsoft YaHei"/>
              </a:rPr>
              <a:t>     ——  持续破除体制机制堵点难点，激发内生动力。</a:t>
            </a:r>
            <a:endParaRPr b="0" lang="en-US" sz="1500" spc="-1" strike="noStrike">
              <a:latin typeface="Arial"/>
            </a:endParaRPr>
          </a:p>
        </p:txBody>
      </p:sp>
      <p:sp>
        <p:nvSpPr>
          <p:cNvPr id="343" name="Rounded Rectangle 12"/>
          <p:cNvSpPr/>
          <p:nvPr/>
        </p:nvSpPr>
        <p:spPr>
          <a:xfrm>
            <a:off x="914400" y="2331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4" name="Rectangle 13"/>
          <p:cNvSpPr/>
          <p:nvPr/>
        </p:nvSpPr>
        <p:spPr>
          <a:xfrm>
            <a:off x="914400" y="2331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5" name="Oval 14"/>
          <p:cNvSpPr/>
          <p:nvPr/>
        </p:nvSpPr>
        <p:spPr>
          <a:xfrm>
            <a:off x="1188720" y="2458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2</a:t>
            </a:r>
            <a:endParaRPr b="0" lang="en-US" sz="1400" spc="-1" strike="noStrike">
              <a:latin typeface="Arial"/>
            </a:endParaRPr>
          </a:p>
        </p:txBody>
      </p:sp>
      <p:sp>
        <p:nvSpPr>
          <p:cNvPr id="346" name="TextBox 15"/>
          <p:cNvSpPr/>
          <p:nvPr/>
        </p:nvSpPr>
        <p:spPr>
          <a:xfrm>
            <a:off x="1737360" y="2395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优化营商环境</a:t>
            </a:r>
            <a:r>
              <a:rPr b="0" lang="en-US" sz="1500" spc="-1" strike="noStrike">
                <a:solidFill>
                  <a:srgbClr val="4a4a4a"/>
                </a:solidFill>
                <a:latin typeface="Microsoft YaHei"/>
              </a:rPr>
              <a:t>     ——  持续优化营商环境，激发市场活力。</a:t>
            </a:r>
            <a:endParaRPr b="0" lang="en-US" sz="1500" spc="-1" strike="noStrike">
              <a:latin typeface="Arial"/>
            </a:endParaRPr>
          </a:p>
        </p:txBody>
      </p:sp>
      <p:sp>
        <p:nvSpPr>
          <p:cNvPr id="347" name="Rounded Rectangle 16"/>
          <p:cNvSpPr/>
          <p:nvPr/>
        </p:nvSpPr>
        <p:spPr>
          <a:xfrm>
            <a:off x="914400" y="3474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8" name="Rectangle 17"/>
          <p:cNvSpPr/>
          <p:nvPr/>
        </p:nvSpPr>
        <p:spPr>
          <a:xfrm>
            <a:off x="914400" y="3474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9" name="Oval 18"/>
          <p:cNvSpPr/>
          <p:nvPr/>
        </p:nvSpPr>
        <p:spPr>
          <a:xfrm>
            <a:off x="1188720" y="3601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3</a:t>
            </a:r>
            <a:endParaRPr b="0" lang="en-US" sz="1400" spc="-1" strike="noStrike">
              <a:latin typeface="Arial"/>
            </a:endParaRPr>
          </a:p>
        </p:txBody>
      </p:sp>
      <p:sp>
        <p:nvSpPr>
          <p:cNvPr id="350" name="TextBox 19"/>
          <p:cNvSpPr/>
          <p:nvPr/>
        </p:nvSpPr>
        <p:spPr>
          <a:xfrm>
            <a:off x="1737360" y="3538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融入区域协同发展</a:t>
            </a:r>
            <a:r>
              <a:rPr b="0" lang="en-US" sz="1500" spc="-1" strike="noStrike">
                <a:solidFill>
                  <a:srgbClr val="4a4a4a"/>
                </a:solidFill>
                <a:latin typeface="Microsoft YaHei"/>
              </a:rPr>
              <a:t>     ——  主动融入区域协同发展布局，拓展发展空间。</a:t>
            </a:r>
            <a:endParaRPr b="0" lang="en-US" sz="1500" spc="-1" strike="noStrike">
              <a:latin typeface="Arial"/>
            </a:endParaRPr>
          </a:p>
        </p:txBody>
      </p:sp>
      <p:sp>
        <p:nvSpPr>
          <p:cNvPr id="351" name="Rounded Rectangle 20"/>
          <p:cNvSpPr/>
          <p:nvPr/>
        </p:nvSpPr>
        <p:spPr>
          <a:xfrm>
            <a:off x="914400" y="4617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52" name="Rectangle 21"/>
          <p:cNvSpPr/>
          <p:nvPr/>
        </p:nvSpPr>
        <p:spPr>
          <a:xfrm>
            <a:off x="914400" y="4617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53" name="Oval 22"/>
          <p:cNvSpPr/>
          <p:nvPr/>
        </p:nvSpPr>
        <p:spPr>
          <a:xfrm>
            <a:off x="1188720" y="4744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4</a:t>
            </a:r>
            <a:endParaRPr b="0" lang="en-US" sz="1400" spc="-1" strike="noStrike">
              <a:latin typeface="Arial"/>
            </a:endParaRPr>
          </a:p>
        </p:txBody>
      </p:sp>
      <p:sp>
        <p:nvSpPr>
          <p:cNvPr id="354" name="TextBox 23"/>
          <p:cNvSpPr/>
          <p:nvPr/>
        </p:nvSpPr>
        <p:spPr>
          <a:xfrm>
            <a:off x="1737360" y="4681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高水平对外开放</a:t>
            </a:r>
            <a:r>
              <a:rPr b="0" lang="en-US" sz="1500" spc="-1" strike="noStrike">
                <a:solidFill>
                  <a:srgbClr val="4a4a4a"/>
                </a:solidFill>
                <a:latin typeface="Microsoft YaHei"/>
              </a:rPr>
              <a:t>     ——  稳步推进高水平对外开放，集聚发展动能。</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56"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57"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58" name="TextBox 4"/>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五、民生保障与党的建设</a:t>
            </a:r>
            <a:endParaRPr b="0" lang="en-US" sz="3000" spc="-1" strike="noStrike">
              <a:latin typeface="Arial"/>
            </a:endParaRPr>
          </a:p>
        </p:txBody>
      </p:sp>
      <p:sp>
        <p:nvSpPr>
          <p:cNvPr id="359" name="TextBox 5"/>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15</a:t>
            </a:r>
            <a:endParaRPr b="0" lang="en-US" sz="1400" spc="-1" strike="noStrike">
              <a:latin typeface="Arial"/>
            </a:endParaRPr>
          </a:p>
        </p:txBody>
      </p:sp>
      <p:sp>
        <p:nvSpPr>
          <p:cNvPr id="360" name="TextBox 6"/>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方案二</a:t>
            </a:r>
            <a:endParaRPr b="0" lang="en-US" sz="1100" spc="-1" strike="noStrike">
              <a:latin typeface="Arial"/>
            </a:endParaRPr>
          </a:p>
        </p:txBody>
      </p:sp>
      <p:sp>
        <p:nvSpPr>
          <p:cNvPr id="361" name="Rectangle 7"/>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2" name="Rounded Rectangle 8"/>
          <p:cNvSpPr/>
          <p:nvPr/>
        </p:nvSpPr>
        <p:spPr>
          <a:xfrm>
            <a:off x="914400" y="1188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3" name="Rectangle 9"/>
          <p:cNvSpPr/>
          <p:nvPr/>
        </p:nvSpPr>
        <p:spPr>
          <a:xfrm>
            <a:off x="914400" y="1188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4" name="Oval 10"/>
          <p:cNvSpPr/>
          <p:nvPr/>
        </p:nvSpPr>
        <p:spPr>
          <a:xfrm>
            <a:off x="1188720" y="1315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1</a:t>
            </a:r>
            <a:endParaRPr b="0" lang="en-US" sz="1400" spc="-1" strike="noStrike">
              <a:latin typeface="Arial"/>
            </a:endParaRPr>
          </a:p>
        </p:txBody>
      </p:sp>
      <p:sp>
        <p:nvSpPr>
          <p:cNvPr id="365" name="TextBox 11"/>
          <p:cNvSpPr/>
          <p:nvPr/>
        </p:nvSpPr>
        <p:spPr>
          <a:xfrm>
            <a:off x="1737360" y="1252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聚焦民生福祉</a:t>
            </a:r>
            <a:r>
              <a:rPr b="0" lang="en-US" sz="1500" spc="-1" strike="noStrike">
                <a:solidFill>
                  <a:srgbClr val="4a4a4a"/>
                </a:solidFill>
                <a:latin typeface="Microsoft YaHei"/>
              </a:rPr>
              <a:t>     ——  统筹城乡融合发展，筑牢民生底线。</a:t>
            </a:r>
            <a:endParaRPr b="0" lang="en-US" sz="1500" spc="-1" strike="noStrike">
              <a:latin typeface="Arial"/>
            </a:endParaRPr>
          </a:p>
        </p:txBody>
      </p:sp>
      <p:sp>
        <p:nvSpPr>
          <p:cNvPr id="366" name="Rounded Rectangle 12"/>
          <p:cNvSpPr/>
          <p:nvPr/>
        </p:nvSpPr>
        <p:spPr>
          <a:xfrm>
            <a:off x="914400" y="2331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7" name="Rectangle 13"/>
          <p:cNvSpPr/>
          <p:nvPr/>
        </p:nvSpPr>
        <p:spPr>
          <a:xfrm>
            <a:off x="914400" y="2331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8" name="Oval 14"/>
          <p:cNvSpPr/>
          <p:nvPr/>
        </p:nvSpPr>
        <p:spPr>
          <a:xfrm>
            <a:off x="1188720" y="2458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2</a:t>
            </a:r>
            <a:endParaRPr b="0" lang="en-US" sz="1400" spc="-1" strike="noStrike">
              <a:latin typeface="Arial"/>
            </a:endParaRPr>
          </a:p>
        </p:txBody>
      </p:sp>
      <p:sp>
        <p:nvSpPr>
          <p:cNvPr id="369" name="TextBox 15"/>
          <p:cNvSpPr/>
          <p:nvPr/>
        </p:nvSpPr>
        <p:spPr>
          <a:xfrm>
            <a:off x="1737360" y="2395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抓实基层治理</a:t>
            </a:r>
            <a:r>
              <a:rPr b="0" lang="en-US" sz="1500" spc="-1" strike="noStrike">
                <a:solidFill>
                  <a:srgbClr val="4a4a4a"/>
                </a:solidFill>
                <a:latin typeface="Microsoft YaHei"/>
              </a:rPr>
              <a:t>     ——  抓实粮食安全、基层治理，扎实推进共同富裕。</a:t>
            </a:r>
            <a:endParaRPr b="0" lang="en-US" sz="1500" spc="-1" strike="noStrike">
              <a:latin typeface="Arial"/>
            </a:endParaRPr>
          </a:p>
        </p:txBody>
      </p:sp>
      <p:sp>
        <p:nvSpPr>
          <p:cNvPr id="370" name="Rounded Rectangle 16"/>
          <p:cNvSpPr/>
          <p:nvPr/>
        </p:nvSpPr>
        <p:spPr>
          <a:xfrm>
            <a:off x="914400" y="3474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1" name="Rectangle 17"/>
          <p:cNvSpPr/>
          <p:nvPr/>
        </p:nvSpPr>
        <p:spPr>
          <a:xfrm>
            <a:off x="914400" y="3474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2" name="Oval 18"/>
          <p:cNvSpPr/>
          <p:nvPr/>
        </p:nvSpPr>
        <p:spPr>
          <a:xfrm>
            <a:off x="1188720" y="3601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3</a:t>
            </a:r>
            <a:endParaRPr b="0" lang="en-US" sz="1400" spc="-1" strike="noStrike">
              <a:latin typeface="Arial"/>
            </a:endParaRPr>
          </a:p>
        </p:txBody>
      </p:sp>
      <p:sp>
        <p:nvSpPr>
          <p:cNvPr id="373" name="TextBox 19"/>
          <p:cNvSpPr/>
          <p:nvPr/>
        </p:nvSpPr>
        <p:spPr>
          <a:xfrm>
            <a:off x="1737360" y="3538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全面从严治党</a:t>
            </a:r>
            <a:r>
              <a:rPr b="0" lang="en-US" sz="1500" spc="-1" strike="noStrike">
                <a:solidFill>
                  <a:srgbClr val="4a4a4a"/>
                </a:solidFill>
                <a:latin typeface="Microsoft YaHei"/>
              </a:rPr>
              <a:t>     ——  压紧压实全面从严治党责任。</a:t>
            </a:r>
            <a:endParaRPr b="0" lang="en-US" sz="1500" spc="-1" strike="noStrike">
              <a:latin typeface="Arial"/>
            </a:endParaRPr>
          </a:p>
        </p:txBody>
      </p:sp>
      <p:sp>
        <p:nvSpPr>
          <p:cNvPr id="374" name="Rounded Rectangle 20"/>
          <p:cNvSpPr/>
          <p:nvPr/>
        </p:nvSpPr>
        <p:spPr>
          <a:xfrm>
            <a:off x="914400" y="4617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5" name="Rectangle 21"/>
          <p:cNvSpPr/>
          <p:nvPr/>
        </p:nvSpPr>
        <p:spPr>
          <a:xfrm>
            <a:off x="914400" y="4617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6" name="Oval 22"/>
          <p:cNvSpPr/>
          <p:nvPr/>
        </p:nvSpPr>
        <p:spPr>
          <a:xfrm>
            <a:off x="1188720" y="4744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4</a:t>
            </a:r>
            <a:endParaRPr b="0" lang="en-US" sz="1400" spc="-1" strike="noStrike">
              <a:latin typeface="Arial"/>
            </a:endParaRPr>
          </a:p>
        </p:txBody>
      </p:sp>
      <p:sp>
        <p:nvSpPr>
          <p:cNvPr id="377" name="TextBox 23"/>
          <p:cNvSpPr/>
          <p:nvPr/>
        </p:nvSpPr>
        <p:spPr>
          <a:xfrm>
            <a:off x="1737360" y="4681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锤炼务实作风</a:t>
            </a:r>
            <a:r>
              <a:rPr b="0" lang="en-US" sz="1500" spc="-1" strike="noStrike">
                <a:solidFill>
                  <a:srgbClr val="4a4a4a"/>
                </a:solidFill>
                <a:latin typeface="Microsoft YaHei"/>
              </a:rPr>
              <a:t>     ——  力戒形式主义，敢于担当履职。</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9"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0"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1" name="TextBox 4"/>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六、学习贯彻落实要求</a:t>
            </a:r>
            <a:endParaRPr b="0" lang="en-US" sz="3000" spc="-1" strike="noStrike">
              <a:latin typeface="Arial"/>
            </a:endParaRPr>
          </a:p>
        </p:txBody>
      </p:sp>
      <p:sp>
        <p:nvSpPr>
          <p:cNvPr id="382" name="TextBox 5"/>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16</a:t>
            </a:r>
            <a:endParaRPr b="0" lang="en-US" sz="1400" spc="-1" strike="noStrike">
              <a:latin typeface="Arial"/>
            </a:endParaRPr>
          </a:p>
        </p:txBody>
      </p:sp>
      <p:sp>
        <p:nvSpPr>
          <p:cNvPr id="383" name="TextBox 6"/>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方案二</a:t>
            </a:r>
            <a:endParaRPr b="0" lang="en-US" sz="1100" spc="-1" strike="noStrike">
              <a:latin typeface="Arial"/>
            </a:endParaRPr>
          </a:p>
        </p:txBody>
      </p:sp>
      <p:sp>
        <p:nvSpPr>
          <p:cNvPr id="384" name="Rectangle 7"/>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5" name="Rounded Rectangle 8"/>
          <p:cNvSpPr/>
          <p:nvPr/>
        </p:nvSpPr>
        <p:spPr>
          <a:xfrm>
            <a:off x="914400" y="1188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6" name="Rectangle 9"/>
          <p:cNvSpPr/>
          <p:nvPr/>
        </p:nvSpPr>
        <p:spPr>
          <a:xfrm>
            <a:off x="914400" y="1188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7" name="Oval 10"/>
          <p:cNvSpPr/>
          <p:nvPr/>
        </p:nvSpPr>
        <p:spPr>
          <a:xfrm>
            <a:off x="1188720" y="1315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1</a:t>
            </a:r>
            <a:endParaRPr b="0" lang="en-US" sz="1400" spc="-1" strike="noStrike">
              <a:latin typeface="Arial"/>
            </a:endParaRPr>
          </a:p>
        </p:txBody>
      </p:sp>
      <p:sp>
        <p:nvSpPr>
          <p:cNvPr id="388" name="TextBox 11"/>
          <p:cNvSpPr/>
          <p:nvPr/>
        </p:nvSpPr>
        <p:spPr>
          <a:xfrm>
            <a:off x="1737360" y="1252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抓实理论学习</a:t>
            </a:r>
            <a:r>
              <a:rPr b="0" lang="en-US" sz="1500" spc="-1" strike="noStrike">
                <a:solidFill>
                  <a:srgbClr val="4a4a4a"/>
                </a:solidFill>
                <a:latin typeface="Microsoft YaHei"/>
              </a:rPr>
              <a:t>     ——  准确领会讲话精神实质。</a:t>
            </a:r>
            <a:endParaRPr b="0" lang="en-US" sz="1500" spc="-1" strike="noStrike">
              <a:latin typeface="Arial"/>
            </a:endParaRPr>
          </a:p>
        </p:txBody>
      </p:sp>
      <p:sp>
        <p:nvSpPr>
          <p:cNvPr id="389" name="Rounded Rectangle 12"/>
          <p:cNvSpPr/>
          <p:nvPr/>
        </p:nvSpPr>
        <p:spPr>
          <a:xfrm>
            <a:off x="914400" y="2331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0" name="Rectangle 13"/>
          <p:cNvSpPr/>
          <p:nvPr/>
        </p:nvSpPr>
        <p:spPr>
          <a:xfrm>
            <a:off x="914400" y="2331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1" name="Oval 14"/>
          <p:cNvSpPr/>
          <p:nvPr/>
        </p:nvSpPr>
        <p:spPr>
          <a:xfrm>
            <a:off x="1188720" y="2458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2</a:t>
            </a:r>
            <a:endParaRPr b="0" lang="en-US" sz="1400" spc="-1" strike="noStrike">
              <a:latin typeface="Arial"/>
            </a:endParaRPr>
          </a:p>
        </p:txBody>
      </p:sp>
      <p:sp>
        <p:nvSpPr>
          <p:cNvPr id="392" name="TextBox 15"/>
          <p:cNvSpPr/>
          <p:nvPr/>
        </p:nvSpPr>
        <p:spPr>
          <a:xfrm>
            <a:off x="1737360" y="2395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对标工作短板</a:t>
            </a:r>
            <a:r>
              <a:rPr b="0" lang="en-US" sz="1500" spc="-1" strike="noStrike">
                <a:solidFill>
                  <a:srgbClr val="4a4a4a"/>
                </a:solidFill>
                <a:latin typeface="Microsoft YaHei"/>
              </a:rPr>
              <a:t>     ——  理清工作思路，靶向补齐弱项。</a:t>
            </a:r>
            <a:endParaRPr b="0" lang="en-US" sz="1500" spc="-1" strike="noStrike">
              <a:latin typeface="Arial"/>
            </a:endParaRPr>
          </a:p>
        </p:txBody>
      </p:sp>
      <p:sp>
        <p:nvSpPr>
          <p:cNvPr id="393" name="Rounded Rectangle 16"/>
          <p:cNvSpPr/>
          <p:nvPr/>
        </p:nvSpPr>
        <p:spPr>
          <a:xfrm>
            <a:off x="914400" y="3474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4" name="Rectangle 17"/>
          <p:cNvSpPr/>
          <p:nvPr/>
        </p:nvSpPr>
        <p:spPr>
          <a:xfrm>
            <a:off x="914400" y="3474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5" name="Oval 18"/>
          <p:cNvSpPr/>
          <p:nvPr/>
        </p:nvSpPr>
        <p:spPr>
          <a:xfrm>
            <a:off x="1188720" y="3601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3</a:t>
            </a:r>
            <a:endParaRPr b="0" lang="en-US" sz="1400" spc="-1" strike="noStrike">
              <a:latin typeface="Arial"/>
            </a:endParaRPr>
          </a:p>
        </p:txBody>
      </p:sp>
      <p:sp>
        <p:nvSpPr>
          <p:cNvPr id="396" name="TextBox 19"/>
          <p:cNvSpPr/>
          <p:nvPr/>
        </p:nvSpPr>
        <p:spPr>
          <a:xfrm>
            <a:off x="1737360" y="3538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立足本职岗位</a:t>
            </a:r>
            <a:r>
              <a:rPr b="0" lang="en-US" sz="1500" spc="-1" strike="noStrike">
                <a:solidFill>
                  <a:srgbClr val="4a4a4a"/>
                </a:solidFill>
                <a:latin typeface="Microsoft YaHei"/>
              </a:rPr>
              <a:t>     ——  把讲话精神转化为具体工作举措。</a:t>
            </a:r>
            <a:endParaRPr b="0" lang="en-US" sz="1500" spc="-1" strike="noStrike">
              <a:latin typeface="Arial"/>
            </a:endParaRPr>
          </a:p>
        </p:txBody>
      </p:sp>
      <p:sp>
        <p:nvSpPr>
          <p:cNvPr id="397" name="Rounded Rectangle 20"/>
          <p:cNvSpPr/>
          <p:nvPr/>
        </p:nvSpPr>
        <p:spPr>
          <a:xfrm>
            <a:off x="914400" y="4617720"/>
            <a:ext cx="10332360" cy="82260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8" name="Rectangle 21"/>
          <p:cNvSpPr/>
          <p:nvPr/>
        </p:nvSpPr>
        <p:spPr>
          <a:xfrm>
            <a:off x="914400" y="4617720"/>
            <a:ext cx="63000" cy="8226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9" name="Oval 22"/>
          <p:cNvSpPr/>
          <p:nvPr/>
        </p:nvSpPr>
        <p:spPr>
          <a:xfrm>
            <a:off x="1188720" y="4744800"/>
            <a:ext cx="365400" cy="365400"/>
          </a:xfrm>
          <a:prstGeom prst="ellipse">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en-US" sz="1400" spc="-1" strike="noStrike">
                <a:solidFill>
                  <a:srgbClr val="ffffff"/>
                </a:solidFill>
                <a:latin typeface="Microsoft YaHei"/>
              </a:rPr>
              <a:t>4</a:t>
            </a:r>
            <a:endParaRPr b="0" lang="en-US" sz="1400" spc="-1" strike="noStrike">
              <a:latin typeface="Arial"/>
            </a:endParaRPr>
          </a:p>
        </p:txBody>
      </p:sp>
      <p:sp>
        <p:nvSpPr>
          <p:cNvPr id="400" name="TextBox 23"/>
          <p:cNvSpPr/>
          <p:nvPr/>
        </p:nvSpPr>
        <p:spPr>
          <a:xfrm>
            <a:off x="1737360" y="4681080"/>
            <a:ext cx="9143640" cy="348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400"/>
              </a:spcAft>
              <a:buNone/>
            </a:pPr>
            <a:r>
              <a:rPr b="1" lang="zh-CN" sz="1700" spc="-1" strike="noStrike">
                <a:solidFill>
                  <a:srgbClr val="c41e3a"/>
                </a:solidFill>
                <a:latin typeface="Microsoft YaHei"/>
              </a:rPr>
              <a:t>严明工作作风</a:t>
            </a:r>
            <a:r>
              <a:rPr b="0" lang="en-US" sz="1500" spc="-1" strike="noStrike">
                <a:solidFill>
                  <a:srgbClr val="4a4a4a"/>
                </a:solidFill>
                <a:latin typeface="Microsoft YaHei"/>
              </a:rPr>
              <a:t>     ——  求真务实，做到知行合一。</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Rectangle 1"/>
          <p:cNvSpPr/>
          <p:nvPr/>
        </p:nvSpPr>
        <p:spPr>
          <a:xfrm>
            <a:off x="0" y="0"/>
            <a:ext cx="12191400" cy="68576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2" name="Rectangle 2"/>
          <p:cNvSpPr/>
          <p:nvPr/>
        </p:nvSpPr>
        <p:spPr>
          <a:xfrm>
            <a:off x="0" y="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3" name="Rectangle 3"/>
          <p:cNvSpPr/>
          <p:nvPr/>
        </p:nvSpPr>
        <p:spPr>
          <a:xfrm>
            <a:off x="0" y="679464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4" name="Rectangle 4"/>
          <p:cNvSpPr/>
          <p:nvPr/>
        </p:nvSpPr>
        <p:spPr>
          <a:xfrm>
            <a:off x="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5" name="Rectangle 5"/>
          <p:cNvSpPr/>
          <p:nvPr/>
        </p:nvSpPr>
        <p:spPr>
          <a:xfrm>
            <a:off x="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6" name="Rectangle 6"/>
          <p:cNvSpPr/>
          <p:nvPr/>
        </p:nvSpPr>
        <p:spPr>
          <a:xfrm>
            <a:off x="1164312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7" name="Rectangle 7"/>
          <p:cNvSpPr/>
          <p:nvPr/>
        </p:nvSpPr>
        <p:spPr>
          <a:xfrm>
            <a:off x="1215360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8" name="Rectangle 8"/>
          <p:cNvSpPr/>
          <p:nvPr/>
        </p:nvSpPr>
        <p:spPr>
          <a:xfrm>
            <a:off x="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9" name="Rectangle 9"/>
          <p:cNvSpPr/>
          <p:nvPr/>
        </p:nvSpPr>
        <p:spPr>
          <a:xfrm>
            <a:off x="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0" name="Rectangle 10"/>
          <p:cNvSpPr/>
          <p:nvPr/>
        </p:nvSpPr>
        <p:spPr>
          <a:xfrm>
            <a:off x="1164312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1" name="Rectangle 11"/>
          <p:cNvSpPr/>
          <p:nvPr/>
        </p:nvSpPr>
        <p:spPr>
          <a:xfrm>
            <a:off x="1215360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2" name="5-Point Star 12"/>
          <p:cNvSpPr/>
          <p:nvPr/>
        </p:nvSpPr>
        <p:spPr>
          <a:xfrm>
            <a:off x="5303520" y="822960"/>
            <a:ext cx="1096920" cy="10969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3" name="5-Point Star 13"/>
          <p:cNvSpPr/>
          <p:nvPr/>
        </p:nvSpPr>
        <p:spPr>
          <a:xfrm>
            <a:off x="5943600" y="1005840"/>
            <a:ext cx="639720" cy="6397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4" name="5-Point Star 14"/>
          <p:cNvSpPr/>
          <p:nvPr/>
        </p:nvSpPr>
        <p:spPr>
          <a:xfrm>
            <a:off x="6400800" y="822960"/>
            <a:ext cx="1096920" cy="10969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5" name="5-Point Star 15"/>
          <p:cNvSpPr/>
          <p:nvPr/>
        </p:nvSpPr>
        <p:spPr>
          <a:xfrm>
            <a:off x="7040880" y="1005840"/>
            <a:ext cx="639720" cy="6397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6" name="5-Point Star 16"/>
          <p:cNvSpPr/>
          <p:nvPr/>
        </p:nvSpPr>
        <p:spPr>
          <a:xfrm>
            <a:off x="7498080" y="822960"/>
            <a:ext cx="1096920" cy="10969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7" name="TextBox 17"/>
          <p:cNvSpPr/>
          <p:nvPr/>
        </p:nvSpPr>
        <p:spPr>
          <a:xfrm>
            <a:off x="1371600" y="2194560"/>
            <a:ext cx="9417960" cy="7297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zh-CN" sz="4200" spc="-1" strike="noStrike">
                <a:solidFill>
                  <a:srgbClr val="ffffff"/>
                </a:solidFill>
                <a:latin typeface="Microsoft YaHei"/>
              </a:rPr>
              <a:t>凝心聚力勇担当 实干奋进促发展</a:t>
            </a:r>
            <a:endParaRPr b="0" lang="en-US" sz="4200" spc="-1" strike="noStrike">
              <a:latin typeface="Arial"/>
            </a:endParaRPr>
          </a:p>
        </p:txBody>
      </p:sp>
      <p:sp>
        <p:nvSpPr>
          <p:cNvPr id="418" name="Rectangle 18"/>
          <p:cNvSpPr/>
          <p:nvPr/>
        </p:nvSpPr>
        <p:spPr>
          <a:xfrm>
            <a:off x="4572000" y="3749040"/>
            <a:ext cx="3017160" cy="378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19" name="TextBox 19"/>
          <p:cNvSpPr/>
          <p:nvPr/>
        </p:nvSpPr>
        <p:spPr>
          <a:xfrm>
            <a:off x="1828800" y="4114800"/>
            <a:ext cx="850356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zh-CN" sz="1800" spc="-1" strike="noStrike">
                <a:solidFill>
                  <a:srgbClr val="f5deb3"/>
                </a:solidFill>
                <a:latin typeface="Microsoft YaHei"/>
              </a:rPr>
              <a:t>切实把学习成果转化为推动工作高质量发展的实际成效</a:t>
            </a:r>
            <a:endParaRPr b="0" lang="en-US" sz="1800" spc="-1" strike="noStrike">
              <a:latin typeface="Arial"/>
            </a:endParaRPr>
          </a:p>
        </p:txBody>
      </p:sp>
      <p:sp>
        <p:nvSpPr>
          <p:cNvPr id="420" name="TextBox 20"/>
          <p:cNvSpPr/>
          <p:nvPr/>
        </p:nvSpPr>
        <p:spPr>
          <a:xfrm>
            <a:off x="1828800" y="5303520"/>
            <a:ext cx="8503560" cy="424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zh-CN" sz="2200" spc="-1" strike="noStrike">
                <a:solidFill>
                  <a:srgbClr val="ffffff"/>
                </a:solidFill>
                <a:latin typeface="Microsoft YaHei"/>
              </a:rPr>
              <a:t>方案二学习完毕</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Rectangle 1"/>
          <p:cNvSpPr/>
          <p:nvPr/>
        </p:nvSpPr>
        <p:spPr>
          <a:xfrm>
            <a:off x="0" y="0"/>
            <a:ext cx="12191400" cy="68576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2" name="Rectangle 2"/>
          <p:cNvSpPr/>
          <p:nvPr/>
        </p:nvSpPr>
        <p:spPr>
          <a:xfrm>
            <a:off x="0" y="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3" name="Rectangle 3"/>
          <p:cNvSpPr/>
          <p:nvPr/>
        </p:nvSpPr>
        <p:spPr>
          <a:xfrm>
            <a:off x="0" y="679464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4" name="Rectangle 4"/>
          <p:cNvSpPr/>
          <p:nvPr/>
        </p:nvSpPr>
        <p:spPr>
          <a:xfrm>
            <a:off x="731520" y="1371600"/>
            <a:ext cx="50400" cy="365724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5" name="Rectangle 5"/>
          <p:cNvSpPr/>
          <p:nvPr/>
        </p:nvSpPr>
        <p:spPr>
          <a:xfrm>
            <a:off x="731520" y="1371600"/>
            <a:ext cx="3657240" cy="252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6" name="5-Point Star 6"/>
          <p:cNvSpPr/>
          <p:nvPr/>
        </p:nvSpPr>
        <p:spPr>
          <a:xfrm>
            <a:off x="5303520" y="731520"/>
            <a:ext cx="914040" cy="91404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7" name="5-Point Star 7"/>
          <p:cNvSpPr/>
          <p:nvPr/>
        </p:nvSpPr>
        <p:spPr>
          <a:xfrm>
            <a:off x="5943600" y="833040"/>
            <a:ext cx="548280" cy="54828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8" name="5-Point Star 8"/>
          <p:cNvSpPr/>
          <p:nvPr/>
        </p:nvSpPr>
        <p:spPr>
          <a:xfrm>
            <a:off x="6400800" y="731520"/>
            <a:ext cx="914040" cy="91404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29" name="5-Point Star 9"/>
          <p:cNvSpPr/>
          <p:nvPr/>
        </p:nvSpPr>
        <p:spPr>
          <a:xfrm>
            <a:off x="7040880" y="833040"/>
            <a:ext cx="548280" cy="54828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30" name="5-Point Star 10"/>
          <p:cNvSpPr/>
          <p:nvPr/>
        </p:nvSpPr>
        <p:spPr>
          <a:xfrm>
            <a:off x="7498080" y="731520"/>
            <a:ext cx="914040" cy="91404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31" name="TextBox 11"/>
          <p:cNvSpPr/>
          <p:nvPr/>
        </p:nvSpPr>
        <p:spPr>
          <a:xfrm>
            <a:off x="1371600" y="1371600"/>
            <a:ext cx="9143640" cy="4248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2200" spc="-1" strike="noStrike">
                <a:solidFill>
                  <a:srgbClr val="ffd700"/>
                </a:solidFill>
                <a:latin typeface="Microsoft YaHei"/>
              </a:rPr>
              <a:t>第三套方案</a:t>
            </a:r>
            <a:endParaRPr b="0" lang="en-US" sz="2200" spc="-1" strike="noStrike">
              <a:latin typeface="Arial"/>
            </a:endParaRPr>
          </a:p>
        </p:txBody>
      </p:sp>
      <p:sp>
        <p:nvSpPr>
          <p:cNvPr id="432" name="Rectangle 12"/>
          <p:cNvSpPr/>
          <p:nvPr/>
        </p:nvSpPr>
        <p:spPr>
          <a:xfrm>
            <a:off x="1371600" y="2011680"/>
            <a:ext cx="4571640" cy="252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33" name="TextBox 13"/>
          <p:cNvSpPr/>
          <p:nvPr/>
        </p:nvSpPr>
        <p:spPr>
          <a:xfrm>
            <a:off x="1371600" y="2377440"/>
            <a:ext cx="9600840" cy="6991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4000" spc="-1" strike="noStrike">
                <a:solidFill>
                  <a:srgbClr val="ffffff"/>
                </a:solidFill>
                <a:latin typeface="Microsoft YaHei"/>
              </a:rPr>
              <a:t>坚守为民初心 涵养正确政绩观</a:t>
            </a:r>
            <a:endParaRPr b="0" lang="en-US" sz="4000" spc="-1" strike="noStrike">
              <a:latin typeface="Arial"/>
            </a:endParaRPr>
          </a:p>
        </p:txBody>
      </p:sp>
      <p:sp>
        <p:nvSpPr>
          <p:cNvPr id="434" name="TextBox 14"/>
          <p:cNvSpPr/>
          <p:nvPr/>
        </p:nvSpPr>
        <p:spPr>
          <a:xfrm>
            <a:off x="1371600" y="4572000"/>
            <a:ext cx="9143640" cy="699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2000" spc="-1" strike="noStrike">
                <a:solidFill>
                  <a:srgbClr val="f5deb3"/>
                </a:solidFill>
                <a:latin typeface="Microsoft YaHei"/>
              </a:rPr>
              <a:t>学习习近平总书记地方工作期间</a:t>
            </a:r>
            <a:br>
              <a:rPr sz="2000"/>
            </a:br>
            <a:r>
              <a:rPr b="0" lang="zh-CN" sz="2000" spc="-1" strike="noStrike">
                <a:solidFill>
                  <a:srgbClr val="f5deb3"/>
                </a:solidFill>
                <a:latin typeface="Microsoft YaHei"/>
              </a:rPr>
              <a:t>坚持正确政绩观生动实践</a:t>
            </a:r>
            <a:endParaRPr b="0" lang="en-US" sz="2000" spc="-1" strike="noStrike">
              <a:latin typeface="Arial"/>
            </a:endParaRPr>
          </a:p>
        </p:txBody>
      </p:sp>
      <p:sp>
        <p:nvSpPr>
          <p:cNvPr id="435" name="Rectangle 15"/>
          <p:cNvSpPr/>
          <p:nvPr/>
        </p:nvSpPr>
        <p:spPr>
          <a:xfrm>
            <a:off x="1371600" y="5577840"/>
            <a:ext cx="2742840" cy="252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36" name="TextBox 16"/>
          <p:cNvSpPr/>
          <p:nvPr/>
        </p:nvSpPr>
        <p:spPr>
          <a:xfrm>
            <a:off x="1371600" y="5806440"/>
            <a:ext cx="457164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ffffff"/>
                </a:solidFill>
                <a:latin typeface="Microsoft YaHei"/>
              </a:rPr>
              <a:t>XXX</a:t>
            </a:r>
            <a:r>
              <a:rPr b="0" lang="zh-CN" sz="1600" spc="-1" strike="noStrike">
                <a:solidFill>
                  <a:srgbClr val="ffffff"/>
                </a:solidFill>
                <a:latin typeface="Microsoft YaHei"/>
              </a:rPr>
              <a:t>单位    </a:t>
            </a:r>
            <a:r>
              <a:rPr b="0" lang="en-US" sz="1600" spc="-1" strike="noStrike">
                <a:solidFill>
                  <a:srgbClr val="ffffff"/>
                </a:solidFill>
                <a:latin typeface="Microsoft YaHei"/>
              </a:rPr>
              <a:t>XXXX</a:t>
            </a:r>
            <a:r>
              <a:rPr b="0" lang="zh-CN" sz="1600" spc="-1" strike="noStrike">
                <a:solidFill>
                  <a:srgbClr val="ffffff"/>
                </a:solidFill>
                <a:latin typeface="Microsoft YaHei"/>
              </a:rPr>
              <a:t>年</a:t>
            </a:r>
            <a:r>
              <a:rPr b="0" lang="en-US" sz="1600" spc="-1" strike="noStrike">
                <a:solidFill>
                  <a:srgbClr val="ffffff"/>
                </a:solidFill>
                <a:latin typeface="Microsoft YaHei"/>
              </a:rPr>
              <a:t>XX</a:t>
            </a:r>
            <a:r>
              <a:rPr b="0" lang="zh-CN" sz="1600" spc="-1" strike="noStrike">
                <a:solidFill>
                  <a:srgbClr val="ffffff"/>
                </a:solidFill>
                <a:latin typeface="Microsoft YaHei"/>
              </a:rPr>
              <a:t>月</a:t>
            </a:r>
            <a:endParaRPr b="0" lang="en-US" sz="1600" spc="-1" strike="noStrike">
              <a:latin typeface="Arial"/>
            </a:endParaRPr>
          </a:p>
        </p:txBody>
      </p:sp>
      <p:sp>
        <p:nvSpPr>
          <p:cNvPr id="437" name="Rectangle 17"/>
          <p:cNvSpPr/>
          <p:nvPr/>
        </p:nvSpPr>
        <p:spPr>
          <a:xfrm>
            <a:off x="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38" name="Rectangle 18"/>
          <p:cNvSpPr/>
          <p:nvPr/>
        </p:nvSpPr>
        <p:spPr>
          <a:xfrm>
            <a:off x="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39" name="Rectangle 19"/>
          <p:cNvSpPr/>
          <p:nvPr/>
        </p:nvSpPr>
        <p:spPr>
          <a:xfrm>
            <a:off x="1164312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40" name="Rectangle 20"/>
          <p:cNvSpPr/>
          <p:nvPr/>
        </p:nvSpPr>
        <p:spPr>
          <a:xfrm>
            <a:off x="1215360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41" name="Rectangle 21"/>
          <p:cNvSpPr/>
          <p:nvPr/>
        </p:nvSpPr>
        <p:spPr>
          <a:xfrm>
            <a:off x="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42" name="Rectangle 22"/>
          <p:cNvSpPr/>
          <p:nvPr/>
        </p:nvSpPr>
        <p:spPr>
          <a:xfrm>
            <a:off x="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43" name="Rectangle 23"/>
          <p:cNvSpPr/>
          <p:nvPr/>
        </p:nvSpPr>
        <p:spPr>
          <a:xfrm>
            <a:off x="1164312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44" name="Rectangle 24"/>
          <p:cNvSpPr/>
          <p:nvPr/>
        </p:nvSpPr>
        <p:spPr>
          <a:xfrm>
            <a:off x="1215360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Rectangle 1"/>
          <p:cNvSpPr/>
          <p:nvPr/>
        </p:nvSpPr>
        <p:spPr>
          <a:xfrm>
            <a:off x="0" y="0"/>
            <a:ext cx="12191400" cy="6857640"/>
          </a:xfrm>
          <a:prstGeom prst="rect">
            <a:avLst/>
          </a:prstGeom>
          <a:solidFill>
            <a:srgbClr val="fef9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46" name="Rectangle 2"/>
          <p:cNvSpPr/>
          <p:nvPr/>
        </p:nvSpPr>
        <p:spPr>
          <a:xfrm>
            <a:off x="0" y="0"/>
            <a:ext cx="12191400" cy="9140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47" name="Rectangle 3"/>
          <p:cNvSpPr/>
          <p:nvPr/>
        </p:nvSpPr>
        <p:spPr>
          <a:xfrm>
            <a:off x="0" y="914400"/>
            <a:ext cx="1219140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48" name="Rectangle 4"/>
          <p:cNvSpPr/>
          <p:nvPr/>
        </p:nvSpPr>
        <p:spPr>
          <a:xfrm>
            <a:off x="0" y="6807240"/>
            <a:ext cx="12191400" cy="5040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49" name="TextBox 5"/>
          <p:cNvSpPr/>
          <p:nvPr/>
        </p:nvSpPr>
        <p:spPr>
          <a:xfrm>
            <a:off x="731520" y="137160"/>
            <a:ext cx="822924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3000" spc="-1" strike="noStrike">
                <a:solidFill>
                  <a:srgbClr val="ffffff"/>
                </a:solidFill>
                <a:latin typeface="Microsoft YaHei"/>
              </a:rPr>
              <a:t>地方工作期间生动实践</a:t>
            </a:r>
            <a:endParaRPr b="0" lang="en-US" sz="3000" spc="-1" strike="noStrike">
              <a:latin typeface="Arial"/>
            </a:endParaRPr>
          </a:p>
        </p:txBody>
      </p:sp>
      <p:sp>
        <p:nvSpPr>
          <p:cNvPr id="450" name="TextBox 6"/>
          <p:cNvSpPr/>
          <p:nvPr/>
        </p:nvSpPr>
        <p:spPr>
          <a:xfrm>
            <a:off x="10789920" y="182880"/>
            <a:ext cx="109692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400" spc="-1" strike="noStrike">
                <a:solidFill>
                  <a:srgbClr val="f5deb3"/>
                </a:solidFill>
                <a:latin typeface="Microsoft YaHei"/>
              </a:rPr>
              <a:t>19</a:t>
            </a:r>
            <a:endParaRPr b="0" lang="en-US" sz="1400" spc="-1" strike="noStrike">
              <a:latin typeface="Arial"/>
            </a:endParaRPr>
          </a:p>
        </p:txBody>
      </p:sp>
      <p:sp>
        <p:nvSpPr>
          <p:cNvPr id="451" name="TextBox 7"/>
          <p:cNvSpPr/>
          <p:nvPr/>
        </p:nvSpPr>
        <p:spPr>
          <a:xfrm>
            <a:off x="7772400" y="228600"/>
            <a:ext cx="2742840" cy="257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lang="zh-CN" sz="1100" spc="-1" strike="noStrike">
                <a:solidFill>
                  <a:srgbClr val="f5deb3"/>
                </a:solidFill>
                <a:latin typeface="Microsoft YaHei"/>
              </a:rPr>
              <a:t>方案三</a:t>
            </a:r>
            <a:endParaRPr b="0" lang="en-US" sz="1100" spc="-1" strike="noStrike">
              <a:latin typeface="Arial"/>
            </a:endParaRPr>
          </a:p>
        </p:txBody>
      </p:sp>
      <p:sp>
        <p:nvSpPr>
          <p:cNvPr id="452" name="Rounded Rectangle 8"/>
          <p:cNvSpPr/>
          <p:nvPr/>
        </p:nvSpPr>
        <p:spPr>
          <a:xfrm>
            <a:off x="822960" y="1188720"/>
            <a:ext cx="5028840" cy="146268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53" name="Rectangle 9"/>
          <p:cNvSpPr/>
          <p:nvPr/>
        </p:nvSpPr>
        <p:spPr>
          <a:xfrm>
            <a:off x="822960" y="1188720"/>
            <a:ext cx="5028840" cy="504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54" name="Rounded Rectangle 10"/>
          <p:cNvSpPr/>
          <p:nvPr/>
        </p:nvSpPr>
        <p:spPr>
          <a:xfrm>
            <a:off x="960120" y="1325880"/>
            <a:ext cx="1462680" cy="273960"/>
          </a:xfrm>
          <a:prstGeom prst="roundRect">
            <a:avLst>
              <a:gd name="adj" fmla="val 16667"/>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zh-CN" sz="1200" spc="-1" strike="noStrike">
                <a:solidFill>
                  <a:srgbClr val="ffffff"/>
                </a:solidFill>
                <a:latin typeface="Microsoft YaHei"/>
              </a:rPr>
              <a:t>河北正定</a:t>
            </a:r>
            <a:endParaRPr b="0" lang="en-US" sz="1200" spc="-1" strike="noStrike">
              <a:latin typeface="Arial"/>
            </a:endParaRPr>
          </a:p>
        </p:txBody>
      </p:sp>
      <p:sp>
        <p:nvSpPr>
          <p:cNvPr id="455" name="TextBox 11"/>
          <p:cNvSpPr/>
          <p:nvPr/>
        </p:nvSpPr>
        <p:spPr>
          <a:xfrm>
            <a:off x="2560320" y="1298520"/>
            <a:ext cx="31086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600" spc="-1" strike="noStrike">
                <a:solidFill>
                  <a:srgbClr val="c41e3a"/>
                </a:solidFill>
                <a:latin typeface="Microsoft YaHei"/>
              </a:rPr>
              <a:t>实事求是</a:t>
            </a:r>
            <a:endParaRPr b="0" lang="en-US" sz="1600" spc="-1" strike="noStrike">
              <a:latin typeface="Arial"/>
            </a:endParaRPr>
          </a:p>
        </p:txBody>
      </p:sp>
      <p:sp>
        <p:nvSpPr>
          <p:cNvPr id="456" name="TextBox 12"/>
          <p:cNvSpPr/>
          <p:nvPr/>
        </p:nvSpPr>
        <p:spPr>
          <a:xfrm>
            <a:off x="1005840" y="1691640"/>
            <a:ext cx="4663080" cy="515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1400" spc="-1" strike="noStrike">
                <a:solidFill>
                  <a:srgbClr val="4a4a4a"/>
                </a:solidFill>
                <a:latin typeface="Microsoft YaHei"/>
              </a:rPr>
              <a:t>放下虚名务实惠民，减免征购</a:t>
            </a:r>
            <a:r>
              <a:rPr b="0" lang="en-US" sz="1400" spc="-1" strike="noStrike">
                <a:solidFill>
                  <a:srgbClr val="4a4a4a"/>
                </a:solidFill>
                <a:latin typeface="Microsoft YaHei"/>
              </a:rPr>
              <a:t>2800</a:t>
            </a:r>
            <a:r>
              <a:rPr b="0" lang="zh-CN" sz="1400" spc="-1" strike="noStrike">
                <a:solidFill>
                  <a:srgbClr val="4a4a4a"/>
                </a:solidFill>
                <a:latin typeface="Microsoft YaHei"/>
              </a:rPr>
              <a:t>万斤，摒弃唯数据政绩思维。</a:t>
            </a:r>
            <a:endParaRPr b="0" lang="en-US" sz="1400" spc="-1" strike="noStrike">
              <a:latin typeface="Arial"/>
            </a:endParaRPr>
          </a:p>
        </p:txBody>
      </p:sp>
      <p:sp>
        <p:nvSpPr>
          <p:cNvPr id="457" name="Rounded Rectangle 13"/>
          <p:cNvSpPr/>
          <p:nvPr/>
        </p:nvSpPr>
        <p:spPr>
          <a:xfrm>
            <a:off x="6217920" y="1188720"/>
            <a:ext cx="5028840" cy="146268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58" name="Rectangle 14"/>
          <p:cNvSpPr/>
          <p:nvPr/>
        </p:nvSpPr>
        <p:spPr>
          <a:xfrm>
            <a:off x="6217920" y="1188720"/>
            <a:ext cx="5028840" cy="504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59" name="Rounded Rectangle 15"/>
          <p:cNvSpPr/>
          <p:nvPr/>
        </p:nvSpPr>
        <p:spPr>
          <a:xfrm>
            <a:off x="6355080" y="1325880"/>
            <a:ext cx="1462680" cy="273960"/>
          </a:xfrm>
          <a:prstGeom prst="roundRect">
            <a:avLst>
              <a:gd name="adj" fmla="val 16667"/>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zh-CN" sz="1200" spc="-1" strike="noStrike">
                <a:solidFill>
                  <a:srgbClr val="ffffff"/>
                </a:solidFill>
                <a:latin typeface="Microsoft YaHei"/>
              </a:rPr>
              <a:t>福建宁德</a:t>
            </a:r>
            <a:endParaRPr b="0" lang="en-US" sz="1200" spc="-1" strike="noStrike">
              <a:latin typeface="Arial"/>
            </a:endParaRPr>
          </a:p>
        </p:txBody>
      </p:sp>
      <p:sp>
        <p:nvSpPr>
          <p:cNvPr id="460" name="TextBox 16"/>
          <p:cNvSpPr/>
          <p:nvPr/>
        </p:nvSpPr>
        <p:spPr>
          <a:xfrm>
            <a:off x="7955280" y="1298520"/>
            <a:ext cx="31086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600" spc="-1" strike="noStrike">
                <a:solidFill>
                  <a:srgbClr val="c41e3a"/>
                </a:solidFill>
                <a:latin typeface="Microsoft YaHei"/>
              </a:rPr>
              <a:t>弱鸟先飞</a:t>
            </a:r>
            <a:endParaRPr b="0" lang="en-US" sz="1600" spc="-1" strike="noStrike">
              <a:latin typeface="Arial"/>
            </a:endParaRPr>
          </a:p>
        </p:txBody>
      </p:sp>
      <p:sp>
        <p:nvSpPr>
          <p:cNvPr id="461" name="TextBox 17"/>
          <p:cNvSpPr/>
          <p:nvPr/>
        </p:nvSpPr>
        <p:spPr>
          <a:xfrm>
            <a:off x="6400800" y="1691640"/>
            <a:ext cx="4663080" cy="515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1400" spc="-1" strike="noStrike">
                <a:solidFill>
                  <a:srgbClr val="4a4a4a"/>
                </a:solidFill>
                <a:latin typeface="Microsoft YaHei"/>
              </a:rPr>
              <a:t>甘做长远潜绩，新官不急烧三把火，调研先行杜绝急功近利。</a:t>
            </a:r>
            <a:endParaRPr b="0" lang="en-US" sz="1400" spc="-1" strike="noStrike">
              <a:latin typeface="Arial"/>
            </a:endParaRPr>
          </a:p>
        </p:txBody>
      </p:sp>
      <p:sp>
        <p:nvSpPr>
          <p:cNvPr id="462" name="Rounded Rectangle 18"/>
          <p:cNvSpPr/>
          <p:nvPr/>
        </p:nvSpPr>
        <p:spPr>
          <a:xfrm>
            <a:off x="822960" y="2880360"/>
            <a:ext cx="5028840" cy="146268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63" name="Rectangle 19"/>
          <p:cNvSpPr/>
          <p:nvPr/>
        </p:nvSpPr>
        <p:spPr>
          <a:xfrm>
            <a:off x="822960" y="2880360"/>
            <a:ext cx="5028840" cy="504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64" name="Rounded Rectangle 20"/>
          <p:cNvSpPr/>
          <p:nvPr/>
        </p:nvSpPr>
        <p:spPr>
          <a:xfrm>
            <a:off x="960120" y="3017520"/>
            <a:ext cx="1462680" cy="273960"/>
          </a:xfrm>
          <a:prstGeom prst="roundRect">
            <a:avLst>
              <a:gd name="adj" fmla="val 16667"/>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zh-CN" sz="1200" spc="-1" strike="noStrike">
                <a:solidFill>
                  <a:srgbClr val="ffffff"/>
                </a:solidFill>
                <a:latin typeface="Microsoft YaHei"/>
              </a:rPr>
              <a:t>福州工作</a:t>
            </a:r>
            <a:endParaRPr b="0" lang="en-US" sz="1200" spc="-1" strike="noStrike">
              <a:latin typeface="Arial"/>
            </a:endParaRPr>
          </a:p>
        </p:txBody>
      </p:sp>
      <p:sp>
        <p:nvSpPr>
          <p:cNvPr id="465" name="TextBox 21"/>
          <p:cNvSpPr/>
          <p:nvPr/>
        </p:nvSpPr>
        <p:spPr>
          <a:xfrm>
            <a:off x="2560320" y="2990160"/>
            <a:ext cx="31086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600" spc="-1" strike="noStrike">
                <a:solidFill>
                  <a:srgbClr val="c41e3a"/>
                </a:solidFill>
                <a:latin typeface="Microsoft YaHei"/>
              </a:rPr>
              <a:t>马上就办</a:t>
            </a:r>
            <a:endParaRPr b="0" lang="en-US" sz="1600" spc="-1" strike="noStrike">
              <a:latin typeface="Arial"/>
            </a:endParaRPr>
          </a:p>
        </p:txBody>
      </p:sp>
      <p:sp>
        <p:nvSpPr>
          <p:cNvPr id="466" name="TextBox 22"/>
          <p:cNvSpPr/>
          <p:nvPr/>
        </p:nvSpPr>
        <p:spPr>
          <a:xfrm>
            <a:off x="1005840" y="3383280"/>
            <a:ext cx="4663080" cy="515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1400" spc="-1" strike="noStrike">
                <a:solidFill>
                  <a:srgbClr val="4a4a4a"/>
                </a:solidFill>
                <a:latin typeface="Microsoft YaHei"/>
              </a:rPr>
              <a:t>马上就办真抓实干，谋划</a:t>
            </a:r>
            <a:r>
              <a:rPr b="0" lang="en-US" sz="1400" spc="-1" strike="noStrike">
                <a:solidFill>
                  <a:srgbClr val="4a4a4a"/>
                </a:solidFill>
                <a:latin typeface="Microsoft YaHei"/>
              </a:rPr>
              <a:t>3820</a:t>
            </a:r>
            <a:r>
              <a:rPr b="0" lang="zh-CN" sz="1400" spc="-1" strike="noStrike">
                <a:solidFill>
                  <a:srgbClr val="4a4a4a"/>
                </a:solidFill>
                <a:latin typeface="Microsoft YaHei"/>
              </a:rPr>
              <a:t>战略工程，立足二十年长远布局。</a:t>
            </a:r>
            <a:endParaRPr b="0" lang="en-US" sz="1400" spc="-1" strike="noStrike">
              <a:latin typeface="Arial"/>
            </a:endParaRPr>
          </a:p>
        </p:txBody>
      </p:sp>
      <p:sp>
        <p:nvSpPr>
          <p:cNvPr id="467" name="Rounded Rectangle 23"/>
          <p:cNvSpPr/>
          <p:nvPr/>
        </p:nvSpPr>
        <p:spPr>
          <a:xfrm>
            <a:off x="6217920" y="2880360"/>
            <a:ext cx="5028840" cy="146268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68" name="Rectangle 24"/>
          <p:cNvSpPr/>
          <p:nvPr/>
        </p:nvSpPr>
        <p:spPr>
          <a:xfrm>
            <a:off x="6217920" y="2880360"/>
            <a:ext cx="5028840" cy="504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69" name="Rounded Rectangle 25"/>
          <p:cNvSpPr/>
          <p:nvPr/>
        </p:nvSpPr>
        <p:spPr>
          <a:xfrm>
            <a:off x="6355080" y="3017520"/>
            <a:ext cx="1462680" cy="273960"/>
          </a:xfrm>
          <a:prstGeom prst="roundRect">
            <a:avLst>
              <a:gd name="adj" fmla="val 16667"/>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zh-CN" sz="1200" spc="-1" strike="noStrike">
                <a:solidFill>
                  <a:srgbClr val="ffffff"/>
                </a:solidFill>
                <a:latin typeface="Microsoft YaHei"/>
              </a:rPr>
              <a:t>浙江任职</a:t>
            </a:r>
            <a:endParaRPr b="0" lang="en-US" sz="1200" spc="-1" strike="noStrike">
              <a:latin typeface="Arial"/>
            </a:endParaRPr>
          </a:p>
        </p:txBody>
      </p:sp>
      <p:sp>
        <p:nvSpPr>
          <p:cNvPr id="470" name="TextBox 26"/>
          <p:cNvSpPr/>
          <p:nvPr/>
        </p:nvSpPr>
        <p:spPr>
          <a:xfrm>
            <a:off x="7955280" y="2990160"/>
            <a:ext cx="31086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600" spc="-1" strike="noStrike">
                <a:solidFill>
                  <a:srgbClr val="c41e3a"/>
                </a:solidFill>
                <a:latin typeface="Microsoft YaHei"/>
              </a:rPr>
              <a:t>着眼长远</a:t>
            </a:r>
            <a:endParaRPr b="0" lang="en-US" sz="1600" spc="-1" strike="noStrike">
              <a:latin typeface="Arial"/>
            </a:endParaRPr>
          </a:p>
        </p:txBody>
      </p:sp>
      <p:sp>
        <p:nvSpPr>
          <p:cNvPr id="471" name="TextBox 27"/>
          <p:cNvSpPr/>
          <p:nvPr/>
        </p:nvSpPr>
        <p:spPr>
          <a:xfrm>
            <a:off x="6400800" y="3383280"/>
            <a:ext cx="4663080" cy="515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1400" spc="-1" strike="noStrike">
                <a:solidFill>
                  <a:srgbClr val="4a4a4a"/>
                </a:solidFill>
                <a:latin typeface="Microsoft YaHei"/>
              </a:rPr>
              <a:t>部署千万工程，提出两山理念，保护万寿岩遗址守护历史资源。</a:t>
            </a:r>
            <a:endParaRPr b="0" lang="en-US" sz="1400" spc="-1" strike="noStrike">
              <a:latin typeface="Arial"/>
            </a:endParaRPr>
          </a:p>
        </p:txBody>
      </p:sp>
      <p:sp>
        <p:nvSpPr>
          <p:cNvPr id="472" name="Rounded Rectangle 28"/>
          <p:cNvSpPr/>
          <p:nvPr/>
        </p:nvSpPr>
        <p:spPr>
          <a:xfrm>
            <a:off x="822960" y="4572000"/>
            <a:ext cx="5028840" cy="1462680"/>
          </a:xfrm>
          <a:prstGeom prst="roundRect">
            <a:avLst>
              <a:gd name="adj" fmla="val 16667"/>
            </a:avLst>
          </a:prstGeom>
          <a:solidFill>
            <a:srgbClr val="fffef8"/>
          </a:solidFill>
          <a:ln w="19050">
            <a:solidFill>
              <a:srgbClr val="e0d0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73" name="Rectangle 29"/>
          <p:cNvSpPr/>
          <p:nvPr/>
        </p:nvSpPr>
        <p:spPr>
          <a:xfrm>
            <a:off x="822960" y="4572000"/>
            <a:ext cx="5028840" cy="50400"/>
          </a:xfrm>
          <a:prstGeom prst="rect">
            <a:avLst/>
          </a:prstGeom>
          <a:solidFill>
            <a:srgbClr val="de291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74" name="Rounded Rectangle 30"/>
          <p:cNvSpPr/>
          <p:nvPr/>
        </p:nvSpPr>
        <p:spPr>
          <a:xfrm>
            <a:off x="960120" y="4709160"/>
            <a:ext cx="1462680" cy="273960"/>
          </a:xfrm>
          <a:prstGeom prst="roundRect">
            <a:avLst>
              <a:gd name="adj" fmla="val 16667"/>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buNone/>
            </a:pPr>
            <a:r>
              <a:rPr b="1" lang="zh-CN" sz="1200" spc="-1" strike="noStrike">
                <a:solidFill>
                  <a:srgbClr val="ffffff"/>
                </a:solidFill>
                <a:latin typeface="Microsoft YaHei"/>
              </a:rPr>
              <a:t>上海任职</a:t>
            </a:r>
            <a:endParaRPr b="0" lang="en-US" sz="1200" spc="-1" strike="noStrike">
              <a:latin typeface="Arial"/>
            </a:endParaRPr>
          </a:p>
        </p:txBody>
      </p:sp>
      <p:sp>
        <p:nvSpPr>
          <p:cNvPr id="475" name="TextBox 31"/>
          <p:cNvSpPr/>
          <p:nvPr/>
        </p:nvSpPr>
        <p:spPr>
          <a:xfrm>
            <a:off x="2560320" y="4681800"/>
            <a:ext cx="3108600" cy="333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zh-CN" sz="1600" spc="-1" strike="noStrike">
                <a:solidFill>
                  <a:srgbClr val="c41e3a"/>
                </a:solidFill>
                <a:latin typeface="Microsoft YaHei"/>
              </a:rPr>
              <a:t>胸怀大局</a:t>
            </a:r>
            <a:endParaRPr b="0" lang="en-US" sz="1600" spc="-1" strike="noStrike">
              <a:latin typeface="Arial"/>
            </a:endParaRPr>
          </a:p>
        </p:txBody>
      </p:sp>
      <p:sp>
        <p:nvSpPr>
          <p:cNvPr id="476" name="TextBox 32"/>
          <p:cNvSpPr/>
          <p:nvPr/>
        </p:nvSpPr>
        <p:spPr>
          <a:xfrm>
            <a:off x="1005840" y="5074920"/>
            <a:ext cx="466308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zh-CN" sz="1400" spc="-1" strike="noStrike">
                <a:solidFill>
                  <a:srgbClr val="4a4a4a"/>
                </a:solidFill>
                <a:latin typeface="Microsoft YaHei"/>
              </a:rPr>
              <a:t>接续奋斗不搞推倒重来，一张蓝图绘到底。</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Rectangle 1"/>
          <p:cNvSpPr/>
          <p:nvPr/>
        </p:nvSpPr>
        <p:spPr>
          <a:xfrm>
            <a:off x="0" y="0"/>
            <a:ext cx="12191400" cy="6857640"/>
          </a:xfrm>
          <a:prstGeom prst="rect">
            <a:avLst/>
          </a:prstGeom>
          <a:solidFill>
            <a:srgbClr val="c41e3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78" name="Rectangle 2"/>
          <p:cNvSpPr/>
          <p:nvPr/>
        </p:nvSpPr>
        <p:spPr>
          <a:xfrm>
            <a:off x="0" y="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79" name="Rectangle 3"/>
          <p:cNvSpPr/>
          <p:nvPr/>
        </p:nvSpPr>
        <p:spPr>
          <a:xfrm>
            <a:off x="0" y="6794640"/>
            <a:ext cx="12191400" cy="630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0" name="Rectangle 4"/>
          <p:cNvSpPr/>
          <p:nvPr/>
        </p:nvSpPr>
        <p:spPr>
          <a:xfrm>
            <a:off x="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1" name="Rectangle 5"/>
          <p:cNvSpPr/>
          <p:nvPr/>
        </p:nvSpPr>
        <p:spPr>
          <a:xfrm>
            <a:off x="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2" name="Rectangle 6"/>
          <p:cNvSpPr/>
          <p:nvPr/>
        </p:nvSpPr>
        <p:spPr>
          <a:xfrm>
            <a:off x="11643120" y="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3" name="Rectangle 7"/>
          <p:cNvSpPr/>
          <p:nvPr/>
        </p:nvSpPr>
        <p:spPr>
          <a:xfrm>
            <a:off x="12153600" y="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4" name="Rectangle 8"/>
          <p:cNvSpPr/>
          <p:nvPr/>
        </p:nvSpPr>
        <p:spPr>
          <a:xfrm>
            <a:off x="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5" name="Rectangle 9"/>
          <p:cNvSpPr/>
          <p:nvPr/>
        </p:nvSpPr>
        <p:spPr>
          <a:xfrm>
            <a:off x="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6" name="Rectangle 10"/>
          <p:cNvSpPr/>
          <p:nvPr/>
        </p:nvSpPr>
        <p:spPr>
          <a:xfrm>
            <a:off x="11643120" y="6819840"/>
            <a:ext cx="548280" cy="3780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7" name="Rectangle 11"/>
          <p:cNvSpPr/>
          <p:nvPr/>
        </p:nvSpPr>
        <p:spPr>
          <a:xfrm>
            <a:off x="12153600" y="6309360"/>
            <a:ext cx="37800" cy="548280"/>
          </a:xfrm>
          <a:prstGeom prst="rect">
            <a:avLst/>
          </a:prstGeom>
          <a:solidFill>
            <a:srgbClr val="e8c3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8" name="5-Point Star 12"/>
          <p:cNvSpPr/>
          <p:nvPr/>
        </p:nvSpPr>
        <p:spPr>
          <a:xfrm>
            <a:off x="5303520" y="822960"/>
            <a:ext cx="1096920" cy="10969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89" name="5-Point Star 13"/>
          <p:cNvSpPr/>
          <p:nvPr/>
        </p:nvSpPr>
        <p:spPr>
          <a:xfrm>
            <a:off x="5943600" y="1005840"/>
            <a:ext cx="639720" cy="6397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90" name="5-Point Star 14"/>
          <p:cNvSpPr/>
          <p:nvPr/>
        </p:nvSpPr>
        <p:spPr>
          <a:xfrm>
            <a:off x="6400800" y="822960"/>
            <a:ext cx="1096920" cy="10969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91" name="5-Point Star 15"/>
          <p:cNvSpPr/>
          <p:nvPr/>
        </p:nvSpPr>
        <p:spPr>
          <a:xfrm>
            <a:off x="7040880" y="1005840"/>
            <a:ext cx="639720" cy="6397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92" name="5-Point Star 16"/>
          <p:cNvSpPr/>
          <p:nvPr/>
        </p:nvSpPr>
        <p:spPr>
          <a:xfrm>
            <a:off x="7498080" y="822960"/>
            <a:ext cx="1096920" cy="1096920"/>
          </a:xfrm>
          <a:prstGeom prst="star5">
            <a:avLst>
              <a:gd name="adj" fmla="val 19098"/>
              <a:gd name="hf" fmla="val 105146"/>
              <a:gd name="vf" fmla="val 110557"/>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93" name="TextBox 17"/>
          <p:cNvSpPr/>
          <p:nvPr/>
        </p:nvSpPr>
        <p:spPr>
          <a:xfrm>
            <a:off x="1371600" y="2194560"/>
            <a:ext cx="9417960" cy="1369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zh-CN" sz="4200" spc="-1" strike="noStrike">
                <a:solidFill>
                  <a:srgbClr val="ffffff"/>
                </a:solidFill>
                <a:latin typeface="Microsoft YaHei"/>
              </a:rPr>
              <a:t>树立正确政绩观</a:t>
            </a:r>
            <a:br>
              <a:rPr sz="4200"/>
            </a:br>
            <a:r>
              <a:rPr b="1" lang="zh-CN" sz="4200" spc="-1" strike="noStrike">
                <a:solidFill>
                  <a:srgbClr val="ffffff"/>
                </a:solidFill>
                <a:latin typeface="Microsoft YaHei"/>
              </a:rPr>
              <a:t>实干担当建新功</a:t>
            </a:r>
            <a:endParaRPr b="0" lang="en-US" sz="4200" spc="-1" strike="noStrike">
              <a:latin typeface="Arial"/>
            </a:endParaRPr>
          </a:p>
        </p:txBody>
      </p:sp>
      <p:sp>
        <p:nvSpPr>
          <p:cNvPr id="494" name="Rectangle 18"/>
          <p:cNvSpPr/>
          <p:nvPr/>
        </p:nvSpPr>
        <p:spPr>
          <a:xfrm>
            <a:off x="4572000" y="3749040"/>
            <a:ext cx="3017160" cy="37800"/>
          </a:xfrm>
          <a:prstGeom prst="rect">
            <a:avLst/>
          </a:prstGeom>
          <a:solidFill>
            <a:srgbClr val="ffd7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95" name="TextBox 19"/>
          <p:cNvSpPr/>
          <p:nvPr/>
        </p:nvSpPr>
        <p:spPr>
          <a:xfrm>
            <a:off x="1828800" y="4114800"/>
            <a:ext cx="850356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zh-CN" sz="1800" spc="-1" strike="noStrike">
                <a:solidFill>
                  <a:srgbClr val="f5deb3"/>
                </a:solidFill>
                <a:latin typeface="Microsoft YaHei"/>
              </a:rPr>
              <a:t>汇报完毕    谢谢聆听</a:t>
            </a:r>
            <a:endParaRPr b="0" lang="en-US" sz="1800" spc="-1" strike="noStrike">
              <a:latin typeface="Arial"/>
            </a:endParaRPr>
          </a:p>
        </p:txBody>
      </p:sp>
      <p:sp>
        <p:nvSpPr>
          <p:cNvPr id="496" name="TextBox 20"/>
          <p:cNvSpPr/>
          <p:nvPr/>
        </p:nvSpPr>
        <p:spPr>
          <a:xfrm>
            <a:off x="1828800" y="5303520"/>
            <a:ext cx="8503560" cy="424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zh-CN" sz="2200" spc="-1" strike="noStrike">
                <a:solidFill>
                  <a:srgbClr val="ffffff"/>
                </a:solidFill>
                <a:latin typeface="Microsoft YaHei"/>
              </a:rPr>
              <a:t>方案三学习完毕</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Steve Canny</cp:lastModifiedBy>
  <dcterms:modified xsi:type="dcterms:W3CDTF">2013-01-27T09:15:58Z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